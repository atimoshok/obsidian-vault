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5"/>
  </p:notesMasterIdLst>
  <p:sldIdLst>
    <p:sldId id="256" r:id="rId3"/>
    <p:sldId id="499" r:id="rId4"/>
    <p:sldId id="448" r:id="rId5"/>
    <p:sldId id="446" r:id="rId6"/>
    <p:sldId id="447" r:id="rId7"/>
    <p:sldId id="339" r:id="rId8"/>
    <p:sldId id="449" r:id="rId9"/>
    <p:sldId id="450" r:id="rId10"/>
    <p:sldId id="474" r:id="rId11"/>
    <p:sldId id="475" r:id="rId12"/>
    <p:sldId id="508" r:id="rId13"/>
    <p:sldId id="509" r:id="rId14"/>
    <p:sldId id="510" r:id="rId15"/>
    <p:sldId id="511" r:id="rId16"/>
    <p:sldId id="429" r:id="rId17"/>
    <p:sldId id="456" r:id="rId18"/>
    <p:sldId id="472" r:id="rId19"/>
    <p:sldId id="430" r:id="rId20"/>
    <p:sldId id="431" r:id="rId21"/>
    <p:sldId id="432" r:id="rId22"/>
    <p:sldId id="463" r:id="rId23"/>
    <p:sldId id="455" r:id="rId24"/>
    <p:sldId id="464" r:id="rId25"/>
    <p:sldId id="465" r:id="rId26"/>
    <p:sldId id="466" r:id="rId27"/>
    <p:sldId id="477" r:id="rId28"/>
    <p:sldId id="458" r:id="rId29"/>
    <p:sldId id="459" r:id="rId30"/>
    <p:sldId id="460" r:id="rId31"/>
    <p:sldId id="461" r:id="rId32"/>
    <p:sldId id="462" r:id="rId33"/>
    <p:sldId id="468" r:id="rId34"/>
    <p:sldId id="467" r:id="rId35"/>
    <p:sldId id="470" r:id="rId36"/>
    <p:sldId id="469" r:id="rId37"/>
    <p:sldId id="506" r:id="rId38"/>
    <p:sldId id="507" r:id="rId39"/>
    <p:sldId id="478" r:id="rId40"/>
    <p:sldId id="451" r:id="rId41"/>
    <p:sldId id="452" r:id="rId42"/>
    <p:sldId id="453" r:id="rId43"/>
    <p:sldId id="454" r:id="rId44"/>
    <p:sldId id="476" r:id="rId45"/>
    <p:sldId id="501" r:id="rId46"/>
    <p:sldId id="502" r:id="rId47"/>
    <p:sldId id="495" r:id="rId48"/>
    <p:sldId id="494" r:id="rId49"/>
    <p:sldId id="496" r:id="rId50"/>
    <p:sldId id="512" r:id="rId51"/>
    <p:sldId id="484" r:id="rId52"/>
    <p:sldId id="500" r:id="rId53"/>
    <p:sldId id="493" r:id="rId54"/>
    <p:sldId id="492" r:id="rId55"/>
    <p:sldId id="491" r:id="rId56"/>
    <p:sldId id="486" r:id="rId57"/>
    <p:sldId id="487" r:id="rId58"/>
    <p:sldId id="488" r:id="rId59"/>
    <p:sldId id="489" r:id="rId60"/>
    <p:sldId id="490" r:id="rId61"/>
    <p:sldId id="503" r:id="rId62"/>
    <p:sldId id="504" r:id="rId63"/>
    <p:sldId id="498" r:id="rId64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7D250B3-3A3E-7034-5410-AE1CD2732C08}" name="Червяков Александр Владимирович" initials="ЧАВ" userId="S::chervyakov@uniscan.onmicrosoft.com::979c6278-ec77-4907-998b-a8b906efa2d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921"/>
    <a:srgbClr val="C8A2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5" autoAdjust="0"/>
    <p:restoredTop sz="72398" autoAdjust="0"/>
  </p:normalViewPr>
  <p:slideViewPr>
    <p:cSldViewPr snapToGrid="0">
      <p:cViewPr varScale="1">
        <p:scale>
          <a:sx n="83" d="100"/>
          <a:sy n="83" d="100"/>
        </p:scale>
        <p:origin x="163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15378-87D8-4E86-AFD8-3AE0299AD72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49579-E42E-4A87-8852-1682A6CA4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301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otd.uniscan.biz/pages/viewpage.action?pageId=57802776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it.uniscan.biz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otd.uniscan.biz/pages/viewpage.action?pageId=64225616" TargetMode="Externa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otd.uniscan.biz/pages/viewpage.action?pageId=64225680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otd.uniscan.biz/pages/viewpage.action?pageId=67967531" TargetMode="External"/><Relationship Id="rId5" Type="http://schemas.openxmlformats.org/officeDocument/2006/relationships/hyperlink" Target="https://aotd.uniscan.biz/pages/viewpage.action?pageId=67962430" TargetMode="External"/><Relationship Id="rId4" Type="http://schemas.openxmlformats.org/officeDocument/2006/relationships/hyperlink" Target="https://aotd.uniscan.biz/pages/viewpage.action?pageId=67961884" TargetMode="Externa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otd.uniscan.biz/pages/viewpage.action?pageId=67962430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49579-E42E-4A87-8852-1682A6CA4F5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355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656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03233"/>
                </a:solidFill>
                <a:effectLst/>
                <a:latin typeface="Arial" panose="020B0604020202020204" pitchFamily="34" charset="0"/>
              </a:rPr>
              <a:t>нам важно, какие задачи мы решаем</a:t>
            </a:r>
            <a:r>
              <a:rPr lang="ru-RU" b="0" i="0" dirty="0">
                <a:solidFill>
                  <a:srgbClr val="303233"/>
                </a:solidFill>
                <a:effectLst/>
                <a:latin typeface="Arial" panose="020B0604020202020204" pitchFamily="34" charset="0"/>
              </a:rPr>
              <a:t> — идея прибора, который мы захотим сделать, будет интересной с инженерной точки зрения, достаточно наукоёмкой, перспективной с точки зрения рынка;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03233"/>
                </a:solidFill>
                <a:effectLst/>
                <a:latin typeface="Arial" panose="020B0604020202020204" pitchFamily="34" charset="0"/>
              </a:rPr>
              <a:t>мы за системный подход к принятию решений</a:t>
            </a:r>
            <a:r>
              <a:rPr lang="ru-RU" b="0" i="0" dirty="0">
                <a:solidFill>
                  <a:srgbClr val="303233"/>
                </a:solidFill>
                <a:effectLst/>
                <a:latin typeface="Arial" panose="020B0604020202020204" pitchFamily="34" charset="0"/>
              </a:rPr>
              <a:t> — доверяем моделям и данным больше, чем интуиции и экспертам;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03233"/>
                </a:solidFill>
                <a:effectLst/>
                <a:latin typeface="Arial" panose="020B0604020202020204" pitchFamily="34" charset="0"/>
              </a:rPr>
              <a:t>мы за командную работу</a:t>
            </a:r>
            <a:r>
              <a:rPr lang="ru-RU" b="0" i="0" dirty="0">
                <a:solidFill>
                  <a:srgbClr val="303233"/>
                </a:solidFill>
                <a:effectLst/>
                <a:latin typeface="Arial" panose="020B0604020202020204" pitchFamily="34" charset="0"/>
              </a:rPr>
              <a:t> — считаем, что команда добьётся большего, чем то же число профессионалов по отдельности;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03233"/>
                </a:solidFill>
                <a:effectLst/>
                <a:latin typeface="Arial" panose="020B0604020202020204" pitchFamily="34" charset="0"/>
              </a:rPr>
              <a:t>кто не учится, тот отстаёт </a:t>
            </a:r>
            <a:r>
              <a:rPr lang="ru-RU" b="0" i="0" dirty="0">
                <a:solidFill>
                  <a:srgbClr val="303233"/>
                </a:solidFill>
                <a:effectLst/>
                <a:latin typeface="Arial" panose="020B0604020202020204" pitchFamily="34" charset="0"/>
              </a:rPr>
              <a:t>— тут просто суровая реальность нашей предметной области, о которой стараемся помнить всегда.</a:t>
            </a:r>
            <a:endParaRPr lang="en-US" sz="1200" b="0" i="0" dirty="0">
              <a:solidFill>
                <a:srgbClr val="3032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200" b="0" i="0" dirty="0">
              <a:solidFill>
                <a:srgbClr val="3032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sz="1200" dirty="0"/>
              <a:t>Kanban </a:t>
            </a:r>
            <a:r>
              <a:rPr lang="ru-RU" sz="1200" dirty="0"/>
              <a:t>и </a:t>
            </a:r>
            <a:r>
              <a:rPr lang="en-US" sz="1200" dirty="0"/>
              <a:t>Scrum </a:t>
            </a:r>
            <a:r>
              <a:rPr lang="ru-RU" sz="1200" dirty="0"/>
              <a:t>нацелены на создание продукта с наибольшей ценностью для клиентов. </a:t>
            </a:r>
            <a:br>
              <a:rPr lang="en-US" sz="1200" dirty="0"/>
            </a:br>
            <a:r>
              <a:rPr lang="ru-RU" sz="1200" b="1" dirty="0">
                <a:solidFill>
                  <a:schemeClr val="accent6">
                    <a:lumMod val="75000"/>
                  </a:schemeClr>
                </a:solidFill>
              </a:rPr>
              <a:t>Ценно для клиента = Выгодно компании.</a:t>
            </a:r>
            <a:endParaRPr lang="en-US" sz="12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ru-RU" sz="1200" dirty="0"/>
              <a:t>Меняя Фреймворк в будущем, мы не будем нарушать эти принципы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303233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639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737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9988"/>
            <a:r>
              <a:rPr lang="en-US" sz="1200" b="1" dirty="0"/>
              <a:t>Kanban</a:t>
            </a:r>
            <a:r>
              <a:rPr lang="ru-RU" sz="1200" b="1" dirty="0"/>
              <a:t> </a:t>
            </a:r>
            <a:r>
              <a:rPr lang="en-US" sz="1200" b="1" dirty="0"/>
              <a:t>portfolio</a:t>
            </a:r>
            <a:r>
              <a:rPr lang="ru-RU" sz="1200" dirty="0"/>
              <a:t> подход для управления очередью проектов на уровне всей компании</a:t>
            </a:r>
          </a:p>
          <a:p>
            <a:pPr marL="479988"/>
            <a:endParaRPr lang="en-US" sz="1200" dirty="0"/>
          </a:p>
          <a:p>
            <a:pPr marL="479988"/>
            <a:r>
              <a:rPr lang="en-US" sz="1200" b="1" dirty="0"/>
              <a:t>Scrum</a:t>
            </a:r>
            <a:r>
              <a:rPr lang="en-US" sz="1200" dirty="0"/>
              <a:t> </a:t>
            </a:r>
            <a:r>
              <a:rPr lang="ru-RU" sz="1200" dirty="0"/>
              <a:t>подход (и другие </a:t>
            </a:r>
            <a:r>
              <a:rPr lang="en-US" sz="1200" dirty="0"/>
              <a:t>Agile </a:t>
            </a:r>
            <a:r>
              <a:rPr lang="ru-RU" sz="1200" dirty="0"/>
              <a:t>практики) на уровне отдельных команд</a:t>
            </a:r>
          </a:p>
          <a:p>
            <a:pPr marL="479988"/>
            <a:endParaRPr lang="ru-RU" sz="1200" dirty="0"/>
          </a:p>
          <a:p>
            <a:pPr marL="479988"/>
            <a:r>
              <a:rPr lang="ru-RU" sz="1200" dirty="0"/>
              <a:t>Все эти практики дополнены и адаптированы под специфику компании </a:t>
            </a:r>
            <a:r>
              <a:rPr lang="ru-RU" sz="1200" dirty="0" err="1"/>
              <a:t>Унискан</a:t>
            </a:r>
            <a:endParaRPr lang="ru-RU" sz="1200" b="1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Во Фреймворк входят части разных </a:t>
            </a:r>
            <a:r>
              <a:rPr lang="en-US" sz="1200" dirty="0"/>
              <a:t>Agile </a:t>
            </a:r>
            <a:r>
              <a:rPr lang="ru-RU" sz="1200" dirty="0"/>
              <a:t>методик. Все они прошли естественный отбор в рамках </a:t>
            </a:r>
            <a:r>
              <a:rPr lang="ru-RU" sz="1200" dirty="0" err="1"/>
              <a:t>Унискан</a:t>
            </a:r>
            <a:r>
              <a:rPr lang="ru-RU" sz="1200" dirty="0"/>
              <a:t>, и мы на практике убедились, что они хорошо подходят для наших задач.</a:t>
            </a:r>
          </a:p>
          <a:p>
            <a:pPr marL="0" indent="0">
              <a:buNone/>
            </a:pPr>
            <a:endParaRPr lang="ru-RU" sz="1200" b="1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997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Представьте, что появилась новая задача от бизнеса. Что происходит дальше?</a:t>
            </a:r>
          </a:p>
          <a:p>
            <a:r>
              <a:rPr lang="ru-RU" dirty="0"/>
              <a:t>Как выглядит наша структура: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49579-E42E-4A87-8852-1682A6CA4F5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124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Равноправие участников команды предполагает, что отсутствует должностная иерархия (несмотря на профессиональную градацию, например, «старший», «ведущий»), мнение каждого важно и может подвергаться только аргументированному сомнению, но не предвзятому отношению ввиду стажа, должности и т.п. Поскольку, все участники несут ответственность за процесс, то при принятии решения учитывается мнение каждого члена.</a:t>
            </a:r>
          </a:p>
          <a:p>
            <a:r>
              <a:rPr lang="ru-RU" dirty="0"/>
              <a:t>Не равноправны участники команды могут быть в случаях конкретной экспертизы, например, решение по форме или материалу корпуса, с большей вероятностью останется за конструктором, при этом, каждый может высказать свои аргументы.</a:t>
            </a:r>
          </a:p>
          <a:p>
            <a:r>
              <a:rPr lang="en-US" dirty="0"/>
              <a:t>PO </a:t>
            </a:r>
            <a:r>
              <a:rPr lang="ru-RU" dirty="0"/>
              <a:t>определяет проекты в работе и их приоритеты, что тоже является исключением для тезиса о равноправности.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3056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9149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Общая цель предполагает фокусировку внимания команды на конечном продукте. Это позволяет построить более перспективное видение процесса работы, т.е. брать обязательства и ответственность не только за текущий пул своих задач, но и учитывать долгосрочность этого результата, его влияние на будущее и смежные процессы (собственные или кросс-функциональные).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465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Качество предлагаемых решений или выпускаемых изделий входит в первый пункт, т.к. удовлетворённость заказчиков при низком качестве работы сложно представить.</a:t>
            </a:r>
          </a:p>
          <a:p>
            <a:endParaRPr lang="ru-RU" dirty="0"/>
          </a:p>
          <a:p>
            <a:r>
              <a:rPr lang="ru-RU" dirty="0"/>
              <a:t>За эти пункты отвечает команда ВСЯ: нельзя сказать, что «это электронщик накосячил, это его проблема» и нельзя сказать что «один человек не соблюдает правила фреймворка, а в остальном мы как команда молодцы». За это и есть ответственность команды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8138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ОКР могут работать на уровне организации, команды или конкретных сотрудников</a:t>
            </a:r>
          </a:p>
          <a:p>
            <a:endParaRPr lang="ru-RU" dirty="0"/>
          </a:p>
          <a:p>
            <a:br>
              <a:rPr lang="ru-RU" dirty="0"/>
            </a:br>
            <a:r>
              <a:rPr lang="ru-RU" dirty="0"/>
              <a:t>Сохранение фокуса: благодаря тому, что в OKR можно поставить только три-пять целей и три-пять ключевых результатов на цель, все участники компании сохраняют фокус на приоритетных целях и уделяют большую часть времени и усилий именно им;</a:t>
            </a:r>
          </a:p>
          <a:p>
            <a:r>
              <a:rPr lang="ru-RU" dirty="0"/>
              <a:t>Эффективная коммуникация между сотрудниками и командами и синхронизация их работы: руководство компаний, команды и сотрудники договариваются о единых целях и ключевых результатах и на постоянной основе обмениваются статусом реализации своих амбиций, что позволяет всем находится в одном информационном поле и двигаться в одном направлении;</a:t>
            </a:r>
          </a:p>
          <a:p>
            <a:r>
              <a:rPr lang="ru-RU" dirty="0"/>
              <a:t>Прозрачный мониторинг позволяет еженедельно (или раз в 2 недели) видеть статус по каждому ключевому результату и целям компании, команд и сотрудников, что позволяет оперативно принимать решения для достижения амбициозных целей.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566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Амбициозная - говорит о том, что достичь цель на 100% практически невозможно. Например, в Google 60%-70% выполнения цели - это самый лучший результат. 100% выполнения OKR - говорит о том, что вы поставили слишком простую цель. Меньше 40% выполнения говорит о том, что либо вы не рассчитали свои силы, либо не умеете достигать поставленных целей.</a:t>
            </a:r>
          </a:p>
          <a:p>
            <a:pPr algn="l" fontAlgn="base"/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 да, отсюда следует, что нельзя премировать сотрудников за выполнение/невыполнение OKR. Если сотрудники поймут, что их премии зависят от ОКR, то тогда они просто станут занижать свои цели. Никакой магии не произойдет.</a:t>
            </a:r>
          </a:p>
          <a:p>
            <a:pPr algn="l" fontAlgn="base"/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Objective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не привязана к метрикам, поэтому сложно понять насколько она выполняется в итоге. И здесь к нам на помощью приходят Key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Results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оставшиеся буквы в акрониме OKR.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Примеры:</a:t>
            </a:r>
          </a:p>
          <a:p>
            <a:pPr algn="l" fontAlgn="base"/>
            <a:r>
              <a:rPr lang="ru-RU" b="1" i="0" dirty="0" err="1">
                <a:solidFill>
                  <a:srgbClr val="000000"/>
                </a:solidFill>
                <a:effectLst/>
                <a:latin typeface="inherit"/>
              </a:rPr>
              <a:t>Objective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Сделать максимальное количество продаж</a:t>
            </a:r>
          </a:p>
          <a:p>
            <a:pPr algn="l" fontAlgn="base"/>
            <a:r>
              <a:rPr lang="ru-RU" b="1" i="0" dirty="0">
                <a:solidFill>
                  <a:srgbClr val="000000"/>
                </a:solidFill>
                <a:effectLst/>
                <a:latin typeface="inherit"/>
              </a:rPr>
              <a:t>Key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inherit"/>
              </a:rPr>
              <a:t>Results</a:t>
            </a:r>
            <a:r>
              <a:rPr lang="ru-RU" b="1" i="0" dirty="0">
                <a:solidFill>
                  <a:srgbClr val="000000"/>
                </a:solidFill>
                <a:effectLst/>
                <a:latin typeface="inherit"/>
              </a:rPr>
              <a:t>: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Подписать договоры со 100 новыми компаниями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Увеличить долю рынка с 20% до 30%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 fontAlgn="base"/>
            <a:r>
              <a:rPr lang="ru-RU" b="1" i="0" dirty="0" err="1">
                <a:solidFill>
                  <a:srgbClr val="000000"/>
                </a:solidFill>
                <a:effectLst/>
                <a:latin typeface="inherit"/>
              </a:rPr>
              <a:t>Objective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Повысить любовь клиентов к нашему сервису</a:t>
            </a:r>
          </a:p>
          <a:p>
            <a:pPr algn="l" fontAlgn="base"/>
            <a:r>
              <a:rPr lang="ru-RU" b="1" i="0" dirty="0">
                <a:solidFill>
                  <a:srgbClr val="000000"/>
                </a:solidFill>
                <a:effectLst/>
                <a:latin typeface="inherit"/>
              </a:rPr>
              <a:t>Key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inherit"/>
              </a:rPr>
              <a:t>Results</a:t>
            </a:r>
            <a:r>
              <a:rPr lang="ru-RU" b="1" i="0" dirty="0">
                <a:solidFill>
                  <a:srgbClr val="000000"/>
                </a:solidFill>
                <a:effectLst/>
                <a:latin typeface="inherit"/>
              </a:rPr>
              <a:t>: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Сократить среднюю скорость ответа с 10 до 5 минут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Сократить среднюю скорость закрытия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тикетов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с 40 до 12 часов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Повысить индекс удовлетворенности клиентов до 80%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0314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829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430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Группа людей – это коллектив. Коллектив с общей целью – это команда.</a:t>
            </a:r>
          </a:p>
          <a:p>
            <a:r>
              <a:rPr lang="ru-RU" dirty="0"/>
              <a:t>В нашем понимании, общая цель у команды это не общий проект, а общий продукт (РБ).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Команды непрерывно занимается саморазвитием (технологии, внутренние процессы, взаимоотношения членов команды) – НАПРИМЕР, РЕТРОСПЕКТИВА КАК ЭЛЕМЕНТ РАЗВИТИЯ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035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ru-RU" sz="1200" dirty="0"/>
              <a:t>В рамках Фреймворка есть ситуации, когда все рассматриваемые роли объединяются для принятия коллегиального решения.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dirty="0"/>
              <a:t>На какие решения команда может влиять:</a:t>
            </a:r>
          </a:p>
          <a:p>
            <a:pPr marL="479988">
              <a:spcBef>
                <a:spcPts val="1200"/>
              </a:spcBef>
            </a:pPr>
            <a:r>
              <a:rPr lang="ru-RU" sz="1200" dirty="0"/>
              <a:t>Найм новых сотрудников в команду</a:t>
            </a:r>
          </a:p>
          <a:p>
            <a:pPr marL="479988">
              <a:spcBef>
                <a:spcPts val="1200"/>
              </a:spcBef>
            </a:pPr>
            <a:r>
              <a:rPr lang="ru-RU" sz="1200" dirty="0"/>
              <a:t>Согласование отпусков, поездок на обучение и пр.</a:t>
            </a:r>
          </a:p>
          <a:p>
            <a:pPr marL="479988">
              <a:spcBef>
                <a:spcPts val="1200"/>
              </a:spcBef>
            </a:pPr>
            <a:r>
              <a:rPr lang="ru-RU" sz="1200" dirty="0"/>
              <a:t>Переходы сотрудников между командами</a:t>
            </a:r>
          </a:p>
          <a:p>
            <a:pPr marL="479988">
              <a:spcBef>
                <a:spcPts val="1200"/>
              </a:spcBef>
            </a:pPr>
            <a:r>
              <a:rPr lang="ru-RU" sz="1200" dirty="0"/>
              <a:t>Обсуждение новых технологических решений и улучшений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400" dirty="0"/>
              <a:t>Но в компании существует и иное структурное разделение сотрудников, в котором общее командное решение не выделяется как составляющая, отсутствует как функция и элемент ответственности.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49579-E42E-4A87-8852-1682A6CA4F5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588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7172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189">
              <a:spcBef>
                <a:spcPts val="1200"/>
              </a:spcBef>
            </a:pPr>
            <a:r>
              <a:rPr lang="en-US" sz="1200" dirty="0" err="1"/>
              <a:t>DevTeam</a:t>
            </a:r>
            <a:r>
              <a:rPr lang="ru-RU" sz="1200" dirty="0"/>
              <a:t> сама определяет свою загрузку. Берет на себя такой объем работ, какой может выполнить с высоким качеством и скоростью.</a:t>
            </a:r>
          </a:p>
          <a:p>
            <a:pPr marL="457189">
              <a:spcBef>
                <a:spcPts val="1200"/>
              </a:spcBef>
            </a:pPr>
            <a:r>
              <a:rPr lang="en-US" sz="1200" dirty="0" err="1"/>
              <a:t>DevTeam</a:t>
            </a:r>
            <a:r>
              <a:rPr lang="en-US" sz="1200" dirty="0"/>
              <a:t> </a:t>
            </a:r>
            <a:r>
              <a:rPr lang="ru-RU" sz="1200" dirty="0"/>
              <a:t>сама выбирает технические способы решения своих задач.</a:t>
            </a:r>
          </a:p>
          <a:p>
            <a:pPr marL="457189">
              <a:spcBef>
                <a:spcPts val="1200"/>
              </a:spcBef>
            </a:pPr>
            <a:r>
              <a:rPr lang="ru-RU" sz="1200" dirty="0"/>
              <a:t>Занимается распределением рабочих задач внутри команды, чтобы не было недогруза или перегруза инженеров.</a:t>
            </a:r>
          </a:p>
          <a:p>
            <a:pPr marL="457189">
              <a:spcBef>
                <a:spcPts val="1200"/>
              </a:spcBef>
            </a:pPr>
            <a:r>
              <a:rPr lang="ru-RU" sz="1200" dirty="0"/>
              <a:t>Отвечает за качество технических решений, обеспечивающих работоспособность и надежность продукта.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dirty="0"/>
              <a:t>Отвечает на вопросы: Каким способом мы выполним требования? Что мы сможем сделать за спринт? Что нам улучшить в работе, чтобы повысить результаты?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0101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2467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TD - это роль во фреймворке, цель которой помогать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Uniscan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команде стать самоуправляемой и высокоэффективной, а также улучшать процессы вокруг разработки</a:t>
            </a:r>
            <a:endParaRPr lang="ru-RU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0" i="0" dirty="0">
                <a:solidFill>
                  <a:schemeClr val="bg1"/>
                </a:solidFill>
                <a:effectLst/>
                <a:latin typeface="-apple-system"/>
              </a:rPr>
              <a:t>Цель: организация устранения препятствий и ограничений, которые могут влиять на выпуск продукта/реализацию проектов командой.</a:t>
            </a:r>
            <a:endParaRPr lang="ru-RU" b="0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Сделать так, чтобы команда сохраняла фокус на самые приоритетные свои задачи.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Помогать команде работать эффективнее, за счет качественных встреч, быстрого разрешения конфликтов, обмена информацией, комфортной атмосферы, обеспечения стыковки команды с другими подразделениями, эскалации нерешенных проблем, а также устранения других препятствий.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Помогать команде и ее членам развиваться - улучшение практик, повышение квалификации, совместный поиск решений, самоорганизация и др.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Следить, чтобы команда работала в соответствии с внутренними правилам компании - схема ведения проектов, работа с бюджетами, отчеты, фреймворк и др.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949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КРОМЕ УНИСКРАМ КОМАНДЫ, ЕСТЬ </a:t>
            </a:r>
            <a:r>
              <a:rPr lang="ru-RU"/>
              <a:t>ЕЩЁ И ДРУГИЕ РОЛИ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4475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083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Давайте вспомним, что такое распределённый отдел? (отдел, сотрудники которого имеют одну профессию, но являются членами разных команд, и поэтому сидят в разных комнатах и работают над разными проектами.)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Развитие отдела и стратегия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Участвует в найме сотрудников в отдел, в адаптации, в увольнении.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Обеспечивает взаимозаменяемость сотрудников.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Следит, чтобы планы развития отдела были согласованы с планами компании.</a:t>
            </a:r>
          </a:p>
          <a:p>
            <a:pPr algn="l">
              <a:buFont typeface="+mj-lt"/>
              <a:buNone/>
            </a:pPr>
            <a:endParaRPr lang="ru-RU" dirty="0"/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2.Оценка и развитие сотрудников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Следит, чтобы ЗП сотрудников соответствовала их уровню и ситуации на рынке. Обсуждает с Дирекцией изменение ЗП сотрудников отдела.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Оценивает профессиональный уровень сотрудников (просто для себя или для системы грейдов, если она используется в отделе).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Сам или через инициативную группу организует встречи Community </a:t>
            </a:r>
            <a:r>
              <a:rPr lang="ru-RU" b="0" i="0" dirty="0" err="1">
                <a:solidFill>
                  <a:srgbClr val="172B4D"/>
                </a:solidFill>
                <a:effectLst/>
                <a:latin typeface="-apple-system"/>
              </a:rPr>
              <a:t>of</a:t>
            </a: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172B4D"/>
                </a:solidFill>
                <a:effectLst/>
                <a:latin typeface="-apple-system"/>
              </a:rPr>
              <a:t>practice</a:t>
            </a: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3.Собственные задачи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Не является постоянным членом какой-либо одной команды (см. подробнее ниже)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Может на время подключаться к какой-либо команде, чтобы помочь со сложной задачей. Это что-то вроде «внутренней командировки» (см. подробнее ниже).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Выступает в качестве эксперта при оценке отдельных задач по запросу Дирекции.</a:t>
            </a:r>
          </a:p>
          <a:p>
            <a:endParaRPr lang="ru-RU" dirty="0"/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4.Административные задачи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Примерно раз в квартал проводит встречи с каждым сотрудником в формате «один на один». Встречи, необходимы чтобы узнать настроение сотрудника, обсудить личные планы, проанализировать результаты, разобрать ошибки и пр. (ТД этими задачами тоже частично занимается в рамках своей роли).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Следит, чтобы в коллективе были хорошие отношения между людьми (ТД этими задачами тоже частично занимается в рамках своей роли).</a:t>
            </a:r>
          </a:p>
          <a:p>
            <a:pPr algn="l">
              <a:buFont typeface="+mj-lt"/>
              <a:buNone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Решает общие административные вопросы - отпуска, отчетность, рабочие конфликты и др. (ТД этими задачами тоже частично занимается в рамках своей роли).</a:t>
            </a:r>
          </a:p>
          <a:p>
            <a:endParaRPr lang="ru-RU" dirty="0"/>
          </a:p>
          <a:p>
            <a:endParaRPr lang="ru-RU" dirty="0"/>
          </a:p>
          <a:p>
            <a:pPr algn="l"/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Что не делает Руководитель распределенного отдела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Не распределяет задачи между сотрудниками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Не отвечает за сроки выполнения задач сотрудниками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Не контролирует напрямую качество выполнения задач сотрудниками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/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Обязанности руководителя классического отдела </a:t>
            </a:r>
            <a:r>
              <a:rPr lang="ru-RU" b="1" i="0" dirty="0">
                <a:solidFill>
                  <a:srgbClr val="172B4D"/>
                </a:solidFill>
                <a:effectLst/>
                <a:latin typeface="-apple-system"/>
              </a:rPr>
              <a:t>почти полностью совпадают с </a:t>
            </a:r>
            <a:r>
              <a:rPr lang="ru-RU" b="1" i="0" dirty="0">
                <a:solidFill>
                  <a:srgbClr val="0052CC"/>
                </a:solidFill>
                <a:effectLst/>
                <a:latin typeface="-apple-system"/>
                <a:hlinkClick r:id="rId3"/>
              </a:rPr>
              <a:t>обязанностями Руководителя Распределенного Отдела</a:t>
            </a: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. Однако есть и два крупных дополнения: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Руководитель Классического отдела дополнительно распределяет задачи между сотрудниками своего отдела.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72B4D"/>
                </a:solidFill>
                <a:effectLst/>
                <a:latin typeface="-apple-system"/>
              </a:rPr>
              <a:t>А также отвечает за сроки и качество выполнения задач своего отдела.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172B4D"/>
              </a:solidFill>
              <a:effectLst/>
              <a:latin typeface="-apple-system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089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chemeClr val="bg1"/>
                </a:solidFill>
                <a:effectLst/>
                <a:latin typeface="-apple-system"/>
              </a:rPr>
              <a:t>Эта роль сейчас лежит на плечах нескольких человек: Червяков, Борисов,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-apple-system"/>
              </a:rPr>
              <a:t>Стеринович</a:t>
            </a:r>
            <a:endParaRPr lang="ru-RU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-apple-system"/>
              </a:rPr>
              <a:t>Создание и поддержка Базы знаний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-apple-system"/>
              </a:rPr>
              <a:t>Обучение сотрудников Разработки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-apple-system"/>
              </a:rPr>
              <a:t>Улучшения Фреймворка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-apple-system"/>
              </a:rPr>
              <a:t>Uniscrum</a:t>
            </a:r>
            <a:endParaRPr lang="ru-RU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-apple-system"/>
              </a:rPr>
              <a:t>Сбор, обработка и анализ информации о текущей работе Разработки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-apple-system"/>
              </a:rPr>
              <a:t>Курирование работ над проектами улучшений, ведение доски 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-apple-system"/>
              </a:rPr>
              <a:t>Контроль того, что правила Фреймворка соблюдаются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-apple-system"/>
              </a:rPr>
              <a:t>Ручная помощь при решении нестандартные вопросов, которые не описаны во Фреймворке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2487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Рук.разработки</a:t>
            </a:r>
            <a:r>
              <a:rPr lang="ru-RU" dirty="0"/>
              <a:t>:</a:t>
            </a:r>
          </a:p>
          <a:p>
            <a:pPr lvl="1"/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Найм и увольнение сотрудников (итоговое решение согласуется с руководителем разработки)</a:t>
            </a:r>
          </a:p>
          <a:p>
            <a:pPr lvl="1"/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Переходы сотрудников между командами, смена ролей (согласование)</a:t>
            </a:r>
          </a:p>
          <a:p>
            <a:pPr lvl="1"/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Изменения правил фреймворка (обязанности, роли и т.д.)</a:t>
            </a:r>
          </a:p>
          <a:p>
            <a:pPr lvl="1"/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Старт/Остановка крупных проектов</a:t>
            </a:r>
          </a:p>
          <a:p>
            <a:pPr lvl="1"/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Решение спорные вопросов по Фреймворку, если другие сотрудники не могут решить их самостоятельно</a:t>
            </a:r>
          </a:p>
          <a:p>
            <a:pPr lvl="1"/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Изменение размера ЗП сотрудников (принимает итоговое решение принимает, но </a:t>
            </a:r>
            <a:r>
              <a:rPr lang="ru-RU" dirty="0" err="1">
                <a:solidFill>
                  <a:prstClr val="white"/>
                </a:solidFill>
                <a:latin typeface="Pragmatica Light" panose="020B0403040502020204" pitchFamily="34" charset="-52"/>
              </a:rPr>
              <a:t>зп</a:t>
            </a:r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 обсуждать первоначально с руководителем своего отдела)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917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Дирекция – они то и принесли </a:t>
            </a:r>
            <a:r>
              <a:rPr lang="ru-RU" dirty="0" err="1"/>
              <a:t>аджаил</a:t>
            </a:r>
            <a:r>
              <a:rPr lang="ru-RU" dirty="0"/>
              <a:t> в компанию. </a:t>
            </a:r>
            <a:r>
              <a:rPr lang="ru-RU" sz="1800" dirty="0">
                <a:effectLst/>
                <a:latin typeface="Segoe UI" panose="020B0502040204020203" pitchFamily="34" charset="0"/>
              </a:rPr>
              <a:t>Согласует бюджет, а раскидывает </a:t>
            </a:r>
            <a:r>
              <a:rPr lang="ru-RU" sz="1800" dirty="0" err="1">
                <a:effectLst/>
                <a:latin typeface="Segoe UI" panose="020B0502040204020203" pitchFamily="34" charset="0"/>
              </a:rPr>
              <a:t>рук.разработки</a:t>
            </a:r>
            <a:r>
              <a:rPr lang="ru-RU" sz="1800" dirty="0">
                <a:effectLst/>
                <a:latin typeface="Segoe UI" panose="020B0502040204020203" pitchFamily="34" charset="0"/>
              </a:rPr>
              <a:t> или спускает до </a:t>
            </a:r>
            <a:r>
              <a:rPr lang="ru-RU" sz="1800" dirty="0" err="1">
                <a:effectLst/>
                <a:latin typeface="Segoe UI" panose="020B0502040204020203" pitchFamily="34" charset="0"/>
              </a:rPr>
              <a:t>рук.отделов</a:t>
            </a:r>
            <a:endParaRPr lang="ru-RU" sz="1800" dirty="0"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2578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2147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Например, </a:t>
            </a:r>
            <a:r>
              <a:rPr lang="ru-RU" dirty="0" err="1"/>
              <a:t>аотд</a:t>
            </a:r>
            <a:r>
              <a:rPr lang="ru-RU" dirty="0"/>
              <a:t> относится к </a:t>
            </a:r>
            <a:r>
              <a:rPr lang="ru-RU" dirty="0" err="1"/>
              <a:t>РнД</a:t>
            </a:r>
            <a:r>
              <a:rPr lang="ru-RU" dirty="0"/>
              <a:t>, внедрение – нет.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48585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9988">
              <a:spcBef>
                <a:spcPts val="1600"/>
              </a:spcBef>
            </a:pPr>
            <a:r>
              <a:rPr lang="ru-RU" sz="1200" b="1" dirty="0"/>
              <a:t>Это универсальные сервисы, для всех, для сотрудника, обеспечивающие условия труда.</a:t>
            </a:r>
          </a:p>
          <a:p>
            <a:pPr marL="479988">
              <a:spcBef>
                <a:spcPts val="1600"/>
              </a:spcBef>
            </a:pPr>
            <a:endParaRPr lang="ru-RU" sz="1200" b="1" dirty="0"/>
          </a:p>
          <a:p>
            <a:pPr marL="479988">
              <a:spcBef>
                <a:spcPts val="1600"/>
              </a:spcBef>
            </a:pPr>
            <a:r>
              <a:rPr lang="ru-RU" sz="1200" b="1" dirty="0"/>
              <a:t>В 1с можно – </a:t>
            </a:r>
            <a:r>
              <a:rPr lang="ru-RU" sz="1200" b="1" dirty="0" err="1"/>
              <a:t>ахо</a:t>
            </a:r>
            <a:r>
              <a:rPr lang="ru-RU" sz="1200" b="1" dirty="0"/>
              <a:t>, админы, мм, логистика</a:t>
            </a:r>
          </a:p>
          <a:p>
            <a:pPr marL="479988">
              <a:spcBef>
                <a:spcPts val="1600"/>
              </a:spcBef>
            </a:pPr>
            <a:r>
              <a:rPr lang="ru-RU" sz="1200" b="1" dirty="0"/>
              <a:t>АХО </a:t>
            </a:r>
            <a:r>
              <a:rPr lang="ru-RU" sz="1200" dirty="0"/>
              <a:t>– ключи, мебель, офис. принадлежности, помещения (Павел Вааль)</a:t>
            </a:r>
          </a:p>
          <a:p>
            <a:pPr marL="479988">
              <a:spcBef>
                <a:spcPts val="1600"/>
              </a:spcBef>
            </a:pPr>
            <a:r>
              <a:rPr lang="ru-RU" sz="1200" b="1" dirty="0">
                <a:hlinkClick r:id="rId3"/>
              </a:rPr>
              <a:t>Системные администраторы </a:t>
            </a:r>
            <a:r>
              <a:rPr lang="ru-RU" sz="1200" dirty="0"/>
              <a:t>– компьютеры, ПО, телефония, удаленный доступ (Филипп Северин)</a:t>
            </a:r>
          </a:p>
          <a:p>
            <a:pPr marL="479988">
              <a:spcBef>
                <a:spcPts val="1600"/>
              </a:spcBef>
            </a:pPr>
            <a:r>
              <a:rPr lang="en-US" sz="1200" b="1" dirty="0">
                <a:hlinkClick r:id="rId4"/>
              </a:rPr>
              <a:t>HR</a:t>
            </a:r>
            <a:r>
              <a:rPr lang="en-US" sz="1200" dirty="0"/>
              <a:t> – </a:t>
            </a:r>
            <a:r>
              <a:rPr lang="ru-RU" sz="1200" dirty="0"/>
              <a:t>найм сотрудников, увольнение, мотивация (Евгения Мосина)</a:t>
            </a:r>
          </a:p>
          <a:p>
            <a:pPr marL="479988">
              <a:spcBef>
                <a:spcPts val="1600"/>
              </a:spcBef>
            </a:pPr>
            <a:r>
              <a:rPr lang="ru-RU" sz="1200" b="1" dirty="0"/>
              <a:t>Бухгалтерия и кадры </a:t>
            </a:r>
            <a:r>
              <a:rPr lang="ru-RU" sz="1200" dirty="0"/>
              <a:t>– оформление документов, отпуска, больничные (Юлия Храненко)</a:t>
            </a:r>
          </a:p>
          <a:p>
            <a:endParaRPr lang="ru-RU" dirty="0"/>
          </a:p>
          <a:p>
            <a:r>
              <a:rPr lang="ru-RU" sz="1800" dirty="0">
                <a:effectLst/>
                <a:latin typeface="Segoe UI" panose="020B0502040204020203" pitchFamily="34" charset="0"/>
              </a:rPr>
              <a:t>В 1с не можем </a:t>
            </a:r>
            <a:r>
              <a:rPr lang="ru-RU" sz="1800" dirty="0" err="1">
                <a:effectLst/>
                <a:latin typeface="Segoe UI" panose="020B0502040204020203" pitchFamily="34" charset="0"/>
              </a:rPr>
              <a:t>эйчару</a:t>
            </a:r>
            <a:r>
              <a:rPr lang="ru-RU" sz="1800" dirty="0">
                <a:effectLst/>
                <a:latin typeface="Segoe UI" panose="020B0502040204020203" pitchFamily="34" charset="0"/>
              </a:rPr>
              <a:t>, кадрам и бухгалтерии ставить задачи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8262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9988">
              <a:spcBef>
                <a:spcPts val="1200"/>
              </a:spcBef>
            </a:pPr>
            <a:r>
              <a:rPr lang="ru-RU" sz="1200" b="1" dirty="0">
                <a:hlinkClick r:id="rId3"/>
              </a:rPr>
              <a:t>Эти сервисы помогают реализовать часть работы в проекте</a:t>
            </a:r>
          </a:p>
          <a:p>
            <a:pPr marL="479988">
              <a:spcBef>
                <a:spcPts val="1200"/>
              </a:spcBef>
            </a:pPr>
            <a:r>
              <a:rPr lang="ru-RU" sz="1200" b="1" dirty="0">
                <a:hlinkClick r:id="rId3"/>
              </a:rPr>
              <a:t>Макетные Мастерские </a:t>
            </a:r>
            <a:r>
              <a:rPr lang="ru-RU" sz="1200" dirty="0"/>
              <a:t>– изготовление малых партий деталей для Разработки, </a:t>
            </a:r>
            <a:r>
              <a:rPr lang="ru-RU" sz="1200" dirty="0">
                <a:hlinkClick r:id="rId4"/>
              </a:rPr>
              <a:t>Справочник подрядчиков</a:t>
            </a:r>
            <a:r>
              <a:rPr lang="ru-RU" sz="1200" dirty="0"/>
              <a:t> и технологий </a:t>
            </a:r>
          </a:p>
          <a:p>
            <a:pPr marL="479988">
              <a:spcBef>
                <a:spcPts val="1200"/>
              </a:spcBef>
            </a:pPr>
            <a:r>
              <a:rPr lang="ru-RU" sz="1200" b="1" dirty="0"/>
              <a:t>Отдел снабжения </a:t>
            </a:r>
            <a:r>
              <a:rPr lang="ru-RU" sz="1200" dirty="0"/>
              <a:t>– закупка и доставка деталей или материалов </a:t>
            </a:r>
          </a:p>
          <a:p>
            <a:pPr marL="479988">
              <a:spcBef>
                <a:spcPts val="1200"/>
              </a:spcBef>
            </a:pPr>
            <a:r>
              <a:rPr lang="ru-RU" sz="1200" b="1" dirty="0"/>
              <a:t>Лаборатория</a:t>
            </a:r>
            <a:r>
              <a:rPr lang="ru-RU" sz="1200" dirty="0"/>
              <a:t> – проведение технологических экспериментов </a:t>
            </a:r>
          </a:p>
          <a:p>
            <a:pPr marL="479988">
              <a:spcBef>
                <a:spcPts val="1200"/>
              </a:spcBef>
            </a:pPr>
            <a:r>
              <a:rPr lang="ru-RU" sz="1200" b="1" dirty="0" err="1"/>
              <a:t>Техписатели</a:t>
            </a:r>
            <a:r>
              <a:rPr lang="ru-RU" sz="1200" dirty="0"/>
              <a:t> – документация и работа с текстами. Если вносятся изменения в РЭ, то они согласуют с группой ГОЗ изменения.</a:t>
            </a:r>
          </a:p>
          <a:p>
            <a:pPr marL="479988">
              <a:spcBef>
                <a:spcPts val="1200"/>
              </a:spcBef>
            </a:pPr>
            <a:r>
              <a:rPr lang="ru-RU" sz="1200" b="1" dirty="0"/>
              <a:t>Стенды</a:t>
            </a:r>
            <a:r>
              <a:rPr lang="ru-RU" sz="1200" dirty="0"/>
              <a:t> – автоматизация серийного тестирования для нужд производства и экспериментов </a:t>
            </a:r>
            <a:r>
              <a:rPr lang="en-US" sz="1200" dirty="0" err="1"/>
              <a:t>RnD</a:t>
            </a:r>
            <a:r>
              <a:rPr lang="ru-RU" sz="1200" dirty="0"/>
              <a:t> (Александр Борисов)</a:t>
            </a:r>
          </a:p>
          <a:p>
            <a:pPr marL="479988">
              <a:spcBef>
                <a:spcPts val="1200"/>
              </a:spcBef>
            </a:pPr>
            <a:r>
              <a:rPr lang="ru-RU" sz="1200" b="1" dirty="0">
                <a:hlinkClick r:id="rId5"/>
              </a:rPr>
              <a:t>Группа ГОЗ </a:t>
            </a:r>
            <a:r>
              <a:rPr lang="ru-RU" sz="1200" dirty="0"/>
              <a:t>– экспертиза на соответствие РКМ </a:t>
            </a:r>
          </a:p>
          <a:p>
            <a:pPr marL="479988">
              <a:spcBef>
                <a:spcPts val="1200"/>
              </a:spcBef>
            </a:pPr>
            <a:r>
              <a:rPr lang="en-US" sz="1200" b="1" dirty="0">
                <a:hlinkClick r:id="rId6"/>
              </a:rPr>
              <a:t>DevOps</a:t>
            </a:r>
            <a:r>
              <a:rPr lang="en-US" sz="1200" b="1" dirty="0"/>
              <a:t> </a:t>
            </a:r>
            <a:r>
              <a:rPr lang="en-US" sz="1200" dirty="0"/>
              <a:t>- </a:t>
            </a:r>
            <a:r>
              <a:rPr lang="ru-RU" sz="1200" dirty="0"/>
              <a:t>автоматизация процессов сборки и внедрения программного обеспечения (</a:t>
            </a:r>
            <a:r>
              <a:rPr lang="ru-RU" sz="1200" dirty="0" err="1"/>
              <a:t>continuous</a:t>
            </a:r>
            <a:r>
              <a:rPr lang="ru-RU" sz="1200" dirty="0"/>
              <a:t> </a:t>
            </a:r>
            <a:r>
              <a:rPr lang="ru-RU" sz="1200" dirty="0" err="1"/>
              <a:t>integration</a:t>
            </a:r>
            <a:r>
              <a:rPr lang="ru-RU" sz="1200" dirty="0"/>
              <a:t>, </a:t>
            </a:r>
            <a:r>
              <a:rPr lang="ru-RU" sz="1200" dirty="0" err="1"/>
              <a:t>continuous</a:t>
            </a:r>
            <a:r>
              <a:rPr lang="ru-RU" sz="1200" dirty="0"/>
              <a:t> </a:t>
            </a:r>
            <a:r>
              <a:rPr lang="ru-RU" sz="1200" dirty="0" err="1"/>
              <a:t>deployment</a:t>
            </a:r>
            <a:r>
              <a:rPr lang="ru-RU" sz="1200" dirty="0"/>
              <a:t>) (Михаил </a:t>
            </a:r>
            <a:r>
              <a:rPr lang="ru-RU" sz="1200" dirty="0" err="1"/>
              <a:t>Чемякин</a:t>
            </a:r>
            <a:r>
              <a:rPr lang="ru-RU" sz="1200" dirty="0"/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5755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799" indent="0">
              <a:spcBef>
                <a:spcPts val="800"/>
              </a:spcBef>
              <a:buNone/>
            </a:pPr>
            <a:r>
              <a:rPr lang="ru-RU" sz="1200" b="1" i="1" dirty="0"/>
              <a:t>Самое главное, что группа ГОЗ помогает нам избежать рисков. Все изделия для ГОЗ проходят через них</a:t>
            </a:r>
          </a:p>
          <a:p>
            <a:pPr marL="22799" indent="0">
              <a:spcBef>
                <a:spcPts val="800"/>
              </a:spcBef>
              <a:buNone/>
            </a:pPr>
            <a:endParaRPr lang="ru-RU" sz="1200" b="1" i="1" dirty="0"/>
          </a:p>
          <a:p>
            <a:pPr marL="22799" indent="0">
              <a:spcBef>
                <a:spcPts val="800"/>
              </a:spcBef>
              <a:buNone/>
            </a:pPr>
            <a:r>
              <a:rPr lang="ru-RU" sz="1200" b="1" i="1" dirty="0"/>
              <a:t>ГОЗ</a:t>
            </a:r>
            <a:r>
              <a:rPr lang="ru-RU" sz="1200" i="1" dirty="0"/>
              <a:t> – Государственный Оборонный Заказ</a:t>
            </a:r>
            <a:br>
              <a:rPr lang="ru-RU" sz="1200" i="1" dirty="0"/>
            </a:br>
            <a:r>
              <a:rPr lang="ru-RU" sz="1200" b="1" i="1" dirty="0"/>
              <a:t>РКМ</a:t>
            </a:r>
            <a:r>
              <a:rPr lang="ru-RU" sz="1200" i="1" dirty="0"/>
              <a:t> - Расчетно-калькуляционные материалы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РКМ и ГОЗ — это требования со стороны государства, которым мы обязаны следовать, так как поставляем оборудование военным в РФ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Эти правила непростые, кое-где жесткие, часто нелогичные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У нас в компании есть Группа ГОЗ, которая помогает всем командам, с  решением всех вопросов по РКМ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Чтобы избежать проблем с РКМ, команде достаточно в определенные моменты проводить экспертизу проекта у группы ГОЗ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С любыми вопросами по ГОЗ нужно </a:t>
            </a:r>
            <a:r>
              <a:rPr lang="ru-RU" sz="1200" b="1" dirty="0">
                <a:solidFill>
                  <a:schemeClr val="accent6">
                    <a:lumMod val="75000"/>
                  </a:schemeClr>
                </a:solidFill>
              </a:rPr>
              <a:t>обращаться к Денису Фоменко</a:t>
            </a:r>
            <a:endParaRPr lang="en-US" sz="1200" dirty="0"/>
          </a:p>
          <a:p>
            <a:pPr marL="479988">
              <a:spcBef>
                <a:spcPts val="800"/>
              </a:spcBef>
            </a:pPr>
            <a:r>
              <a:rPr lang="ru-RU" sz="1200" dirty="0"/>
              <a:t>Описание </a:t>
            </a:r>
            <a:r>
              <a:rPr lang="ru-RU" sz="1200" dirty="0">
                <a:hlinkClick r:id="rId3"/>
              </a:rPr>
              <a:t>Группы ГОЗ</a:t>
            </a:r>
            <a:r>
              <a:rPr lang="ru-RU" sz="1200" dirty="0"/>
              <a:t> в Базе Знаний</a:t>
            </a:r>
          </a:p>
          <a:p>
            <a:pPr marL="479988">
              <a:spcBef>
                <a:spcPts val="1200"/>
              </a:spcBef>
            </a:pPr>
            <a:endParaRPr lang="ru-RU" dirty="0"/>
          </a:p>
          <a:p>
            <a:pPr marL="479988">
              <a:spcBef>
                <a:spcPts val="1200"/>
              </a:spcBef>
            </a:pPr>
            <a:r>
              <a:rPr lang="ru-RU" dirty="0"/>
              <a:t>Акцент на важности согласования с ГОЗ изменений (если не коммерческий заказ)</a:t>
            </a:r>
          </a:p>
          <a:p>
            <a:pPr marL="479988">
              <a:spcBef>
                <a:spcPts val="1200"/>
              </a:spcBef>
            </a:pPr>
            <a:endParaRPr lang="ru-RU" dirty="0"/>
          </a:p>
          <a:p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ГОЗ - это договор между нашим </a:t>
            </a:r>
          </a:p>
          <a:p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предприятием (исполнителем) и государством (заказчиком), </a:t>
            </a:r>
          </a:p>
          <a:p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по которому мы обязуемся поставить закупленное </a:t>
            </a:r>
          </a:p>
          <a:p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оборудование в указанный срок, в полном объеме и в </a:t>
            </a:r>
          </a:p>
          <a:p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строгом соответствии с утверждённой документацией\</a:t>
            </a:r>
          </a:p>
          <a:p>
            <a:endParaRPr lang="ru-RU" sz="1200" b="0" i="0" dirty="0">
              <a:solidFill>
                <a:prstClr val="white"/>
              </a:solidFill>
              <a:effectLst/>
              <a:latin typeface="Pragmatica Light" panose="020B0403040502020204" pitchFamily="34" charset="-52"/>
            </a:endParaRPr>
          </a:p>
          <a:p>
            <a:r>
              <a:rPr lang="ru-RU" sz="1200" dirty="0">
                <a:solidFill>
                  <a:schemeClr val="bg1"/>
                </a:solidFill>
                <a:latin typeface="Pragmatica Light" panose="020B0403040502020204" pitchFamily="34" charset="-52"/>
              </a:rPr>
              <a:t>РКМ – это набор государственных нормативных актов, по </a:t>
            </a:r>
          </a:p>
          <a:p>
            <a:r>
              <a:rPr lang="ru-RU" sz="1200" dirty="0">
                <a:solidFill>
                  <a:schemeClr val="bg1"/>
                </a:solidFill>
                <a:latin typeface="Pragmatica Light" panose="020B0403040502020204" pitchFamily="34" charset="-52"/>
              </a:rPr>
              <a:t>которым рассчитывается стоимость изделий, закупаемых в </a:t>
            </a:r>
          </a:p>
          <a:p>
            <a:r>
              <a:rPr lang="ru-RU" sz="1200" dirty="0">
                <a:solidFill>
                  <a:schemeClr val="bg1"/>
                </a:solidFill>
                <a:latin typeface="Pragmatica Light" panose="020B0403040502020204" pitchFamily="34" charset="-52"/>
              </a:rPr>
              <a:t>рамках государственного оборонного заказа</a:t>
            </a:r>
          </a:p>
          <a:p>
            <a:endParaRPr lang="ru-RU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22784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5375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9988"/>
            <a:r>
              <a:rPr lang="en-US" sz="1200" b="1" dirty="0"/>
              <a:t>DevRel</a:t>
            </a:r>
            <a:r>
              <a:rPr lang="ru-RU" sz="1200" b="1" dirty="0"/>
              <a:t>:</a:t>
            </a:r>
          </a:p>
          <a:p>
            <a:pPr marL="479988"/>
            <a:r>
              <a:rPr lang="ru-RU" sz="1200" dirty="0"/>
              <a:t>Это выступления, статьи и другие активности наших сотрудников на конференциях, форумах, сайтах и т.д.</a:t>
            </a:r>
            <a:endParaRPr lang="en-US" sz="1200" dirty="0"/>
          </a:p>
          <a:p>
            <a:pPr marL="479988"/>
            <a:r>
              <a:rPr lang="ru-RU" sz="1200" dirty="0"/>
              <a:t>Мы занимаемся этим, чтобы делиться с техническим сообществом нашей экспертизой и знаниями. </a:t>
            </a:r>
          </a:p>
          <a:p>
            <a:pPr marL="479988"/>
            <a:r>
              <a:rPr lang="ru-RU" sz="1200" dirty="0"/>
              <a:t>А также, чтобы развивать </a:t>
            </a:r>
            <a:r>
              <a:rPr lang="en-US" sz="1200" dirty="0"/>
              <a:t>HR </a:t>
            </a:r>
            <a:r>
              <a:rPr lang="ru-RU" sz="1200" dirty="0"/>
              <a:t>бренд </a:t>
            </a:r>
            <a:r>
              <a:rPr lang="en-US" sz="1200" dirty="0" err="1"/>
              <a:t>Uniscan</a:t>
            </a:r>
            <a:r>
              <a:rPr lang="en-US" sz="1200" dirty="0"/>
              <a:t> Research</a:t>
            </a:r>
            <a:r>
              <a:rPr lang="ru-RU" sz="1200" dirty="0"/>
              <a:t>. Это нужно, чтобы больше людей вокруг знало о нашей компании, ее проектах, ее сотрудниках.</a:t>
            </a:r>
          </a:p>
          <a:p>
            <a:pPr marL="479988"/>
            <a:r>
              <a:rPr lang="ru-RU" sz="1200" dirty="0"/>
              <a:t>Если вы думали над тем, чтобы написать статью на </a:t>
            </a:r>
            <a:r>
              <a:rPr lang="ru-RU" sz="1200" dirty="0" err="1"/>
              <a:t>Хабр</a:t>
            </a:r>
            <a:r>
              <a:rPr lang="ru-RU" sz="1200" dirty="0"/>
              <a:t> или выступить с докладом, или поучаствовать в организации мероприятия для инженеров – обязательно подключайтесь к </a:t>
            </a:r>
            <a:r>
              <a:rPr lang="en-US" sz="1200" dirty="0"/>
              <a:t>DevRel</a:t>
            </a:r>
            <a:r>
              <a:rPr lang="ru-RU" sz="1200" dirty="0"/>
              <a:t>!</a:t>
            </a:r>
          </a:p>
          <a:p>
            <a:pPr marL="479988">
              <a:spcBef>
                <a:spcPts val="1600"/>
              </a:spcBef>
            </a:pPr>
            <a:endParaRPr lang="en-US" sz="1200" b="1" dirty="0"/>
          </a:p>
          <a:p>
            <a:pPr marL="479988">
              <a:spcBef>
                <a:spcPts val="1600"/>
              </a:spcBef>
            </a:pPr>
            <a:r>
              <a:rPr lang="ru-RU" sz="1200" b="1" dirty="0" err="1"/>
              <a:t>Орг.проекты</a:t>
            </a:r>
            <a:r>
              <a:rPr lang="ru-RU" sz="1200" b="1" dirty="0"/>
              <a:t>:</a:t>
            </a:r>
          </a:p>
          <a:p>
            <a:pPr marL="479988">
              <a:spcBef>
                <a:spcPts val="800"/>
              </a:spcBef>
            </a:pPr>
            <a:r>
              <a:rPr lang="ru-RU" sz="3200" dirty="0"/>
              <a:t>Это любые действия по улучшению Фреймворка или работы подразделения Разработки в целом</a:t>
            </a:r>
          </a:p>
          <a:p>
            <a:pPr marL="479988">
              <a:spcBef>
                <a:spcPts val="800"/>
              </a:spcBef>
            </a:pPr>
            <a:r>
              <a:rPr lang="ru-RU" sz="3200" dirty="0"/>
              <a:t>Примеры орг проектов:</a:t>
            </a:r>
          </a:p>
          <a:p>
            <a:pPr lvl="1"/>
            <a:r>
              <a:rPr lang="ru-RU" sz="2667" i="1" dirty="0"/>
              <a:t>Сформировать новую команду инженеров</a:t>
            </a:r>
          </a:p>
          <a:p>
            <a:pPr lvl="1"/>
            <a:r>
              <a:rPr lang="ru-RU" sz="2667" i="1" dirty="0"/>
              <a:t>Составить описание роли </a:t>
            </a:r>
            <a:r>
              <a:rPr lang="ru-RU" sz="2667" i="1" dirty="0" err="1"/>
              <a:t>тимдрайвера</a:t>
            </a:r>
            <a:endParaRPr lang="ru-RU" sz="2667" i="1" dirty="0"/>
          </a:p>
          <a:p>
            <a:pPr lvl="1"/>
            <a:r>
              <a:rPr lang="ru-RU" sz="2667" i="1" dirty="0"/>
              <a:t>Создать памятку по адаптации новых сотрудников</a:t>
            </a:r>
          </a:p>
          <a:p>
            <a:pPr lvl="1"/>
            <a:r>
              <a:rPr lang="ru-RU" sz="2667" i="1" dirty="0"/>
              <a:t>Улучшить систему </a:t>
            </a:r>
            <a:r>
              <a:rPr lang="ru-RU" sz="2667" i="1" dirty="0" err="1"/>
              <a:t>приоритизации</a:t>
            </a:r>
            <a:r>
              <a:rPr lang="ru-RU" sz="2667" i="1" dirty="0"/>
              <a:t> проектов</a:t>
            </a:r>
          </a:p>
          <a:p>
            <a:pPr marL="479988">
              <a:spcBef>
                <a:spcPts val="800"/>
              </a:spcBef>
            </a:pPr>
            <a:r>
              <a:rPr lang="ru-RU" sz="3200" dirty="0"/>
              <a:t>Каждый сотрудник </a:t>
            </a:r>
            <a:r>
              <a:rPr lang="en-US" sz="3200" dirty="0" err="1"/>
              <a:t>RnD</a:t>
            </a:r>
            <a:r>
              <a:rPr lang="en-US" sz="3200" dirty="0"/>
              <a:t> </a:t>
            </a:r>
            <a:r>
              <a:rPr lang="ru-RU" sz="3200" dirty="0"/>
              <a:t>может и участвовать в работе над текущими, и предлагать новые проекты Улучшения.</a:t>
            </a:r>
            <a:endParaRPr lang="en-US" sz="1200" b="1" dirty="0"/>
          </a:p>
          <a:p>
            <a:pPr marL="479988">
              <a:spcBef>
                <a:spcPts val="1600"/>
              </a:spcBef>
            </a:pPr>
            <a:endParaRPr lang="ru-RU" sz="1200" b="1" dirty="0"/>
          </a:p>
          <a:p>
            <a:pPr marL="479988">
              <a:spcBef>
                <a:spcPts val="1600"/>
              </a:spcBef>
            </a:pPr>
            <a:r>
              <a:rPr lang="en-US" sz="1200" b="1" dirty="0"/>
              <a:t>Community</a:t>
            </a:r>
            <a:r>
              <a:rPr lang="ru-RU" sz="1200" b="1" dirty="0"/>
              <a:t>:</a:t>
            </a:r>
          </a:p>
          <a:p>
            <a:pPr marL="479988">
              <a:spcBef>
                <a:spcPts val="1600"/>
              </a:spcBef>
            </a:pPr>
            <a:r>
              <a:rPr lang="ru-RU" sz="1200" dirty="0"/>
              <a:t>Это встречи, на которых инженеры одной специальности из разных команд обмениваются опытом и обсуждают любые другие интересные им технические вопросы</a:t>
            </a:r>
          </a:p>
          <a:p>
            <a:pPr marL="479988">
              <a:spcBef>
                <a:spcPts val="1600"/>
              </a:spcBef>
            </a:pPr>
            <a:r>
              <a:rPr lang="ru-RU" sz="1200" dirty="0"/>
              <a:t>Их организацией обычно занимается Рук. Отдела, либо инициативная группа. </a:t>
            </a:r>
          </a:p>
          <a:p>
            <a:pPr marL="479988">
              <a:spcBef>
                <a:spcPts val="1600"/>
              </a:spcBef>
            </a:pPr>
            <a:r>
              <a:rPr lang="ru-RU" sz="1200" dirty="0"/>
              <a:t>Для проведения таких встреч зарезервировано окно в календаре - </a:t>
            </a:r>
            <a:r>
              <a:rPr lang="ru-RU" sz="1200" b="1" dirty="0"/>
              <a:t>с 13:00 до 16:00 каждый четверг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3309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7320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538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351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0897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98568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3586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800"/>
              </a:spcBef>
              <a:buNone/>
            </a:pPr>
            <a:r>
              <a:rPr lang="ru-RU" sz="1200" dirty="0"/>
              <a:t>Всю деятельность внутри </a:t>
            </a:r>
            <a:r>
              <a:rPr lang="en-US" sz="1200" dirty="0" err="1"/>
              <a:t>RnD</a:t>
            </a:r>
            <a:r>
              <a:rPr lang="en-US" sz="1200" dirty="0"/>
              <a:t> </a:t>
            </a:r>
            <a:r>
              <a:rPr lang="ru-RU" sz="1200" dirty="0"/>
              <a:t>подразделения мы разбиваем на проекты.</a:t>
            </a:r>
            <a:r>
              <a:rPr lang="en-US" sz="1200" dirty="0"/>
              <a:t> </a:t>
            </a:r>
            <a:r>
              <a:rPr lang="ru-RU" sz="1200" dirty="0"/>
              <a:t>Список всех проектов мы храним в ПО </a:t>
            </a:r>
            <a:r>
              <a:rPr lang="en-US" sz="1200" dirty="0" err="1"/>
              <a:t>Uniscrum</a:t>
            </a:r>
            <a:r>
              <a:rPr lang="en-US" sz="1200" dirty="0"/>
              <a:t>.</a:t>
            </a:r>
            <a:endParaRPr lang="ru-RU" sz="1200" dirty="0"/>
          </a:p>
          <a:p>
            <a:pPr marL="0" indent="0">
              <a:spcBef>
                <a:spcPts val="800"/>
              </a:spcBef>
              <a:buNone/>
            </a:pPr>
            <a:r>
              <a:rPr lang="ru-RU" sz="1200" b="1" dirty="0"/>
              <a:t>Проект</a:t>
            </a:r>
            <a:r>
              <a:rPr lang="ru-RU" sz="1200" dirty="0"/>
              <a:t> – это </a:t>
            </a:r>
            <a:r>
              <a:rPr lang="ru-RU" sz="1200" b="1" dirty="0">
                <a:solidFill>
                  <a:schemeClr val="accent6">
                    <a:lumMod val="75000"/>
                  </a:schemeClr>
                </a:solidFill>
              </a:rPr>
              <a:t>одноразовая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ru-RU" sz="1200" dirty="0"/>
              <a:t>деятельность, в </a:t>
            </a:r>
            <a:r>
              <a:rPr lang="ru-RU" sz="1200" b="1" dirty="0">
                <a:solidFill>
                  <a:schemeClr val="accent6">
                    <a:lumMod val="75000"/>
                  </a:schemeClr>
                </a:solidFill>
              </a:rPr>
              <a:t>результате</a:t>
            </a:r>
            <a:r>
              <a:rPr lang="ru-RU" sz="1200" dirty="0"/>
              <a:t> которой за определенное </a:t>
            </a:r>
            <a:r>
              <a:rPr lang="ru-RU" sz="1200" b="1" dirty="0">
                <a:solidFill>
                  <a:schemeClr val="accent6">
                    <a:lumMod val="75000"/>
                  </a:schemeClr>
                </a:solidFill>
              </a:rPr>
              <a:t>время</a:t>
            </a:r>
            <a:r>
              <a:rPr lang="ru-RU" sz="1200" dirty="0"/>
              <a:t> и </a:t>
            </a:r>
            <a:r>
              <a:rPr lang="ru-RU" sz="1200" b="1" dirty="0">
                <a:solidFill>
                  <a:schemeClr val="accent6">
                    <a:lumMod val="75000"/>
                  </a:schemeClr>
                </a:solidFill>
              </a:rPr>
              <a:t>бюджет</a:t>
            </a:r>
            <a:r>
              <a:rPr lang="ru-RU" sz="1200" dirty="0"/>
              <a:t> достигаются четко поставленная </a:t>
            </a:r>
            <a:r>
              <a:rPr lang="ru-RU" sz="1200" b="1" dirty="0">
                <a:solidFill>
                  <a:schemeClr val="accent6">
                    <a:lumMod val="75000"/>
                  </a:schemeClr>
                </a:solidFill>
              </a:rPr>
              <a:t>цель</a:t>
            </a:r>
            <a:r>
              <a:rPr lang="ru-RU" sz="1200" dirty="0"/>
              <a:t>.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ru-RU" sz="1200" dirty="0"/>
              <a:t>Примеры </a:t>
            </a:r>
            <a:r>
              <a:rPr lang="en-US" sz="1200" dirty="0" err="1"/>
              <a:t>Uniscrum</a:t>
            </a:r>
            <a:r>
              <a:rPr lang="en-US" sz="1200" dirty="0"/>
              <a:t> </a:t>
            </a:r>
            <a:r>
              <a:rPr lang="ru-RU" sz="1200" dirty="0"/>
              <a:t>проектов: </a:t>
            </a:r>
          </a:p>
          <a:p>
            <a:pPr marL="479988"/>
            <a:r>
              <a:rPr lang="ru-RU" sz="1200" dirty="0"/>
              <a:t>Создание Подземной РСЛ </a:t>
            </a:r>
          </a:p>
          <a:p>
            <a:pPr marL="479988"/>
            <a:r>
              <a:rPr lang="ru-RU" sz="1200" dirty="0"/>
              <a:t>Улучшить </a:t>
            </a:r>
            <a:r>
              <a:rPr lang="ru-RU" sz="1200" dirty="0" err="1"/>
              <a:t>сейсмоалгоритм</a:t>
            </a:r>
            <a:endParaRPr lang="en-US" sz="1200" dirty="0"/>
          </a:p>
          <a:p>
            <a:pPr marL="479988"/>
            <a:r>
              <a:rPr lang="ru-RU" sz="1200" dirty="0"/>
              <a:t>РС-У 3 переписать прошивку</a:t>
            </a:r>
          </a:p>
          <a:p>
            <a:pPr marL="479988"/>
            <a:r>
              <a:rPr lang="ru-RU" sz="1200" dirty="0"/>
              <a:t>Кайман ПКМ дисплей снимается с производства</a:t>
            </a:r>
          </a:p>
          <a:p>
            <a:pPr marL="479988"/>
            <a:r>
              <a:rPr lang="ru-RU" sz="1200" dirty="0"/>
              <a:t>Документация для турецкого контракта</a:t>
            </a:r>
          </a:p>
          <a:p>
            <a:pPr marL="479988"/>
            <a:r>
              <a:rPr lang="ru-RU" sz="1200" dirty="0"/>
              <a:t>Создать Уголок метролога</a:t>
            </a:r>
          </a:p>
          <a:p>
            <a:pPr marL="22799" indent="0">
              <a:buNone/>
            </a:pPr>
            <a:endParaRPr lang="ru-RU" sz="1200" dirty="0"/>
          </a:p>
          <a:p>
            <a:pPr marL="22799" indent="0">
              <a:buNone/>
            </a:pPr>
            <a:r>
              <a:rPr lang="ru-RU" sz="1200" dirty="0"/>
              <a:t>Другими словами</a:t>
            </a:r>
            <a:r>
              <a:rPr lang="en-US" sz="1200" dirty="0"/>
              <a:t>:</a:t>
            </a:r>
            <a:r>
              <a:rPr lang="ru-RU" sz="1200" dirty="0"/>
              <a:t> </a:t>
            </a:r>
            <a:r>
              <a:rPr lang="ru-RU" sz="1200" b="1" dirty="0">
                <a:solidFill>
                  <a:schemeClr val="accent6">
                    <a:lumMod val="75000"/>
                  </a:schemeClr>
                </a:solidFill>
              </a:rPr>
              <a:t>Проект - это отдельный шаг по улучшению продукта</a:t>
            </a:r>
            <a:r>
              <a:rPr lang="ru-RU" sz="1200" dirty="0"/>
              <a:t>.</a:t>
            </a:r>
          </a:p>
          <a:p>
            <a:pPr marL="22799" indent="0">
              <a:buNone/>
            </a:pPr>
            <a:endParaRPr lang="ru-RU" sz="1200" dirty="0"/>
          </a:p>
          <a:p>
            <a:pPr marL="22799" indent="0">
              <a:buNone/>
            </a:pPr>
            <a:r>
              <a:rPr lang="ru-RU" sz="1200" dirty="0"/>
              <a:t>Проект Кулунда:</a:t>
            </a:r>
          </a:p>
          <a:p>
            <a:pPr marL="22799" indent="0">
              <a:buNone/>
            </a:pPr>
            <a:endParaRPr lang="ru-RU" sz="1200" dirty="0"/>
          </a:p>
          <a:p>
            <a:pPr marL="22799" indent="0">
              <a:buNone/>
            </a:pPr>
            <a:r>
              <a:rPr lang="ru-RU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Новожилов Сергей Юрьевич имел знакомства с командованием пограничного участка в Забайкальском крае, которые имели проблему в виде многокилометрового забора (не охраняемого ограждения, а именно забора), через который регулярно перелазили нарушители. Сергея Юрьевича попросили помочь, разработать какой-то защитный козырёк, от таких нарушителей. Но он предложил использовать столбы забора для передачи радиосигнала (?), таким образом, дав начало целому проекту. И теперь на том участке границы находится полноценное охраняемое заграждение. А комплекс Кулунда поставляется в ряд стран (Таджикистан, Азербайджан и пр.)</a:t>
            </a:r>
            <a:endParaRPr lang="ru-RU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0222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9904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0039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Рассказать про доски, А-записывается, Б – если интересуется жизнь компании, каждый может быть инициатором проекта, правила есть на </a:t>
            </a:r>
            <a:r>
              <a:rPr lang="ru-RU" dirty="0" err="1"/>
              <a:t>конфе</a:t>
            </a:r>
            <a:r>
              <a:rPr lang="ru-RU" dirty="0"/>
              <a:t>. У тестировщика есть проект на доске Б  - модернизирует лабораторию.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Segoe UI" panose="020B0502040204020203" pitchFamily="34" charset="0"/>
              </a:rPr>
              <a:t>Есть потоки: стратегия (в т.ч. Рефакторинг), тактика (здесь и сейчас), инфраструктурные (ХАЛ).</a:t>
            </a:r>
            <a:br>
              <a:rPr lang="ru-RU" sz="1800" dirty="0">
                <a:effectLst/>
                <a:latin typeface="Segoe UI" panose="020B0502040204020203" pitchFamily="34" charset="0"/>
              </a:rPr>
            </a:br>
            <a:r>
              <a:rPr lang="ru-RU" sz="1800" dirty="0">
                <a:effectLst/>
                <a:latin typeface="Segoe UI" panose="020B0502040204020203" pitchFamily="34" charset="0"/>
              </a:rPr>
              <a:t>Есть </a:t>
            </a:r>
            <a:r>
              <a:rPr lang="ru-RU" sz="1800" dirty="0" err="1">
                <a:effectLst/>
                <a:latin typeface="Segoe UI" panose="020B0502040204020203" pitchFamily="34" charset="0"/>
              </a:rPr>
              <a:t>срочняки</a:t>
            </a:r>
            <a:r>
              <a:rPr lang="ru-RU" sz="1800" dirty="0">
                <a:effectLst/>
                <a:latin typeface="Segoe UI" panose="020B0502040204020203" pitchFamily="34" charset="0"/>
              </a:rPr>
              <a:t> (они относятся к тактике, но у него приоритет, команда не может отказаться от </a:t>
            </a:r>
            <a:r>
              <a:rPr lang="ru-RU" sz="1800" dirty="0" err="1">
                <a:effectLst/>
                <a:latin typeface="Segoe UI" panose="020B0502040204020203" pitchFamily="34" charset="0"/>
              </a:rPr>
              <a:t>срочняка</a:t>
            </a:r>
            <a:r>
              <a:rPr lang="ru-RU" sz="1800" dirty="0">
                <a:effectLst/>
                <a:latin typeface="Segoe UI" panose="020B0502040204020203" pitchFamily="34" charset="0"/>
              </a:rPr>
              <a:t> и не взять его в работу).</a:t>
            </a:r>
            <a:br>
              <a:rPr lang="ru-RU" sz="1800" dirty="0">
                <a:effectLst/>
                <a:latin typeface="Segoe UI" panose="020B0502040204020203" pitchFamily="34" charset="0"/>
              </a:rPr>
            </a:br>
            <a:r>
              <a:rPr lang="ru-RU" sz="1800" dirty="0" err="1">
                <a:effectLst/>
                <a:latin typeface="Segoe UI" panose="020B0502040204020203" pitchFamily="34" charset="0"/>
              </a:rPr>
              <a:t>Орг.проекты</a:t>
            </a:r>
            <a:r>
              <a:rPr lang="ru-RU" sz="1800" dirty="0">
                <a:effectLst/>
                <a:latin typeface="Segoe UI" panose="020B0502040204020203" pitchFamily="34" charset="0"/>
              </a:rPr>
              <a:t> - </a:t>
            </a:r>
            <a:r>
              <a:rPr lang="ru-RU" sz="1800" dirty="0" err="1">
                <a:effectLst/>
                <a:latin typeface="Segoe UI" panose="020B0502040204020203" pitchFamily="34" charset="0"/>
              </a:rPr>
              <a:t>АиБ</a:t>
            </a:r>
            <a:r>
              <a:rPr lang="ru-RU" sz="1800" dirty="0">
                <a:effectLst/>
                <a:latin typeface="Segoe UI" panose="020B0502040204020203" pitchFamily="34" charset="0"/>
              </a:rPr>
              <a:t>.</a:t>
            </a:r>
            <a:endParaRPr lang="ru-RU" sz="1800" dirty="0">
              <a:effectLst/>
              <a:latin typeface="Arial" panose="020B0604020202020204" pitchFamily="34" charset="0"/>
            </a:endParaRPr>
          </a:p>
          <a:p>
            <a:endParaRPr lang="ru-RU" dirty="0"/>
          </a:p>
          <a:p>
            <a:r>
              <a:rPr lang="ru-RU" b="1" dirty="0" err="1"/>
              <a:t>Срочняки</a:t>
            </a:r>
            <a:endParaRPr lang="ru-RU" b="1" dirty="0"/>
          </a:p>
          <a:p>
            <a:endParaRPr lang="ru-RU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ru-RU" sz="1200" dirty="0"/>
              <a:t>Срочные проекты («</a:t>
            </a:r>
            <a:r>
              <a:rPr lang="ru-RU" sz="1200" dirty="0" err="1"/>
              <a:t>срочняки</a:t>
            </a:r>
            <a:r>
              <a:rPr lang="ru-RU" sz="1200" dirty="0"/>
              <a:t>») запускаются в работу команды </a:t>
            </a:r>
            <a:r>
              <a:rPr lang="ru-RU" sz="1200" b="1" dirty="0">
                <a:solidFill>
                  <a:schemeClr val="accent2">
                    <a:lumMod val="75000"/>
                  </a:schemeClr>
                </a:solidFill>
              </a:rPr>
              <a:t>по инициативе РО</a:t>
            </a:r>
            <a:r>
              <a:rPr lang="ru-RU" sz="1200" dirty="0"/>
              <a:t>.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1200" dirty="0" err="1"/>
              <a:t>DevTeam</a:t>
            </a:r>
            <a:r>
              <a:rPr lang="ru-RU" sz="1200" dirty="0"/>
              <a:t> берет в работу срочные проекты </a:t>
            </a:r>
            <a:r>
              <a:rPr lang="ru-RU" sz="1200" b="1" dirty="0">
                <a:solidFill>
                  <a:schemeClr val="accent2">
                    <a:lumMod val="75000"/>
                  </a:schemeClr>
                </a:solidFill>
              </a:rPr>
              <a:t>вне зависимости от своей текущей нагрузки </a:t>
            </a:r>
            <a:r>
              <a:rPr lang="ru-RU" sz="1200" dirty="0"/>
              <a:t>и начинает работу над ними немедленно, в любой день спринта.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ru-RU" sz="1200" dirty="0"/>
              <a:t>Перед запуском «</a:t>
            </a:r>
            <a:r>
              <a:rPr lang="ru-RU" sz="1200" dirty="0" err="1"/>
              <a:t>срочняка</a:t>
            </a:r>
            <a:r>
              <a:rPr lang="ru-RU" sz="1200" dirty="0"/>
              <a:t>» в работу </a:t>
            </a:r>
            <a:r>
              <a:rPr lang="en-US" sz="1200" dirty="0" err="1"/>
              <a:t>DevTeam</a:t>
            </a:r>
            <a:r>
              <a:rPr lang="en-US" sz="1200" dirty="0"/>
              <a:t> </a:t>
            </a:r>
            <a:r>
              <a:rPr lang="ru-RU" sz="1200" dirty="0"/>
              <a:t>проводят мини-планирование, и предупреждают РО, какие текущие проекты в работе команды будут остановлены или замедлятся из-за «</a:t>
            </a:r>
            <a:r>
              <a:rPr lang="ru-RU" sz="1200" dirty="0" err="1"/>
              <a:t>срочняка</a:t>
            </a:r>
            <a:r>
              <a:rPr lang="ru-RU" sz="1200" dirty="0"/>
              <a:t>». При необходимости РО вносит изменение в приоритеты проектов на доске команды или даже возвращает часть проектов в очередь.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200" b="1" dirty="0"/>
              <a:t>У </a:t>
            </a:r>
            <a:r>
              <a:rPr lang="ru-RU" sz="1200" b="1" dirty="0" err="1"/>
              <a:t>срочняка</a:t>
            </a:r>
            <a:r>
              <a:rPr lang="ru-RU" sz="1200" b="1" dirty="0"/>
              <a:t> нет потребности в ИТ, </a:t>
            </a:r>
            <a:r>
              <a:rPr lang="ru-RU" sz="1200" b="1" dirty="0" err="1"/>
              <a:t>срочняк</a:t>
            </a:r>
            <a:r>
              <a:rPr lang="ru-RU" sz="1200" b="1" dirty="0"/>
              <a:t> проходит без него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Рассказать про доски, А-записывается, Б – если интересуется жизнь компании, каждый может быть инициатором проекта, правила есть на </a:t>
            </a:r>
            <a:r>
              <a:rPr lang="ru-RU" dirty="0" err="1"/>
              <a:t>конфе</a:t>
            </a:r>
            <a:r>
              <a:rPr lang="ru-RU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830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ru-RU" sz="1200" dirty="0"/>
              <a:t>Иногда срочный проект не может быть выполнен за нужное время или с нужным качеством ни одной из текущих </a:t>
            </a:r>
            <a:r>
              <a:rPr lang="en-US" sz="1200" dirty="0" err="1"/>
              <a:t>Uniscrum</a:t>
            </a:r>
            <a:r>
              <a:rPr lang="ru-RU" sz="1200" dirty="0"/>
              <a:t> команд.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endParaRPr lang="ru-RU" sz="1200" dirty="0"/>
          </a:p>
          <a:p>
            <a:pPr marL="514350" indent="-514350">
              <a:lnSpc>
                <a:spcPct val="100000"/>
              </a:lnSpc>
              <a:buAutoNum type="arabicPeriod"/>
            </a:pPr>
            <a:endParaRPr lang="ru-RU" sz="1200" dirty="0"/>
          </a:p>
          <a:p>
            <a:pPr marL="514350" indent="-514350">
              <a:lnSpc>
                <a:spcPct val="100000"/>
              </a:lnSpc>
              <a:buAutoNum type="arabicPeriod"/>
            </a:pPr>
            <a:endParaRPr lang="ru-RU" sz="12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6614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ru-RU" sz="1200" dirty="0"/>
              <a:t>В таких случаях создается </a:t>
            </a:r>
            <a:r>
              <a:rPr lang="ru-RU" sz="1200" b="1" dirty="0">
                <a:solidFill>
                  <a:schemeClr val="accent2">
                    <a:lumMod val="75000"/>
                  </a:schemeClr>
                </a:solidFill>
              </a:rPr>
              <a:t>сборная команда </a:t>
            </a:r>
            <a:r>
              <a:rPr lang="ru-RU" sz="1200" dirty="0"/>
              <a:t>- временная команда/группа, которая создается из сотрудников постоянных команд специально для работы над одним «</a:t>
            </a:r>
            <a:r>
              <a:rPr lang="ru-RU" sz="1200" dirty="0" err="1"/>
              <a:t>срочняком</a:t>
            </a:r>
            <a:r>
              <a:rPr lang="ru-RU" sz="1200" dirty="0"/>
              <a:t>».</a:t>
            </a:r>
          </a:p>
          <a:p>
            <a:pPr marL="5143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1200" dirty="0" err="1"/>
              <a:t>Uniscrum</a:t>
            </a:r>
            <a:r>
              <a:rPr lang="en-US" sz="1200" dirty="0"/>
              <a:t> </a:t>
            </a:r>
            <a:r>
              <a:rPr lang="ru-RU" sz="1200" dirty="0"/>
              <a:t>команда </a:t>
            </a:r>
            <a:r>
              <a:rPr lang="ru-RU" sz="1200" b="1" dirty="0">
                <a:solidFill>
                  <a:schemeClr val="accent2">
                    <a:lumMod val="75000"/>
                  </a:schemeClr>
                </a:solidFill>
              </a:rPr>
              <a:t>не имеет права не отпустить своего сотрудника в сборную команду</a:t>
            </a:r>
            <a:r>
              <a:rPr lang="ru-RU" sz="1200" dirty="0"/>
              <a:t>, но может потребовать у своего РО скорректировать обязательства, взятые командой.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ru-RU" sz="1200" dirty="0"/>
              <a:t>Работой сборной команды управляет Менеджер. Обычно, это РО или Эксперт из числа Руководителей отделов/опытных разработчиков.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ru-RU" sz="1200" dirty="0"/>
              <a:t>Для экономии времени </a:t>
            </a:r>
            <a:r>
              <a:rPr lang="ru-RU" sz="1200" b="1" dirty="0">
                <a:solidFill>
                  <a:schemeClr val="accent2">
                    <a:lumMod val="75000"/>
                  </a:schemeClr>
                </a:solidFill>
              </a:rPr>
              <a:t>Менеджер действует как классический руководитель</a:t>
            </a:r>
            <a:r>
              <a:rPr lang="ru-RU" sz="1200" dirty="0"/>
              <a:t> - распределяет задачи, контролирует качество и сроки их выполнения. Отвечает за оповещение, встречи, доски, обсуждения. Организует взаимодействия с сервисами.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ru-RU" sz="1200" dirty="0"/>
              <a:t>В остальном сборная команда работает так же, как </a:t>
            </a:r>
            <a:r>
              <a:rPr lang="en-US" sz="1200" dirty="0" err="1"/>
              <a:t>Uniscrum</a:t>
            </a:r>
            <a:r>
              <a:rPr lang="ru-RU" sz="1200" dirty="0"/>
              <a:t> – команда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endParaRPr lang="ru-RU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Segoe UI" panose="020B0502040204020203" pitchFamily="34" charset="0"/>
              </a:rPr>
              <a:t>Пример: литьевые формы и 1272. </a:t>
            </a:r>
            <a:br>
              <a:rPr lang="ru-RU" sz="1800" dirty="0">
                <a:effectLst/>
                <a:latin typeface="Segoe UI" panose="020B0502040204020203" pitchFamily="34" charset="0"/>
              </a:rPr>
            </a:br>
            <a:r>
              <a:rPr lang="ru-RU" sz="1800" dirty="0">
                <a:effectLst/>
                <a:latin typeface="Segoe UI" panose="020B0502040204020203" pitchFamily="34" charset="0"/>
              </a:rPr>
              <a:t>Обязательно оговаривается время, которое будет тратить сотрудник на работу там</a:t>
            </a:r>
            <a:endParaRPr lang="ru-RU" sz="1800" dirty="0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0207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chemeClr val="bg1"/>
                </a:solidFill>
                <a:latin typeface="Calibri"/>
              </a:rPr>
              <a:t>Идея, проблема или запрос у заказчиков или сотрудников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>
              <a:solidFill>
                <a:schemeClr val="bg1"/>
              </a:solidFill>
              <a:latin typeface="Calibri"/>
            </a:endParaRPr>
          </a:p>
          <a:p>
            <a:pPr marL="479988">
              <a:spcBef>
                <a:spcPts val="800"/>
              </a:spcBef>
            </a:pPr>
            <a:r>
              <a:rPr lang="ru-RU" sz="1200" dirty="0">
                <a:solidFill>
                  <a:schemeClr val="bg1"/>
                </a:solidFill>
              </a:rPr>
              <a:t>У отдела Продаж появляется запрос от клиентов о новом продукте или доработке</a:t>
            </a:r>
          </a:p>
          <a:p>
            <a:pPr marL="479988">
              <a:spcBef>
                <a:spcPts val="800"/>
              </a:spcBef>
            </a:pPr>
            <a:r>
              <a:rPr lang="ru-RU" sz="1200" dirty="0">
                <a:solidFill>
                  <a:schemeClr val="bg1"/>
                </a:solidFill>
              </a:rPr>
              <a:t>Производство сталкивается с проблемой</a:t>
            </a:r>
          </a:p>
          <a:p>
            <a:pPr marL="479988">
              <a:spcBef>
                <a:spcPts val="800"/>
              </a:spcBef>
            </a:pPr>
            <a:r>
              <a:rPr lang="ru-RU" sz="1200" dirty="0">
                <a:solidFill>
                  <a:schemeClr val="bg1"/>
                </a:solidFill>
              </a:rPr>
              <a:t>Отдел Сервиса замечает что клиенты часто жалуются на один и тот же баг</a:t>
            </a:r>
          </a:p>
          <a:p>
            <a:pPr marL="479988">
              <a:spcBef>
                <a:spcPts val="800"/>
              </a:spcBef>
            </a:pPr>
            <a:r>
              <a:rPr lang="ru-RU" sz="1200" dirty="0">
                <a:solidFill>
                  <a:schemeClr val="bg1"/>
                </a:solidFill>
              </a:rPr>
              <a:t>Сотрудники </a:t>
            </a:r>
            <a:r>
              <a:rPr lang="en-US" sz="1200" dirty="0" err="1">
                <a:solidFill>
                  <a:schemeClr val="bg1"/>
                </a:solidFill>
              </a:rPr>
              <a:t>RnD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ru-RU" sz="1200" dirty="0">
                <a:solidFill>
                  <a:schemeClr val="bg1"/>
                </a:solidFill>
              </a:rPr>
              <a:t>предлагают как улучшить один из наших продуктов</a:t>
            </a:r>
          </a:p>
          <a:p>
            <a:pPr marL="479988">
              <a:spcBef>
                <a:spcPts val="800"/>
              </a:spcBef>
            </a:pPr>
            <a:r>
              <a:rPr lang="ru-RU" sz="1200" dirty="0">
                <a:solidFill>
                  <a:schemeClr val="bg1"/>
                </a:solidFill>
              </a:rPr>
              <a:t>Во всех этих случаях идея проекта добавляется на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ru-RU" sz="1200" dirty="0">
                <a:solidFill>
                  <a:schemeClr val="bg1"/>
                </a:solidFill>
              </a:rPr>
              <a:t>сайт </a:t>
            </a:r>
            <a:r>
              <a:rPr lang="en-US" sz="1200" dirty="0">
                <a:solidFill>
                  <a:schemeClr val="bg1"/>
                </a:solidFill>
              </a:rPr>
              <a:t>Feedback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200" b="1" dirty="0">
                <a:solidFill>
                  <a:schemeClr val="bg1"/>
                </a:solidFill>
              </a:rPr>
              <a:t>Feedback – </a:t>
            </a:r>
            <a:r>
              <a:rPr lang="ru-RU" sz="1200" b="1" dirty="0">
                <a:solidFill>
                  <a:schemeClr val="bg1"/>
                </a:solidFill>
              </a:rPr>
              <a:t>единое место для идей всех новых проектов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6307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9988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Владельцы доски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 </a:t>
            </a:r>
            <a:r>
              <a:rPr lang="ru-RU" sz="2400" b="1" dirty="0">
                <a:solidFill>
                  <a:prstClr val="black"/>
                </a:solidFill>
                <a:latin typeface="Calibri"/>
              </a:rPr>
              <a:t>добавили проект в очередь</a:t>
            </a:r>
          </a:p>
          <a:p>
            <a:pPr marL="479988">
              <a:spcBef>
                <a:spcPts val="1200"/>
              </a:spcBef>
            </a:pPr>
            <a:endParaRPr lang="ru-RU" sz="2133" dirty="0"/>
          </a:p>
          <a:p>
            <a:pPr marL="479988">
              <a:spcBef>
                <a:spcPts val="1200"/>
              </a:spcBef>
            </a:pPr>
            <a:endParaRPr lang="ru-RU" sz="2133" dirty="0"/>
          </a:p>
          <a:p>
            <a:pPr marL="479988">
              <a:spcBef>
                <a:spcPts val="1200"/>
              </a:spcBef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Владельцы доски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 </a:t>
            </a:r>
            <a:r>
              <a:rPr lang="ru-RU" sz="2133" dirty="0"/>
              <a:t>прорабатывают идею с </a:t>
            </a:r>
            <a:r>
              <a:rPr lang="en-US" sz="2133" dirty="0"/>
              <a:t>Feedback </a:t>
            </a:r>
            <a:r>
              <a:rPr lang="ru-RU" sz="2133" dirty="0"/>
              <a:t>и решают, создавать проект или нет</a:t>
            </a:r>
          </a:p>
          <a:p>
            <a:pPr marL="479988">
              <a:spcBef>
                <a:spcPts val="1200"/>
              </a:spcBef>
            </a:pPr>
            <a:r>
              <a:rPr lang="ru-RU" sz="2133" dirty="0"/>
              <a:t>Если да, то они добавляют проект в ПО </a:t>
            </a:r>
            <a:r>
              <a:rPr lang="en-US" sz="2133" dirty="0" err="1"/>
              <a:t>Uniscrum</a:t>
            </a:r>
            <a:endParaRPr lang="ru-RU" sz="2133" dirty="0"/>
          </a:p>
          <a:p>
            <a:pPr marL="479988">
              <a:spcBef>
                <a:spcPts val="1200"/>
              </a:spcBef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Владельцы доски</a:t>
            </a:r>
            <a:r>
              <a:rPr lang="ru-RU" sz="2133" dirty="0"/>
              <a:t> ставят проекту приоритет. </a:t>
            </a:r>
            <a:br>
              <a:rPr lang="ru-RU" sz="2133" dirty="0"/>
            </a:br>
            <a:r>
              <a:rPr lang="ru-RU" sz="2133" dirty="0"/>
              <a:t>Грубо: </a:t>
            </a:r>
            <a:r>
              <a:rPr lang="ru-RU" sz="2133" b="1" dirty="0"/>
              <a:t>Приоритет = Польза/Усилия</a:t>
            </a:r>
            <a:endParaRPr lang="ru-RU" sz="2133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894750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9988">
              <a:spcBef>
                <a:spcPts val="800"/>
              </a:spcBef>
            </a:pPr>
            <a:r>
              <a:rPr lang="ru-RU" sz="1200" dirty="0"/>
              <a:t>Когда у команды появляются свободные ресурсы, она может взять в работу очередной проект из очереди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Выбирается проект с макс. приоритетом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Свободные ресурсы команды должны соответствовать требованиям проекта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Проект помещается на доску команды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При переходе проекта между всеми этапами  заполняются чек-листы (в красной так, в ВИП и ГИС – сам РО)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Статус Проекта в ПО </a:t>
            </a:r>
            <a:r>
              <a:rPr lang="en-US" sz="1200" dirty="0" err="1"/>
              <a:t>Uniscrum</a:t>
            </a:r>
            <a:r>
              <a:rPr lang="en-US" sz="1200" dirty="0"/>
              <a:t> </a:t>
            </a:r>
            <a:r>
              <a:rPr lang="ru-RU" sz="1200" dirty="0"/>
              <a:t>меняется на «В Работе», менеджером назначается </a:t>
            </a:r>
            <a:r>
              <a:rPr lang="en-US" sz="1200" dirty="0"/>
              <a:t>TD</a:t>
            </a:r>
            <a:endParaRPr lang="ru-RU" sz="12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9566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8CB6-EB13-3B45-0AF8-EE3FD3DB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465F964-B7C4-C49C-1118-F8895CD7F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69901E2-47EA-AD77-90E0-6B955AB0C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9988">
              <a:spcBef>
                <a:spcPts val="1200"/>
              </a:spcBef>
            </a:pPr>
            <a:r>
              <a:rPr lang="ru-RU" sz="1200" dirty="0"/>
              <a:t>Исходные Требования (ИТ) готовит команда вместе с </a:t>
            </a:r>
            <a:r>
              <a:rPr lang="en-US" sz="1200" dirty="0"/>
              <a:t>PO</a:t>
            </a:r>
            <a:r>
              <a:rPr lang="ru-RU" sz="1200" dirty="0"/>
              <a:t>.</a:t>
            </a:r>
          </a:p>
          <a:p>
            <a:pPr marL="479988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ИТ, как правило, не описывают технические детали реализации проекта. ИТ это не ТЗ (техническое задание)</a:t>
            </a:r>
          </a:p>
          <a:p>
            <a:pPr lvl="1"/>
            <a:r>
              <a:rPr lang="ru-RU" sz="2133" dirty="0"/>
              <a:t>*Текущая ситуация с продуктом (как сейчас?)</a:t>
            </a:r>
          </a:p>
          <a:p>
            <a:pPr lvl="1"/>
            <a:r>
              <a:rPr lang="ru-RU" sz="2133" dirty="0"/>
              <a:t>*Что станет результатом проекта (как будет?)</a:t>
            </a:r>
          </a:p>
          <a:p>
            <a:pPr lvl="1"/>
            <a:r>
              <a:rPr lang="ru-RU" sz="2133" dirty="0"/>
              <a:t>*Кто стейкхолдеры? Что им важно?</a:t>
            </a:r>
          </a:p>
          <a:p>
            <a:pPr lvl="1"/>
            <a:r>
              <a:rPr lang="ru-RU" sz="2133" dirty="0"/>
              <a:t>Ограничения по срокам, бюджетам (если они есть)</a:t>
            </a:r>
          </a:p>
          <a:p>
            <a:pPr marL="479988">
              <a:spcBef>
                <a:spcPts val="1200"/>
              </a:spcBef>
            </a:pPr>
            <a:endParaRPr lang="ru-RU" sz="1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CF66B7-CAC3-0D4D-F976-6D0264DE5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58481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2">
                    <a:lumMod val="75000"/>
                  </a:schemeClr>
                </a:solidFill>
              </a:rPr>
              <a:t>1 этап:</a:t>
            </a:r>
            <a:endParaRPr lang="ru-RU" sz="1200" b="1" dirty="0"/>
          </a:p>
          <a:p>
            <a:pPr>
              <a:lnSpc>
                <a:spcPct val="100000"/>
              </a:lnSpc>
            </a:pPr>
            <a:r>
              <a:rPr lang="ru-RU" sz="1200" dirty="0"/>
              <a:t>РО предлагает </a:t>
            </a:r>
            <a:r>
              <a:rPr lang="en-US" sz="1200" dirty="0" err="1"/>
              <a:t>DevTeam</a:t>
            </a:r>
            <a:r>
              <a:rPr lang="ru-RU" sz="1200" dirty="0"/>
              <a:t> для обсуждения пул приоритетных проектов. Количество требований для обсуждения должно быть больше, чем команда может взять в 1 спринт. </a:t>
            </a:r>
          </a:p>
          <a:p>
            <a:pPr>
              <a:lnSpc>
                <a:spcPct val="100000"/>
              </a:lnSpc>
            </a:pPr>
            <a:r>
              <a:rPr lang="ru-RU" sz="1200" dirty="0"/>
              <a:t>Команда отделяет проекты, где требования понятные для </a:t>
            </a:r>
            <a:r>
              <a:rPr lang="en-US" sz="1200" dirty="0" err="1"/>
              <a:t>DevTeam</a:t>
            </a:r>
            <a:r>
              <a:rPr lang="en-US" sz="1200" dirty="0"/>
              <a:t> </a:t>
            </a:r>
            <a:r>
              <a:rPr lang="ru-RU" sz="1200" dirty="0"/>
              <a:t>и достаточные для начала работы, от тех, где требуются уточнения у Заказчиков.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После 1 этапа РО уточняет требования у Заказчиков (при необходимости)</a:t>
            </a:r>
          </a:p>
          <a:p>
            <a:pPr>
              <a:lnSpc>
                <a:spcPct val="100000"/>
              </a:lnSpc>
            </a:pPr>
            <a:endParaRPr lang="ru-RU" sz="1200" dirty="0"/>
          </a:p>
          <a:p>
            <a:pPr>
              <a:lnSpc>
                <a:spcPct val="100000"/>
              </a:lnSpc>
            </a:pPr>
            <a:r>
              <a:rPr lang="ru-RU" sz="1200" b="1" dirty="0"/>
              <a:t>2 этап:</a:t>
            </a:r>
          </a:p>
          <a:p>
            <a:pPr>
              <a:lnSpc>
                <a:spcPct val="100000"/>
              </a:lnSpc>
            </a:pPr>
            <a:r>
              <a:rPr lang="ru-RU" sz="1200" dirty="0"/>
              <a:t>Команда обсуждает проекты с уточненными требованиями.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47133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9988">
              <a:spcBef>
                <a:spcPts val="800"/>
              </a:spcBef>
            </a:pPr>
            <a:r>
              <a:rPr lang="ru-RU" sz="1200" dirty="0"/>
              <a:t>Команда работает над проектом (проектов может быть несколько одновременно)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Работа команды разбита на спринты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Команда может ставить задачи сервисным отделам в рамках проекта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Если необходимо, команда может консультироваться с другими командами, Рук. отделов, </a:t>
            </a:r>
            <a:r>
              <a:rPr lang="ru-RU" sz="1200" dirty="0" err="1"/>
              <a:t>Продактами</a:t>
            </a:r>
            <a:r>
              <a:rPr lang="ru-RU" sz="1200" dirty="0"/>
              <a:t> и другими сотрудниками</a:t>
            </a:r>
          </a:p>
          <a:p>
            <a:pPr marL="479988">
              <a:spcBef>
                <a:spcPts val="800"/>
              </a:spcBef>
            </a:pPr>
            <a:r>
              <a:rPr lang="ru-RU" sz="1200" dirty="0"/>
              <a:t>Подробнее про схему работы внутри команд -  в третьей части семинара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90305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9988">
              <a:spcBef>
                <a:spcPts val="800"/>
              </a:spcBef>
            </a:pPr>
            <a:r>
              <a:rPr lang="ru-RU" sz="1800" dirty="0">
                <a:effectLst/>
                <a:latin typeface="Segoe UI" panose="020B0502040204020203" pitchFamily="34" charset="0"/>
              </a:rPr>
              <a:t>Вопросы от внедрения, приглашение на авторский надзор при опытной и установочной партии. Синхроны.</a:t>
            </a:r>
            <a:endParaRPr lang="ru-RU" dirty="0"/>
          </a:p>
          <a:p>
            <a:endParaRPr lang="ru-RU" dirty="0"/>
          </a:p>
          <a:p>
            <a:r>
              <a:rPr lang="ru-RU" dirty="0"/>
              <a:t>Можно обращаться к внедрению на любом этапе, с вопросом, удобно ли им собирать? Когда устройство уже собрано на 80%</a:t>
            </a:r>
          </a:p>
          <a:p>
            <a:r>
              <a:rPr lang="ru-RU" dirty="0"/>
              <a:t>На установочной партии отдел внедрения обучает производство собирать.</a:t>
            </a:r>
            <a:endParaRPr lang="en-US" dirty="0"/>
          </a:p>
          <a:p>
            <a:endParaRPr lang="en-US" dirty="0"/>
          </a:p>
          <a:p>
            <a:r>
              <a:rPr lang="ru-RU" sz="1800" dirty="0">
                <a:effectLst/>
                <a:latin typeface="Segoe UI" panose="020B0502040204020203" pitchFamily="34" charset="0"/>
              </a:rPr>
              <a:t>Когда завершается, приходит письмо от внедрения, заполнение чек-листов, пост на блог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240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docs-Calibri"/>
              </a:rPr>
              <a:t>DOD - </a:t>
            </a:r>
            <a:r>
              <a:rPr lang="ru-RU" b="0" i="0" dirty="0">
                <a:solidFill>
                  <a:srgbClr val="000000"/>
                </a:solidFill>
                <a:effectLst/>
                <a:latin typeface="docs-Calibri"/>
              </a:rPr>
              <a:t>Это писок требований, которым должна соответствовать любая пользовательская история, которую команда будет считать завершенной.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docs-Calibri"/>
              </a:rPr>
              <a:t>DoD</a:t>
            </a:r>
            <a:r>
              <a:rPr lang="ru-RU" b="0" i="0" dirty="0">
                <a:solidFill>
                  <a:srgbClr val="000000"/>
                </a:solidFill>
                <a:effectLst/>
                <a:latin typeface="docs-Calibri"/>
              </a:rPr>
              <a:t> вырабатываются командой самостоятельно.</a:t>
            </a:r>
            <a:endParaRPr lang="en-US" b="0" i="0" dirty="0">
              <a:solidFill>
                <a:srgbClr val="000000"/>
              </a:solidFill>
              <a:effectLst/>
              <a:latin typeface="docs-Calibri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docs-Calibri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Нужны для проверки готовности фич в проекте.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Их определяет Команда.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Проверяем готов ли элемент перейти на следующую стадию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Общие для всех элементов </a:t>
            </a: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бэклога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спринта.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docs-Calibri"/>
              </a:rPr>
              <a:t>Например: тестировщик проверил и подтвердил, что всё работает. Или КД в статусе «готово к серии».</a:t>
            </a:r>
            <a:endParaRPr lang="en-US" b="0" i="0" dirty="0">
              <a:solidFill>
                <a:srgbClr val="000000"/>
              </a:solidFill>
              <a:effectLst/>
              <a:latin typeface="docs-Calibri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docs-Calibri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docs-Calibri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docs-Calibri"/>
              </a:rPr>
              <a:t>DOR - </a:t>
            </a:r>
            <a:r>
              <a:rPr lang="ru-RU" b="0" i="0" dirty="0">
                <a:solidFill>
                  <a:srgbClr val="000000"/>
                </a:solidFill>
                <a:effectLst/>
                <a:latin typeface="docs-Calibri"/>
              </a:rPr>
              <a:t>Это условия для User Story при соблюдении которых её можно брать в работу (в спринт). Не следует путать это понятие с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docs-Calibri"/>
              </a:rPr>
              <a:t>DoD</a:t>
            </a:r>
            <a:r>
              <a:rPr lang="ru-RU" b="0" i="0" dirty="0">
                <a:solidFill>
                  <a:srgbClr val="000000"/>
                </a:solidFill>
                <a:effectLst/>
                <a:latin typeface="docs-Calibri"/>
              </a:rPr>
              <a:t>, так как это включает в себя критерии завершенности задачи, 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docs-Calibri"/>
              </a:rPr>
              <a:t>DoR</a:t>
            </a:r>
            <a:r>
              <a:rPr lang="ru-RU" b="0" i="0" dirty="0">
                <a:solidFill>
                  <a:srgbClr val="000000"/>
                </a:solidFill>
                <a:effectLst/>
                <a:latin typeface="docs-Calibri"/>
              </a:rPr>
              <a:t> — критерии готовности задачи к взятию в работу.</a:t>
            </a:r>
            <a:endParaRPr lang="en-US" b="0" i="0" dirty="0">
              <a:solidFill>
                <a:srgbClr val="000000"/>
              </a:solidFill>
              <a:effectLst/>
              <a:latin typeface="docs-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Например: прописан срок внедрения проекта. Или обязательная оценка истории, без которой в работу она не берётся или описанные риски.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638524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Segoe UI" panose="020B0502040204020203" pitchFamily="34" charset="0"/>
              </a:rPr>
              <a:t>Груминг может быть про очередь спринта или про истории, которые скоро будут. В </a:t>
            </a:r>
            <a:r>
              <a:rPr lang="ru-RU" sz="1800" dirty="0" err="1">
                <a:effectLst/>
                <a:latin typeface="Segoe UI" panose="020B0502040204020203" pitchFamily="34" charset="0"/>
              </a:rPr>
              <a:t>ГИСе</a:t>
            </a:r>
            <a:r>
              <a:rPr lang="ru-RU" sz="1800" dirty="0">
                <a:effectLst/>
                <a:latin typeface="Segoe UI" panose="020B0502040204020203" pitchFamily="34" charset="0"/>
              </a:rPr>
              <a:t> - это груминг историй для будущих релизов (когда завершается один релиз, </a:t>
            </a:r>
            <a:r>
              <a:rPr lang="ru-RU" sz="1800" dirty="0" err="1">
                <a:effectLst/>
                <a:latin typeface="Segoe UI" panose="020B0502040204020203" pitchFamily="34" charset="0"/>
              </a:rPr>
              <a:t>грумят</a:t>
            </a:r>
            <a:r>
              <a:rPr lang="ru-RU" sz="1800" dirty="0">
                <a:effectLst/>
                <a:latin typeface="Segoe UI" panose="020B0502040204020203" pitchFamily="34" charset="0"/>
              </a:rPr>
              <a:t> истории следующих). В момент груминга может быть оценка.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04778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200" b="1" dirty="0">
                <a:solidFill>
                  <a:schemeClr val="accent2">
                    <a:lumMod val="75000"/>
                  </a:schemeClr>
                </a:solidFill>
              </a:rPr>
              <a:t>Цель: Составление плана работ команды в спринте.</a:t>
            </a:r>
          </a:p>
          <a:p>
            <a:pPr marL="0" indent="0">
              <a:buNone/>
            </a:pPr>
            <a:r>
              <a:rPr lang="ru-RU" sz="1200" b="1" dirty="0"/>
              <a:t>Участники: </a:t>
            </a:r>
            <a:r>
              <a:rPr lang="en-US" sz="1200" dirty="0"/>
              <a:t>PO</a:t>
            </a:r>
            <a:r>
              <a:rPr lang="ru-RU" sz="1200" dirty="0"/>
              <a:t>, </a:t>
            </a:r>
            <a:r>
              <a:rPr lang="en-US" sz="1200" dirty="0" err="1"/>
              <a:t>DevTeam</a:t>
            </a:r>
            <a:r>
              <a:rPr lang="ru-RU" sz="1200" dirty="0"/>
              <a:t>, </a:t>
            </a:r>
            <a:r>
              <a:rPr lang="en-US" sz="1200" dirty="0"/>
              <a:t>TD</a:t>
            </a:r>
            <a:r>
              <a:rPr lang="ru-RU" sz="1200" dirty="0"/>
              <a:t>; могут быть приглашены Сервисы.</a:t>
            </a:r>
          </a:p>
          <a:p>
            <a:pPr marL="0" indent="0">
              <a:buNone/>
            </a:pPr>
            <a:r>
              <a:rPr lang="ru-RU" sz="1200" b="1" dirty="0"/>
              <a:t>Время:</a:t>
            </a:r>
            <a:r>
              <a:rPr lang="ru-RU" sz="1200" dirty="0"/>
              <a:t> первый день спринта, до 4 часов.   </a:t>
            </a:r>
          </a:p>
          <a:p>
            <a:pPr marL="0" indent="0" algn="ctr">
              <a:buNone/>
            </a:pPr>
            <a:r>
              <a:rPr lang="ru-RU" sz="1200" b="1" dirty="0"/>
              <a:t>Кто что делает:</a:t>
            </a:r>
          </a:p>
          <a:p>
            <a:r>
              <a:rPr lang="en-US" sz="1200" dirty="0"/>
              <a:t>PO</a:t>
            </a:r>
            <a:r>
              <a:rPr lang="ru-RU" sz="1200" dirty="0"/>
              <a:t> определяет цель спринта, проясняет требования, расставляет приоритеты.</a:t>
            </a:r>
            <a:endParaRPr lang="en-US" sz="1200" dirty="0"/>
          </a:p>
          <a:p>
            <a:r>
              <a:rPr lang="en-US" sz="1200" dirty="0" err="1"/>
              <a:t>DevTeam</a:t>
            </a:r>
            <a:r>
              <a:rPr lang="ru-RU" sz="1200" dirty="0"/>
              <a:t> определяют объем работы и требуемые ресурсы, делят работу на задачи и распределяют ее между собой.</a:t>
            </a:r>
            <a:endParaRPr lang="en-US" sz="1200" dirty="0"/>
          </a:p>
          <a:p>
            <a:r>
              <a:rPr lang="en-US" sz="1200" dirty="0"/>
              <a:t>TD</a:t>
            </a:r>
            <a:r>
              <a:rPr lang="ru-RU" sz="1200" dirty="0"/>
              <a:t> </a:t>
            </a:r>
            <a:r>
              <a:rPr lang="ru-RU" sz="1200" dirty="0" err="1"/>
              <a:t>фасилитирует</a:t>
            </a:r>
            <a:r>
              <a:rPr lang="ru-RU" sz="1200" dirty="0"/>
              <a:t>.                                                  </a:t>
            </a:r>
            <a:r>
              <a:rPr lang="ru-RU" sz="1200" b="1" dirty="0"/>
              <a:t>Результат: </a:t>
            </a:r>
            <a:endParaRPr lang="ru-RU" sz="1200" dirty="0"/>
          </a:p>
          <a:p>
            <a:pPr marL="342900" indent="-342900">
              <a:buAutoNum type="arabicPeriod"/>
            </a:pPr>
            <a:r>
              <a:rPr lang="ru-RU" sz="1200" dirty="0"/>
              <a:t>Есть цель спринта. Команде понятно, что она будет демонстрировать на Обзоре спринта.</a:t>
            </a:r>
          </a:p>
          <a:p>
            <a:pPr marL="342900" indent="-342900">
              <a:buAutoNum type="arabicPeriod"/>
            </a:pPr>
            <a:r>
              <a:rPr lang="ru-RU" sz="1200" dirty="0"/>
              <a:t>В спринт взяты самые приоритетные требования (проекты/</a:t>
            </a:r>
            <a:r>
              <a:rPr lang="en-US" sz="1200" dirty="0"/>
              <a:t>user story)</a:t>
            </a:r>
            <a:r>
              <a:rPr lang="ru-RU" sz="1200" dirty="0"/>
              <a:t>. </a:t>
            </a:r>
          </a:p>
          <a:p>
            <a:pPr marL="342900" indent="-342900">
              <a:buAutoNum type="arabicPeriod"/>
            </a:pPr>
            <a:r>
              <a:rPr lang="ru-RU" sz="1200" dirty="0"/>
              <a:t>В спринт взято столько работы, сколько посильно для</a:t>
            </a:r>
            <a:r>
              <a:rPr lang="en-US" sz="1200" dirty="0"/>
              <a:t> </a:t>
            </a:r>
            <a:r>
              <a:rPr lang="en-US" sz="1200" dirty="0" err="1"/>
              <a:t>DevTeam</a:t>
            </a:r>
            <a:r>
              <a:rPr lang="ru-RU" sz="1200" dirty="0"/>
              <a:t>. </a:t>
            </a:r>
            <a:endParaRPr lang="en-US" sz="1200" dirty="0"/>
          </a:p>
          <a:p>
            <a:pPr marL="342900" indent="-342900">
              <a:buAutoNum type="arabicPeriod"/>
            </a:pPr>
            <a:r>
              <a:rPr lang="ru-RU" sz="1200" dirty="0"/>
              <a:t>Требования декомпозированы на задачи и размещены в доступном для команды месте. </a:t>
            </a:r>
          </a:p>
          <a:p>
            <a:pPr marL="342900" indent="-342900">
              <a:buAutoNum type="arabicPeriod"/>
            </a:pPr>
            <a:r>
              <a:rPr lang="ru-RU" sz="1200" dirty="0"/>
              <a:t>Нагрузка равномерно распределена между членами </a:t>
            </a:r>
            <a:r>
              <a:rPr lang="en-US" sz="1200" dirty="0" err="1"/>
              <a:t>DevTeam</a:t>
            </a:r>
            <a:r>
              <a:rPr lang="ru-RU" sz="1200" dirty="0"/>
              <a:t>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ru-RU" sz="1200" dirty="0"/>
              <a:t>Команде понятно, какие ресурсы потребуются в спринте, и как их получить.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1858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200" b="1" dirty="0">
                <a:solidFill>
                  <a:schemeClr val="accent2">
                    <a:lumMod val="75000"/>
                  </a:schemeClr>
                </a:solidFill>
              </a:rPr>
              <a:t>Цель: Мониторинг выполнения плана работ в спринте, составление планов команды на день.</a:t>
            </a:r>
          </a:p>
          <a:p>
            <a:pPr marL="0" indent="0">
              <a:buNone/>
            </a:pPr>
            <a:r>
              <a:rPr lang="ru-RU" sz="1200" b="1" dirty="0"/>
              <a:t>Участники: </a:t>
            </a:r>
            <a:r>
              <a:rPr lang="en-US" sz="1200" dirty="0" err="1"/>
              <a:t>DevTeam</a:t>
            </a:r>
            <a:r>
              <a:rPr lang="ru-RU" sz="1200" dirty="0"/>
              <a:t>; могут быть приглашены Сервисы, РО и </a:t>
            </a:r>
            <a:r>
              <a:rPr lang="en-US" sz="1200" dirty="0"/>
              <a:t>TD </a:t>
            </a:r>
            <a:r>
              <a:rPr lang="ru-RU" sz="1200" dirty="0"/>
              <a:t>могут участвовать, если есть необходимость.</a:t>
            </a:r>
          </a:p>
          <a:p>
            <a:pPr marL="0" indent="0">
              <a:buNone/>
            </a:pPr>
            <a:r>
              <a:rPr lang="ru-RU" sz="1200" b="1" dirty="0"/>
              <a:t>Время:</a:t>
            </a:r>
            <a:r>
              <a:rPr lang="ru-RU" sz="1200" dirty="0"/>
              <a:t> каждый день спринта, до 15 минут.</a:t>
            </a:r>
          </a:p>
          <a:p>
            <a:pPr marL="0" indent="0" algn="ctr">
              <a:buNone/>
            </a:pPr>
            <a:r>
              <a:rPr lang="ru-RU" sz="1200" b="1" dirty="0"/>
              <a:t>Кто что делает:</a:t>
            </a:r>
          </a:p>
          <a:p>
            <a:r>
              <a:rPr lang="ru-RU" sz="1200" dirty="0" err="1"/>
              <a:t>DevTeam</a:t>
            </a:r>
            <a:r>
              <a:rPr lang="ru-RU" sz="1200" dirty="0"/>
              <a:t> обновляют статусы работ, обмениваются новой информацией, запрашивают помощь друг у друга, составляют план работ на день, при необходимости корректируют план работ в спринте.</a:t>
            </a:r>
          </a:p>
          <a:p>
            <a:r>
              <a:rPr lang="ru-RU" sz="1200" dirty="0"/>
              <a:t>TD обучает </a:t>
            </a:r>
            <a:r>
              <a:rPr lang="ru-RU" sz="1200" dirty="0" err="1"/>
              <a:t>DevTeam</a:t>
            </a:r>
            <a:r>
              <a:rPr lang="ru-RU" sz="1200" dirty="0"/>
              <a:t> проводить встречу быстро, если нужно, </a:t>
            </a:r>
            <a:r>
              <a:rPr lang="ru-RU" sz="1200" dirty="0" err="1"/>
              <a:t>фасилитирует</a:t>
            </a:r>
            <a:r>
              <a:rPr lang="ru-RU" sz="1200" dirty="0"/>
              <a:t>.</a:t>
            </a:r>
          </a:p>
          <a:p>
            <a:r>
              <a:rPr lang="ru-RU" sz="1200" dirty="0"/>
              <a:t>РО при необходимости получает и выдает новую информацию.</a:t>
            </a:r>
          </a:p>
          <a:p>
            <a:pPr marL="0" indent="0" algn="ctr">
              <a:buNone/>
            </a:pPr>
            <a:r>
              <a:rPr lang="ru-RU" sz="1200" b="1" dirty="0"/>
              <a:t>Результат: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200" dirty="0"/>
              <a:t>Команда знает, насколько продвинулись запланированные в спринте работы.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200" dirty="0"/>
              <a:t>Команда договорилась о плане работ на день.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200" dirty="0"/>
              <a:t>При необходимости команда скорректировала план работ в спринте.</a:t>
            </a:r>
          </a:p>
          <a:p>
            <a:pPr marL="0" indent="0">
              <a:buNone/>
            </a:pPr>
            <a:endParaRPr lang="ru-RU" sz="12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21904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200" b="1" dirty="0">
                <a:solidFill>
                  <a:schemeClr val="accent2">
                    <a:lumMod val="75000"/>
                  </a:schemeClr>
                </a:solidFill>
              </a:rPr>
              <a:t>Цель: Демонстрация результатов работы команды в спринте. Получение обратной связи. </a:t>
            </a:r>
          </a:p>
          <a:p>
            <a:pPr marL="0" indent="0">
              <a:buNone/>
            </a:pPr>
            <a:r>
              <a:rPr lang="ru-RU" sz="1200" b="1" dirty="0"/>
              <a:t>Участники: </a:t>
            </a:r>
            <a:r>
              <a:rPr lang="ru-RU" sz="1200" dirty="0"/>
              <a:t>PO, </a:t>
            </a:r>
            <a:r>
              <a:rPr lang="ru-RU" sz="1200" dirty="0" err="1"/>
              <a:t>DevTeam</a:t>
            </a:r>
            <a:r>
              <a:rPr lang="ru-RU" sz="1200" dirty="0"/>
              <a:t>, TD, Заинтересованные лица, Заказчики; могут быть приглашены Сервисы.</a:t>
            </a:r>
          </a:p>
          <a:p>
            <a:pPr marL="0" indent="0">
              <a:buNone/>
            </a:pPr>
            <a:r>
              <a:rPr lang="ru-RU" sz="1200" b="1" dirty="0"/>
              <a:t>Время: </a:t>
            </a:r>
            <a:r>
              <a:rPr lang="ru-RU" sz="1200" dirty="0"/>
              <a:t>последний день спринта, 30-40 минут.</a:t>
            </a:r>
            <a:endParaRPr lang="ru-RU" sz="1200" b="1" dirty="0"/>
          </a:p>
          <a:p>
            <a:pPr marL="0" indent="0" algn="ctr">
              <a:buNone/>
            </a:pPr>
            <a:r>
              <a:rPr lang="ru-RU" sz="1200" b="1" dirty="0"/>
              <a:t>Кто что делает:</a:t>
            </a:r>
          </a:p>
          <a:p>
            <a:r>
              <a:rPr lang="ru-RU" sz="1200" dirty="0"/>
              <a:t>РО рассказывает о результатах команды за прошедший спринт и фиксирует обратную связь.</a:t>
            </a:r>
          </a:p>
          <a:p>
            <a:r>
              <a:rPr lang="ru-RU" sz="1200" dirty="0" err="1"/>
              <a:t>DevTeam</a:t>
            </a:r>
            <a:r>
              <a:rPr lang="ru-RU" sz="1200" dirty="0"/>
              <a:t> демонстрирует результаты, если это возможно.</a:t>
            </a:r>
          </a:p>
          <a:p>
            <a:r>
              <a:rPr lang="ru-RU" sz="1200" dirty="0"/>
              <a:t>Team Driver </a:t>
            </a:r>
            <a:r>
              <a:rPr lang="ru-RU" sz="1200" dirty="0" err="1"/>
              <a:t>фасилитирует</a:t>
            </a:r>
            <a:r>
              <a:rPr lang="ru-RU" sz="1200" dirty="0"/>
              <a:t>.</a:t>
            </a:r>
          </a:p>
          <a:p>
            <a:pPr marL="0" indent="0" algn="ctr">
              <a:buNone/>
            </a:pPr>
            <a:r>
              <a:rPr lang="ru-RU" sz="1200" b="1" dirty="0"/>
              <a:t>Результат: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200" dirty="0"/>
              <a:t>Результаты работы команды известны Заинтересованным лицам и Заказчикам.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200" dirty="0"/>
              <a:t>Команда получила обратную связь, которую учтет для</a:t>
            </a:r>
            <a:r>
              <a:rPr lang="ru-RU" sz="1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sz="1200" dirty="0"/>
              <a:t>планирования дальнейшей разработки.</a:t>
            </a:r>
          </a:p>
          <a:p>
            <a:pPr marL="0" indent="0">
              <a:buNone/>
            </a:pPr>
            <a:endParaRPr lang="ru-RU" sz="1200" dirty="0"/>
          </a:p>
          <a:p>
            <a:endParaRPr lang="ru-RU" sz="12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0469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200" b="1" dirty="0"/>
              <a:t>Участники: </a:t>
            </a:r>
            <a:r>
              <a:rPr lang="ru-RU" sz="1200" dirty="0"/>
              <a:t>PO, </a:t>
            </a:r>
            <a:r>
              <a:rPr lang="ru-RU" sz="1200" dirty="0" err="1"/>
              <a:t>DevTeam</a:t>
            </a:r>
            <a:r>
              <a:rPr lang="ru-RU" sz="1200" dirty="0"/>
              <a:t>, TD; по договоренности внутри команды могут быть приглашены Сервисы, Заинтересованные лица.</a:t>
            </a:r>
          </a:p>
          <a:p>
            <a:pPr marL="0" indent="0">
              <a:buNone/>
            </a:pPr>
            <a:r>
              <a:rPr lang="ru-RU" sz="1200" b="1" dirty="0"/>
              <a:t>Время: </a:t>
            </a:r>
            <a:r>
              <a:rPr lang="ru-RU" sz="1200" dirty="0"/>
              <a:t>последний день спринта, обычно 2 часа. </a:t>
            </a:r>
          </a:p>
          <a:p>
            <a:pPr marL="0" indent="0" algn="ctr">
              <a:buNone/>
            </a:pPr>
            <a:r>
              <a:rPr lang="ru-RU" sz="1200" dirty="0"/>
              <a:t> </a:t>
            </a:r>
            <a:r>
              <a:rPr lang="ru-RU" sz="1200" b="1" dirty="0"/>
              <a:t>Кто что делает:</a:t>
            </a:r>
          </a:p>
          <a:p>
            <a:r>
              <a:rPr lang="ru-RU" sz="1200" dirty="0"/>
              <a:t>PO передает команде обратную связь об удовлетворенности Заказчиков; участвует, как участник.</a:t>
            </a:r>
          </a:p>
          <a:p>
            <a:r>
              <a:rPr lang="ru-RU" sz="1200" dirty="0"/>
              <a:t>TD передает команде обратную связь, полученную от других команд, Сервисов, Заинтересованных лиц, Владельца фреймворка; </a:t>
            </a:r>
            <a:r>
              <a:rPr lang="ru-RU" sz="1200" dirty="0" err="1"/>
              <a:t>фасилитирует</a:t>
            </a:r>
            <a:r>
              <a:rPr lang="ru-RU" sz="1200" dirty="0"/>
              <a:t> встречу. </a:t>
            </a:r>
          </a:p>
          <a:p>
            <a:r>
              <a:rPr lang="ru-RU" sz="1200" dirty="0"/>
              <a:t>Команда определяет актуальные препятствия, ищет их причины, планирует эксперименты по улучшениям.                                                          </a:t>
            </a:r>
            <a:r>
              <a:rPr lang="ru-RU" sz="1200" b="1" dirty="0"/>
              <a:t>Результат: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200" dirty="0"/>
              <a:t>Команда оценила результаты сделанных в прошедшем спринте улучшений и решила – прекратить их или ввести в постоянную практику команды.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200" dirty="0"/>
              <a:t>Команда запланировала эксперименты по улучшениям на следующий спринт.</a:t>
            </a:r>
          </a:p>
          <a:p>
            <a:r>
              <a:rPr lang="ru-RU" dirty="0"/>
              <a:t>Ты можешь предлагать тему ретро.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8849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ЭТО ВСТРЕЧА, КОТОРАЯ ПРОВОДИТСЯ ВЛАДЕЛЬЦЕМ ПРОДУКТА ПРИ УЧАСТИИ КОМАНДЫ РАЗРАБОТЧИКОВ. ВСТРЕЧА ПОЗВОЛЯЕТ ПРОЯСНИТЬ И УТОЧНИТЬ ЭЛЕМЕНТЫ БЭКЛОГА ПРОДУКТА, КОТОРЫЕ ПРЕДСТОИТ ВЗЯТЬ В РАБОТУ В СЛЕДУЮЩИХ СПРИНТАХ. ВКЛЮЧАЕТ ДОБАВЛЕНИЕ ДЕТАЛЕЙ, ОЦЕНКУ И УПОРЯДОЧИВАНИЕ ЭЛЕМЕНТОВ В БЭКЛОГЕ ПРОДУКТА. ГРУММИНГ ПРОВОДИТСЯ ПО НЕОБХОДИМОСТИ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chemeClr val="accent2">
                    <a:lumMod val="75000"/>
                  </a:schemeClr>
                </a:solidFill>
              </a:rPr>
              <a:t>Цель: Уточнение требований, чтобы сэкономить время на планировании.</a:t>
            </a:r>
          </a:p>
          <a:p>
            <a:pPr marL="0" indent="0">
              <a:buNone/>
            </a:pPr>
            <a:r>
              <a:rPr lang="ru-RU" sz="1200" b="1" dirty="0"/>
              <a:t>Участники: </a:t>
            </a:r>
            <a:r>
              <a:rPr lang="ru-RU" sz="1200" dirty="0"/>
              <a:t>PO, </a:t>
            </a:r>
            <a:r>
              <a:rPr lang="ru-RU" sz="1200" dirty="0" err="1"/>
              <a:t>DevTeam</a:t>
            </a:r>
            <a:r>
              <a:rPr lang="ru-RU" sz="1200" dirty="0"/>
              <a:t>, TD.</a:t>
            </a:r>
          </a:p>
          <a:p>
            <a:pPr marL="0" indent="0">
              <a:buNone/>
            </a:pPr>
            <a:r>
              <a:rPr lang="ru-RU" sz="1200" b="1" dirty="0"/>
              <a:t>Время: </a:t>
            </a:r>
            <a:r>
              <a:rPr lang="ru-RU" sz="1200" dirty="0"/>
              <a:t>любой день спринта,</a:t>
            </a:r>
            <a:r>
              <a:rPr lang="ru-RU" sz="1200" b="1" dirty="0"/>
              <a:t> </a:t>
            </a:r>
            <a:r>
              <a:rPr lang="ru-RU" sz="1200" dirty="0"/>
              <a:t>обычно 1 час; может быть несколько таких встреч в спринте.</a:t>
            </a:r>
          </a:p>
          <a:p>
            <a:pPr marL="0" indent="0" algn="ctr">
              <a:buNone/>
            </a:pPr>
            <a:r>
              <a:rPr lang="ru-RU" sz="1200" b="1" dirty="0"/>
              <a:t>Кто что делает:</a:t>
            </a:r>
          </a:p>
          <a:p>
            <a:r>
              <a:rPr lang="ru-RU" sz="1200" dirty="0"/>
              <a:t>PO готовит проекты для груминга, поясняет их для </a:t>
            </a:r>
            <a:r>
              <a:rPr lang="ru-RU" sz="1200" dirty="0" err="1"/>
              <a:t>DevTeam</a:t>
            </a:r>
            <a:r>
              <a:rPr lang="ru-RU" sz="1200" dirty="0"/>
              <a:t>, фиксирует, что что нужно уточнить. После груминга дополняет и уточняет ИТ на проекты, приводит в соответствие </a:t>
            </a:r>
            <a:r>
              <a:rPr lang="ru-RU" sz="1200" dirty="0" err="1"/>
              <a:t>DoR</a:t>
            </a:r>
            <a:r>
              <a:rPr lang="ru-RU" sz="1200" dirty="0"/>
              <a:t>*.</a:t>
            </a:r>
          </a:p>
          <a:p>
            <a:r>
              <a:rPr lang="ru-RU" sz="1200" dirty="0" err="1"/>
              <a:t>DevTeam</a:t>
            </a:r>
            <a:r>
              <a:rPr lang="ru-RU" sz="1200" dirty="0"/>
              <a:t> задает вопросы РО, предлагает разделить или объединить проекты.</a:t>
            </a:r>
          </a:p>
          <a:p>
            <a:r>
              <a:rPr lang="ru-RU" sz="1200" dirty="0"/>
              <a:t>Team Driver </a:t>
            </a:r>
            <a:r>
              <a:rPr lang="ru-RU" sz="1200" dirty="0" err="1"/>
              <a:t>фасилитирует</a:t>
            </a:r>
            <a:r>
              <a:rPr lang="ru-RU" sz="1200" dirty="0"/>
              <a:t>.</a:t>
            </a:r>
          </a:p>
          <a:p>
            <a:pPr marL="0" indent="0" algn="ctr">
              <a:buNone/>
            </a:pPr>
            <a:r>
              <a:rPr lang="ru-RU" sz="1200" b="1" dirty="0"/>
              <a:t>Результат:</a:t>
            </a:r>
          </a:p>
          <a:p>
            <a:pPr marL="342900" indent="-342900">
              <a:buAutoNum type="arabicPeriod"/>
            </a:pPr>
            <a:r>
              <a:rPr lang="ru-RU" sz="1200" dirty="0"/>
              <a:t>Приоритетные требования из верха </a:t>
            </a:r>
            <a:r>
              <a:rPr lang="ru-RU" sz="1200" dirty="0" err="1"/>
              <a:t>бэклога</a:t>
            </a:r>
            <a:r>
              <a:rPr lang="ru-RU" sz="1200" dirty="0"/>
              <a:t> продукта/очереди проектов соответствуют </a:t>
            </a:r>
            <a:r>
              <a:rPr lang="en-US" sz="1200" dirty="0" err="1"/>
              <a:t>DoR</a:t>
            </a:r>
            <a:r>
              <a:rPr lang="ru-RU" sz="1200" dirty="0"/>
              <a:t>. </a:t>
            </a:r>
          </a:p>
          <a:p>
            <a:pPr marL="342900" indent="-342900">
              <a:buAutoNum type="arabicPeriod"/>
            </a:pPr>
            <a:r>
              <a:rPr lang="ru-RU" sz="1200" dirty="0"/>
              <a:t>Количество готовых к работе требований в </a:t>
            </a:r>
            <a:r>
              <a:rPr lang="ru-RU" sz="1200" dirty="0" err="1"/>
              <a:t>бэклоге</a:t>
            </a:r>
            <a:r>
              <a:rPr lang="en-US" sz="1200" dirty="0"/>
              <a:t>/</a:t>
            </a:r>
            <a:r>
              <a:rPr lang="ru-RU" sz="1200" dirty="0"/>
              <a:t>очереди проектов достаточно для работы команды в течение 2-3 спринтов.</a:t>
            </a:r>
          </a:p>
          <a:p>
            <a:endParaRPr lang="ru-RU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82961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Совместная оценка задач командой разработки в относительных единицах (Story Point) позволяет команде за ограниченное время определить сложность задачи.</a:t>
            </a:r>
            <a:endParaRPr lang="ru-RU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НА ГРУМИНГЕ ИЛИ ПЛАНИРОВАНИИ НЕОБХОДИМО ОЦЕНИВАТЬ СЛОЖНОСТЬ ЗАДАЧИ ДЛЯ КОМАНДЫ (не время или усилия)</a:t>
            </a:r>
          </a:p>
          <a:p>
            <a:r>
              <a:rPr lang="ru-RU" dirty="0"/>
              <a:t>Первоначально оценка на груминге, но если проект срочный, то можете столкнуться на планировании. Может происходить оценка сложности самого проекта (если </a:t>
            </a:r>
            <a:r>
              <a:rPr lang="ru-RU" dirty="0" err="1"/>
              <a:t>продакт</a:t>
            </a:r>
            <a:r>
              <a:rPr lang="ru-RU" dirty="0"/>
              <a:t> запросит).</a:t>
            </a:r>
          </a:p>
          <a:p>
            <a:r>
              <a:rPr lang="ru-RU" dirty="0"/>
              <a:t>Задача проста и понятна.. На спейсе на вики в красной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1284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для примера, не значит что мы так будем оценивать. Чтобы вы понимали как это будет выглядеть примерно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6079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«Теперь эта схема стала понятнее?»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49579-E42E-4A87-8852-1682A6CA4F5E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597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8228F-7B86-493B-6F17-12EF85E64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94C056-7A62-6135-ED49-75E8E3FEA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E68EB3-519E-ED83-CB9E-0402C574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0A5068-B6B4-ECF2-2019-CC201622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11C219-8CF8-D964-DA56-EE19D502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55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4A85C-9567-60EC-135A-2FF87B9DD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30BE2-CEF9-740F-8C12-BFA2771B6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98C13-8208-6E8C-D394-B91E9B606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61112A-2CA7-9C16-DD19-B909F62E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80FD00-0501-D5CC-B739-C7EF08B4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26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A3385A-D7D5-882C-EBA7-5FE235284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134CD0-724B-ECD7-D90F-6754EC682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6123CD-F70F-F55A-B673-C91394D2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B9F9BB-B722-F9AF-4A71-2ED3F4B2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9EC704-BC50-6B4B-8343-03867764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246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A966A-E1A8-3876-8543-3BA96D01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2777F2-E2A3-24D6-D667-DB1FA057C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DBC4A4-196A-C131-2325-C175F9C6E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410677-8380-9916-DFA1-B0360727C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02AE46-7F79-72DD-22E6-F1688EB4F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7EE934-7EDD-C032-8908-C108B65B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22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D78F5-8EEB-6FCF-B228-DBEA4E73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A8AB2D-03CB-5A79-95CB-BA814FF74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62C12B-6F16-AE4E-DF6A-EBA5B5EAB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8F5EFA-93A2-072B-447F-9ECA8AEBB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1AE2ACA-98EB-CF10-B3E6-DEB9BCF72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6487476-E882-8C9D-8AC7-B79AE7E76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CDC900-78E2-9048-C491-85BE26C6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7F53FC8-F8AC-DC17-6159-B0DF0B20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86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AE5C72-3C23-4E72-99C5-842755EC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B7B5E7-E71B-B216-E715-6A7FDE8B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635A31-2E40-C336-8B07-28BDB91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45C866-B8C9-5282-C313-12AD6A0F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32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467D89A-3ED0-A0D8-2E2A-DC821C1B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F9F453B-17FC-37C3-BE8A-5EB58DF43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300C24-4825-B903-400D-62C4372C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93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97316-D85B-1324-A8B5-E5CFEBFB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59C9B7-897A-725B-B8F9-73EBA39ED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EDE852-8B3B-248A-D656-93CBB8FA4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231071-65A3-8391-D3E7-0A118A3D1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13757D-6C61-3A91-501A-4AFDB04C5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F7FF71-A100-FB9B-861E-FECF8515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11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38788-6A95-A886-CAF5-1926866BD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CD727F-2184-7001-2ACB-4F7B5AF1B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A1DB98-E383-EB0C-6577-F5837AE24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A76D6A-95D4-B83E-13DC-7BDC6509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65EE84-37B9-8BE7-98BC-86C028859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2EDC58-DC3E-76DB-DC61-F894FEAF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503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47C94B-90C6-6815-8746-F20099D8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578B80-FF81-1DD9-7E96-3856675A7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8F82E5-216C-789C-B252-C0521952C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AB1E3E-4327-CAE0-0F16-D43321BB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48568D-10F3-E7AE-B427-978D4A38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779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4B32DF-AFEC-F587-D4BA-AC81E53D6F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B1B75D-943B-D94E-75BD-1186560A0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C65F94-9722-BCDF-1BCA-99CD15AF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078470-0545-9661-0622-2A6FC25F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18FB11-ACA0-B205-4916-C7BAB525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156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75B01-54DC-4E9C-8F53-4273F88512FB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92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143000"/>
            <a:ext cx="12192000" cy="5349875"/>
          </a:xfrm>
        </p:spPr>
        <p:txBody>
          <a:bodyPr/>
          <a:lstStyle>
            <a:lvl1pPr marL="959976">
              <a:spcBef>
                <a:spcPts val="0"/>
              </a:spcBef>
              <a:defRPr/>
            </a:lvl1pPr>
            <a:lvl2pPr marL="959976">
              <a:spcBef>
                <a:spcPts val="0"/>
              </a:spcBef>
              <a:defRPr/>
            </a:lvl2pPr>
            <a:lvl3pPr marL="959976">
              <a:spcBef>
                <a:spcPts val="0"/>
              </a:spcBef>
              <a:defRPr/>
            </a:lvl3pPr>
            <a:lvl4pPr marL="959976">
              <a:spcBef>
                <a:spcPts val="0"/>
              </a:spcBef>
              <a:defRPr/>
            </a:lvl4pPr>
            <a:lvl5pPr marL="959976">
              <a:spcBef>
                <a:spcPts val="0"/>
              </a:spcBef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7C43-3AEA-4135-A548-18A9177D2A4F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347200" y="6492875"/>
            <a:ext cx="2844800" cy="36512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fld id="{13475415-438F-4062-A959-A3069F922F6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4182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602-B707-49C7-B529-7831FCDE4B3D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042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FC707-0C2D-46EC-9A48-6335A11D6B9A}" type="datetime1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411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C68EE-E34B-408B-8928-6AB6504CB727}" type="datetime1">
              <a:rPr lang="ru-RU" smtClean="0"/>
              <a:t>23.06.2026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864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BCB9-9FDD-484A-8D03-6FA076EF5926}" type="datetime1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9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5702-00AC-471C-A5E2-92B54847022E}" type="datetime1">
              <a:rPr lang="ru-RU" smtClean="0"/>
              <a:t>23.06.2026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967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3DD1-7275-43EE-B0E3-13169919FFF8}" type="datetime1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106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674-DCC9-4868-8B13-39E62CB5CC87}" type="datetime1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118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6BA81-F94E-4F23-BA00-BD8A44FFC088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632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2E31-589A-429E-920A-F93D7AF85D6B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469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B2BF0-290A-0E5B-2548-0D437AEA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6C247C-70A3-BAB5-43E2-C4A9CF5D9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35C6C5-C52D-B704-7212-FF92DA3C3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665F1-1D2B-4AFC-B945-6902460C1144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93EA1-37D9-D1E3-C6FD-1AF15F969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0A7628-9B9D-8941-1481-FD77B8790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38D08-2985-4434-92C1-19EDB3EA7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97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C2CB2-941F-4BD5-A20D-5FDEF26F92BB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75415-438F-4062-A959-A3069F922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32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7E95E8-C887-D1DE-E9FA-B2F689DB559B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DBFCE99-B6D9-845D-F63C-9084C1D591FA}"/>
              </a:ext>
            </a:extLst>
          </p:cNvPr>
          <p:cNvSpPr/>
          <p:nvPr/>
        </p:nvSpPr>
        <p:spPr>
          <a:xfrm>
            <a:off x="3396000" y="909000"/>
            <a:ext cx="5040000" cy="5040000"/>
          </a:xfrm>
          <a:prstGeom prst="ellipse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D3482-3BFA-C4D1-4CDF-CC90A29358CC}"/>
              </a:ext>
            </a:extLst>
          </p:cNvPr>
          <p:cNvSpPr txBox="1"/>
          <p:nvPr/>
        </p:nvSpPr>
        <p:spPr>
          <a:xfrm>
            <a:off x="2399073" y="442656"/>
            <a:ext cx="7025046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0"/>
              </a:lnSpc>
            </a:pPr>
            <a:r>
              <a:rPr lang="en-US" sz="15000" dirty="0">
                <a:solidFill>
                  <a:schemeClr val="bg1"/>
                </a:solidFill>
                <a:latin typeface="Impact" panose="020B0806030902050204" pitchFamily="34" charset="0"/>
              </a:rPr>
              <a:t>UNI</a:t>
            </a:r>
          </a:p>
          <a:p>
            <a:pPr algn="ctr">
              <a:lnSpc>
                <a:spcPts val="12500"/>
              </a:lnSpc>
            </a:pPr>
            <a:r>
              <a:rPr lang="en-US" sz="15000" dirty="0">
                <a:solidFill>
                  <a:schemeClr val="bg1"/>
                </a:solidFill>
                <a:latin typeface="Impact" panose="020B0806030902050204" pitchFamily="34" charset="0"/>
              </a:rPr>
              <a:t>SCRUM</a:t>
            </a:r>
          </a:p>
        </p:txBody>
      </p:sp>
      <p:pic>
        <p:nvPicPr>
          <p:cNvPr id="1026" name="Picture 2" descr="Чак Норрис PNG">
            <a:extLst>
              <a:ext uri="{FF2B5EF4-FFF2-40B4-BE49-F238E27FC236}">
                <a16:creationId xmlns:a16="http://schemas.microsoft.com/office/drawing/2014/main" id="{D3F8BB73-462A-D6D2-A006-9B2B54A18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640" y="2635316"/>
            <a:ext cx="3761757" cy="435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30FF08-CAA6-7DC9-D42F-C3A95EA51F7D}"/>
              </a:ext>
            </a:extLst>
          </p:cNvPr>
          <p:cNvSpPr/>
          <p:nvPr/>
        </p:nvSpPr>
        <p:spPr>
          <a:xfrm>
            <a:off x="3081528" y="5105268"/>
            <a:ext cx="6025896" cy="1258128"/>
          </a:xfrm>
          <a:prstGeom prst="rect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latin typeface="Pragmatica Extra Light" panose="020B0303040502020204" pitchFamily="34" charset="-52"/>
              </a:rPr>
              <a:t>И ВСЁ ЧТО С НИМ СВЯЗАНО</a:t>
            </a:r>
          </a:p>
        </p:txBody>
      </p:sp>
    </p:spTree>
    <p:extLst>
      <p:ext uri="{BB962C8B-B14F-4D97-AF65-F5344CB8AC3E}">
        <p14:creationId xmlns:p14="http://schemas.microsoft.com/office/powerpoint/2010/main" val="137441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>
            <a:extLst>
              <a:ext uri="{FF2B5EF4-FFF2-40B4-BE49-F238E27FC236}">
                <a16:creationId xmlns:a16="http://schemas.microsoft.com/office/drawing/2014/main" id="{CCFF452F-D542-2FFC-F3A7-FED7E8B0E834}"/>
              </a:ext>
            </a:extLst>
          </p:cNvPr>
          <p:cNvSpPr/>
          <p:nvPr/>
        </p:nvSpPr>
        <p:spPr>
          <a:xfrm>
            <a:off x="-1673214" y="909000"/>
            <a:ext cx="5040000" cy="5040000"/>
          </a:xfrm>
          <a:prstGeom prst="ellipse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Рисунок 2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57E35ABC-77FC-95C1-10B3-282D4BFD2C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2" t="56468" b="26954"/>
          <a:stretch/>
        </p:blipFill>
        <p:spPr>
          <a:xfrm>
            <a:off x="8031758" y="4978969"/>
            <a:ext cx="4441005" cy="24459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-51761" y="2275021"/>
            <a:ext cx="414839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2 ЧАСТИ ОБУЧЕНИЯ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DDE96-0E0A-C2CC-6C28-DFDB139896C0}"/>
              </a:ext>
            </a:extLst>
          </p:cNvPr>
          <p:cNvSpPr txBox="1"/>
          <p:nvPr/>
        </p:nvSpPr>
        <p:spPr>
          <a:xfrm>
            <a:off x="3594879" y="540034"/>
            <a:ext cx="3784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ЧАСТЬ 1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1A41981-F062-452D-D29C-D6396C5D2488}"/>
              </a:ext>
            </a:extLst>
          </p:cNvPr>
          <p:cNvCxnSpPr>
            <a:cxnSpLocks/>
          </p:cNvCxnSpPr>
          <p:nvPr/>
        </p:nvCxnSpPr>
        <p:spPr>
          <a:xfrm>
            <a:off x="7187304" y="1227782"/>
            <a:ext cx="0" cy="4402436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FF196B-9E6F-2EAE-C1B4-4EB618E70F13}"/>
              </a:ext>
            </a:extLst>
          </p:cNvPr>
          <p:cNvSpPr txBox="1"/>
          <p:nvPr/>
        </p:nvSpPr>
        <p:spPr>
          <a:xfrm>
            <a:off x="8071348" y="540033"/>
            <a:ext cx="3784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ЧАСТЬ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E9321-4111-3E8F-4C8C-7CF9C1AE22F4}"/>
              </a:ext>
            </a:extLst>
          </p:cNvPr>
          <p:cNvSpPr txBox="1"/>
          <p:nvPr/>
        </p:nvSpPr>
        <p:spPr>
          <a:xfrm>
            <a:off x="3821835" y="2275021"/>
            <a:ext cx="3442087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AGILE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KANBAN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SCRUM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И ИХ ОСОБЕННОСТИ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02FDD-31FE-9D73-B1CA-1A63DE10040C}"/>
              </a:ext>
            </a:extLst>
          </p:cNvPr>
          <p:cNvSpPr txBox="1"/>
          <p:nvPr/>
        </p:nvSpPr>
        <p:spPr>
          <a:xfrm>
            <a:off x="7396940" y="1998022"/>
            <a:ext cx="4514634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ПРИНЦИПЫ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UNISCAN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ФРЕЙМВОРК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КОМАНДЫ И ОТДЕЛЫ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СОБЫТИЯ И АКТИВНОСТИ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ПРОЕКТ И ПРОДУКТ</a:t>
            </a:r>
          </a:p>
        </p:txBody>
      </p:sp>
    </p:spTree>
    <p:extLst>
      <p:ext uri="{BB962C8B-B14F-4D97-AF65-F5344CB8AC3E}">
        <p14:creationId xmlns:p14="http://schemas.microsoft.com/office/powerpoint/2010/main" val="3683488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35320F-6B60-E42D-A0F3-47084B7AFF77}"/>
              </a:ext>
            </a:extLst>
          </p:cNvPr>
          <p:cNvSpPr txBox="1"/>
          <p:nvPr/>
        </p:nvSpPr>
        <p:spPr>
          <a:xfrm>
            <a:off x="4379500" y="2297921"/>
            <a:ext cx="7440645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Нам важно, какие задачи мы решаем</a:t>
            </a:r>
          </a:p>
          <a:p>
            <a:pPr marL="0" lvl="1">
              <a:lnSpc>
                <a:spcPct val="150000"/>
              </a:lnSpc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Мы за системный подход к принятию решений</a:t>
            </a:r>
          </a:p>
          <a:p>
            <a:pPr marL="0" lvl="1">
              <a:lnSpc>
                <a:spcPct val="150000"/>
              </a:lnSpc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Мы за командную работу</a:t>
            </a:r>
          </a:p>
          <a:p>
            <a:pPr marL="0" lvl="1">
              <a:lnSpc>
                <a:spcPct val="150000"/>
              </a:lnSpc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Кто не учится — тот отстаёт</a:t>
            </a:r>
          </a:p>
        </p:txBody>
      </p:sp>
      <p:pic>
        <p:nvPicPr>
          <p:cNvPr id="7" name="Рисунок 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EF5FCFD-F235-4FB0-3946-0B5B2D05E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6" y="1448675"/>
            <a:ext cx="3048000" cy="457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268949" y="248346"/>
            <a:ext cx="119373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7200" dirty="0">
                <a:solidFill>
                  <a:prstClr val="white"/>
                </a:solidFill>
                <a:latin typeface="Impact" panose="020B0806030902050204" pitchFamily="34" charset="0"/>
              </a:rPr>
              <a:t>ПРИНЦИПЫ</a:t>
            </a: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UNIS</a:t>
            </a:r>
            <a:r>
              <a:rPr lang="en-US" sz="7200" dirty="0">
                <a:solidFill>
                  <a:prstClr val="white"/>
                </a:solidFill>
                <a:latin typeface="Impact" panose="020B0806030902050204" pitchFamily="34" charset="0"/>
              </a:rPr>
              <a:t>CAN</a:t>
            </a:r>
            <a:r>
              <a:rPr lang="ru-RU" sz="7200" dirty="0">
                <a:solidFill>
                  <a:prstClr val="white"/>
                </a:solidFill>
                <a:latin typeface="Impact" panose="020B0806030902050204" pitchFamily="34" charset="0"/>
              </a:rPr>
              <a:t> </a:t>
            </a:r>
            <a:r>
              <a:rPr lang="en-US" sz="7200" dirty="0">
                <a:solidFill>
                  <a:prstClr val="white"/>
                </a:solidFill>
                <a:latin typeface="Impact" panose="020B0806030902050204" pitchFamily="34" charset="0"/>
              </a:rPr>
              <a:t>RESEARCH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00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Шестиугольник 18">
            <a:extLst>
              <a:ext uri="{FF2B5EF4-FFF2-40B4-BE49-F238E27FC236}">
                <a16:creationId xmlns:a16="http://schemas.microsoft.com/office/drawing/2014/main" id="{26620A8A-0C51-7EF7-FAE3-C1E25BBB386B}"/>
              </a:ext>
            </a:extLst>
          </p:cNvPr>
          <p:cNvSpPr/>
          <p:nvPr/>
        </p:nvSpPr>
        <p:spPr>
          <a:xfrm>
            <a:off x="3847985" y="4458789"/>
            <a:ext cx="1908000" cy="1908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20" name="Шестиугольник 19">
            <a:extLst>
              <a:ext uri="{FF2B5EF4-FFF2-40B4-BE49-F238E27FC236}">
                <a16:creationId xmlns:a16="http://schemas.microsoft.com/office/drawing/2014/main" id="{EBB97CA4-98D7-D44C-00B3-4515884DDE20}"/>
              </a:ext>
            </a:extLst>
          </p:cNvPr>
          <p:cNvSpPr/>
          <p:nvPr/>
        </p:nvSpPr>
        <p:spPr>
          <a:xfrm>
            <a:off x="5319505" y="3478890"/>
            <a:ext cx="1908000" cy="1908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628548-7787-7D05-F539-E92871DBE919}"/>
              </a:ext>
            </a:extLst>
          </p:cNvPr>
          <p:cNvSpPr txBox="1"/>
          <p:nvPr/>
        </p:nvSpPr>
        <p:spPr>
          <a:xfrm>
            <a:off x="5324560" y="3874553"/>
            <a:ext cx="191226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solidFill>
                  <a:schemeClr val="bg1"/>
                </a:solidFill>
                <a:latin typeface="Pragmatica Light" panose="020B0403040502020204" pitchFamily="34" charset="-52"/>
              </a:rPr>
              <a:t>Правила управления проектами</a:t>
            </a:r>
            <a:endParaRPr lang="en-US" sz="22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F38D51-E51D-B834-67BB-22192197D843}"/>
              </a:ext>
            </a:extLst>
          </p:cNvPr>
          <p:cNvSpPr txBox="1"/>
          <p:nvPr/>
        </p:nvSpPr>
        <p:spPr>
          <a:xfrm>
            <a:off x="3980415" y="4685917"/>
            <a:ext cx="162000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solidFill>
                  <a:schemeClr val="bg1"/>
                </a:solidFill>
                <a:latin typeface="Pragmatica Light" panose="020B0403040502020204" pitchFamily="34" charset="-52"/>
              </a:rPr>
              <a:t>Правила работы внутри команд</a:t>
            </a:r>
            <a:endParaRPr lang="en-US" sz="22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26" name="Шестиугольник 25">
            <a:extLst>
              <a:ext uri="{FF2B5EF4-FFF2-40B4-BE49-F238E27FC236}">
                <a16:creationId xmlns:a16="http://schemas.microsoft.com/office/drawing/2014/main" id="{06427590-100A-98E5-161D-FC513EC365EB}"/>
              </a:ext>
            </a:extLst>
          </p:cNvPr>
          <p:cNvSpPr/>
          <p:nvPr/>
        </p:nvSpPr>
        <p:spPr>
          <a:xfrm>
            <a:off x="6802307" y="2493803"/>
            <a:ext cx="1908000" cy="1908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055B14-1691-01C9-020C-CEBD876E7CD5}"/>
              </a:ext>
            </a:extLst>
          </p:cNvPr>
          <p:cNvSpPr txBox="1"/>
          <p:nvPr/>
        </p:nvSpPr>
        <p:spPr>
          <a:xfrm>
            <a:off x="6886522" y="3059794"/>
            <a:ext cx="17368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Pragmatica Light" panose="020B0403040502020204" pitchFamily="34" charset="-52"/>
              </a:rPr>
              <a:t>Описание ролей</a:t>
            </a:r>
            <a:endParaRPr lang="en-US" sz="24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29" name="Шестиугольник 28">
            <a:extLst>
              <a:ext uri="{FF2B5EF4-FFF2-40B4-BE49-F238E27FC236}">
                <a16:creationId xmlns:a16="http://schemas.microsoft.com/office/drawing/2014/main" id="{A742552A-DE13-9A93-4730-23BD5219A131}"/>
              </a:ext>
            </a:extLst>
          </p:cNvPr>
          <p:cNvSpPr/>
          <p:nvPr/>
        </p:nvSpPr>
        <p:spPr>
          <a:xfrm>
            <a:off x="8272427" y="3474551"/>
            <a:ext cx="1908000" cy="1908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682500-74BE-D62B-9933-62BD00239C35}"/>
              </a:ext>
            </a:extLst>
          </p:cNvPr>
          <p:cNvSpPr txBox="1"/>
          <p:nvPr/>
        </p:nvSpPr>
        <p:spPr>
          <a:xfrm>
            <a:off x="8046457" y="3763812"/>
            <a:ext cx="23599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Pragmatica Light" panose="020B0403040502020204" pitchFamily="34" charset="-52"/>
              </a:rPr>
              <a:t>Правила взаимодействия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Pragmatica Light" panose="020B0403040502020204" pitchFamily="34" charset="-52"/>
              </a:rPr>
              <a:t>между отделами, командами,</a:t>
            </a:r>
            <a:endParaRPr lang="en-US" sz="16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Pragmatica Light" panose="020B0403040502020204" pitchFamily="34" charset="-52"/>
              </a:rPr>
              <a:t>ролями</a:t>
            </a:r>
          </a:p>
        </p:txBody>
      </p:sp>
      <p:sp>
        <p:nvSpPr>
          <p:cNvPr id="31" name="Шестиугольник 30">
            <a:extLst>
              <a:ext uri="{FF2B5EF4-FFF2-40B4-BE49-F238E27FC236}">
                <a16:creationId xmlns:a16="http://schemas.microsoft.com/office/drawing/2014/main" id="{40309507-5B48-8F3E-742B-BAC77BE9DE13}"/>
              </a:ext>
            </a:extLst>
          </p:cNvPr>
          <p:cNvSpPr/>
          <p:nvPr/>
        </p:nvSpPr>
        <p:spPr>
          <a:xfrm>
            <a:off x="6794793" y="4455192"/>
            <a:ext cx="1908000" cy="1908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AA6511-36B8-C2ED-2FFB-82EEAD4B1822}"/>
              </a:ext>
            </a:extLst>
          </p:cNvPr>
          <p:cNvSpPr txBox="1"/>
          <p:nvPr/>
        </p:nvSpPr>
        <p:spPr>
          <a:xfrm>
            <a:off x="6776079" y="4797466"/>
            <a:ext cx="19454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Pragmatica Light" panose="020B0403040502020204" pitchFamily="34" charset="-52"/>
              </a:rPr>
              <a:t>Любые договоренности</a:t>
            </a:r>
            <a:endParaRPr lang="en-US" sz="16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Pragmatica Light" panose="020B0403040502020204" pitchFamily="34" charset="-52"/>
              </a:rPr>
              <a:t>и схемы взаимодействия</a:t>
            </a:r>
          </a:p>
        </p:txBody>
      </p:sp>
      <p:sp>
        <p:nvSpPr>
          <p:cNvPr id="33" name="Шестиугольник 32">
            <a:extLst>
              <a:ext uri="{FF2B5EF4-FFF2-40B4-BE49-F238E27FC236}">
                <a16:creationId xmlns:a16="http://schemas.microsoft.com/office/drawing/2014/main" id="{2D7107D3-A465-D741-AA42-7EB31C222B21}"/>
              </a:ext>
            </a:extLst>
          </p:cNvPr>
          <p:cNvSpPr/>
          <p:nvPr/>
        </p:nvSpPr>
        <p:spPr>
          <a:xfrm>
            <a:off x="9752131" y="2493803"/>
            <a:ext cx="1908000" cy="1908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7A17FB-2AE1-F492-FA9D-E0EAD8A72735}"/>
              </a:ext>
            </a:extLst>
          </p:cNvPr>
          <p:cNvSpPr txBox="1"/>
          <p:nvPr/>
        </p:nvSpPr>
        <p:spPr>
          <a:xfrm>
            <a:off x="9687896" y="2921294"/>
            <a:ext cx="203647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Pragmatica Light" panose="020B0403040502020204" pitchFamily="34" charset="-52"/>
              </a:rPr>
              <a:t>Системы автоматизации и инструменты </a:t>
            </a:r>
            <a:endParaRPr lang="en-US" sz="16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Pragmatica Light" panose="020B0403040502020204" pitchFamily="34" charset="-52"/>
              </a:rPr>
              <a:t>внутри </a:t>
            </a:r>
            <a:r>
              <a:rPr lang="en-US" sz="1600" dirty="0" err="1">
                <a:solidFill>
                  <a:schemeClr val="bg1"/>
                </a:solidFill>
                <a:latin typeface="Pragmatica Light" panose="020B0403040502020204" pitchFamily="34" charset="-52"/>
              </a:rPr>
              <a:t>RnD</a:t>
            </a:r>
            <a:endParaRPr lang="ru-RU" sz="16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ФРЕЙМВОРК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52CB04B-760C-FC10-F447-22CB823A3313}"/>
              </a:ext>
            </a:extLst>
          </p:cNvPr>
          <p:cNvCxnSpPr>
            <a:cxnSpLocks/>
          </p:cNvCxnSpPr>
          <p:nvPr/>
        </p:nvCxnSpPr>
        <p:spPr>
          <a:xfrm flipH="1">
            <a:off x="544024" y="2856167"/>
            <a:ext cx="231229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6B6D17-077E-62C2-0EDF-586B7D29879D}"/>
              </a:ext>
            </a:extLst>
          </p:cNvPr>
          <p:cNvSpPr txBox="1"/>
          <p:nvPr/>
        </p:nvSpPr>
        <p:spPr>
          <a:xfrm>
            <a:off x="424204" y="1578519"/>
            <a:ext cx="10555291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indent="0">
              <a:lnSpc>
                <a:spcPct val="150000"/>
              </a:lnSpc>
              <a:buNone/>
              <a:defRPr sz="2400">
                <a:latin typeface="Pragmatica Light" panose="020B0403040502020204" pitchFamily="34" charset="-52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Это правила, договоренности и инструменты,</a:t>
            </a:r>
          </a:p>
          <a:p>
            <a:r>
              <a:rPr lang="ru-RU" dirty="0">
                <a:solidFill>
                  <a:schemeClr val="bg1"/>
                </a:solidFill>
              </a:rPr>
              <a:t>применяемые в </a:t>
            </a:r>
            <a:r>
              <a:rPr lang="en-US" dirty="0" err="1">
                <a:solidFill>
                  <a:schemeClr val="bg1"/>
                </a:solidFill>
              </a:rPr>
              <a:t>RnD</a:t>
            </a:r>
            <a:r>
              <a:rPr lang="ru-RU" dirty="0">
                <a:solidFill>
                  <a:schemeClr val="bg1"/>
                </a:solidFill>
              </a:rPr>
              <a:t> подразделении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256FC-BE7C-689D-C35A-A038D31A2F22}"/>
              </a:ext>
            </a:extLst>
          </p:cNvPr>
          <p:cNvSpPr txBox="1"/>
          <p:nvPr/>
        </p:nvSpPr>
        <p:spPr>
          <a:xfrm>
            <a:off x="424902" y="3248157"/>
            <a:ext cx="37419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</a:defRPr>
            </a:lvl1pPr>
          </a:lstStyle>
          <a:p>
            <a:r>
              <a:rPr lang="ru-RU" sz="3600" dirty="0">
                <a:solidFill>
                  <a:schemeClr val="bg1"/>
                </a:solidFill>
                <a:latin typeface="Pragmatica Book" panose="020B0503040502020204" pitchFamily="34" charset="0"/>
              </a:rPr>
              <a:t>Фреймворк включает в себя:</a:t>
            </a:r>
          </a:p>
        </p:txBody>
      </p:sp>
    </p:spTree>
    <p:extLst>
      <p:ext uri="{BB962C8B-B14F-4D97-AF65-F5344CB8AC3E}">
        <p14:creationId xmlns:p14="http://schemas.microsoft.com/office/powerpoint/2010/main" val="25784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ФРЕЙМВОРК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31" name="Шестиугольник 30">
            <a:extLst>
              <a:ext uri="{FF2B5EF4-FFF2-40B4-BE49-F238E27FC236}">
                <a16:creationId xmlns:a16="http://schemas.microsoft.com/office/drawing/2014/main" id="{40309507-5B48-8F3E-742B-BAC77BE9DE13}"/>
              </a:ext>
            </a:extLst>
          </p:cNvPr>
          <p:cNvSpPr/>
          <p:nvPr/>
        </p:nvSpPr>
        <p:spPr>
          <a:xfrm>
            <a:off x="2872619" y="2030466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9A176-DF8A-F458-99B9-F9B540A1F8DC}"/>
              </a:ext>
            </a:extLst>
          </p:cNvPr>
          <p:cNvSpPr txBox="1"/>
          <p:nvPr/>
        </p:nvSpPr>
        <p:spPr>
          <a:xfrm>
            <a:off x="2982331" y="2551837"/>
            <a:ext cx="15988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algn="ctr"/>
            <a:r>
              <a:rPr lang="en-US" b="1" dirty="0"/>
              <a:t>Kanban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29387-E926-E89F-AAFB-67171F78B969}"/>
              </a:ext>
            </a:extLst>
          </p:cNvPr>
          <p:cNvSpPr txBox="1"/>
          <p:nvPr/>
        </p:nvSpPr>
        <p:spPr>
          <a:xfrm>
            <a:off x="1674855" y="4101497"/>
            <a:ext cx="415677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algn="ctr"/>
            <a:r>
              <a:rPr lang="ru-RU" b="0" dirty="0"/>
              <a:t>подход для управления очередью проектов на уровне всей компании</a:t>
            </a:r>
          </a:p>
        </p:txBody>
      </p:sp>
      <p:sp>
        <p:nvSpPr>
          <p:cNvPr id="14" name="Шестиугольник 13">
            <a:extLst>
              <a:ext uri="{FF2B5EF4-FFF2-40B4-BE49-F238E27FC236}">
                <a16:creationId xmlns:a16="http://schemas.microsoft.com/office/drawing/2014/main" id="{85E75709-EEF4-12C1-C097-3E205BDD0975}"/>
              </a:ext>
            </a:extLst>
          </p:cNvPr>
          <p:cNvSpPr/>
          <p:nvPr/>
        </p:nvSpPr>
        <p:spPr>
          <a:xfrm>
            <a:off x="7574630" y="2055991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BA5D78-E1F5-916D-0AC7-5EC076ED5CF3}"/>
              </a:ext>
            </a:extLst>
          </p:cNvPr>
          <p:cNvSpPr txBox="1"/>
          <p:nvPr/>
        </p:nvSpPr>
        <p:spPr>
          <a:xfrm>
            <a:off x="7675182" y="2551837"/>
            <a:ext cx="15988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algn="ctr"/>
            <a:r>
              <a:rPr lang="en-US" sz="2400" b="1" dirty="0"/>
              <a:t>Scrum</a:t>
            </a:r>
            <a:endParaRPr lang="ru-RU" dirty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FF44B6B7-14E4-E17D-EF49-23CF4525B5D5}"/>
              </a:ext>
            </a:extLst>
          </p:cNvPr>
          <p:cNvCxnSpPr/>
          <p:nvPr/>
        </p:nvCxnSpPr>
        <p:spPr>
          <a:xfrm flipV="1">
            <a:off x="3753243" y="1310326"/>
            <a:ext cx="0" cy="72014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BF167DF3-D1CA-BAB8-A3E9-ADAA68E5A2BF}"/>
              </a:ext>
            </a:extLst>
          </p:cNvPr>
          <p:cNvCxnSpPr/>
          <p:nvPr/>
        </p:nvCxnSpPr>
        <p:spPr>
          <a:xfrm flipV="1">
            <a:off x="8465498" y="1310326"/>
            <a:ext cx="0" cy="72014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F07DA6E-F3AA-7159-DFA0-5804E1F3507C}"/>
              </a:ext>
            </a:extLst>
          </p:cNvPr>
          <p:cNvSpPr txBox="1"/>
          <p:nvPr/>
        </p:nvSpPr>
        <p:spPr>
          <a:xfrm>
            <a:off x="5794615" y="2472130"/>
            <a:ext cx="79022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Pragmatica Light" panose="020B0403040502020204" pitchFamily="34" charset="-52"/>
              </a:rPr>
              <a:t>+</a:t>
            </a:r>
            <a:endParaRPr lang="ru-RU" sz="66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B5111F-33FB-AC7B-E421-5178B28DEF8E}"/>
              </a:ext>
            </a:extLst>
          </p:cNvPr>
          <p:cNvSpPr txBox="1"/>
          <p:nvPr/>
        </p:nvSpPr>
        <p:spPr>
          <a:xfrm>
            <a:off x="6692691" y="4102249"/>
            <a:ext cx="3563875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algn="ctr"/>
            <a:r>
              <a:rPr lang="ru-RU" dirty="0"/>
              <a:t>на уровне отдельных команд</a:t>
            </a: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D4852749-2225-1C50-CB02-63CCC9A00F70}"/>
              </a:ext>
            </a:extLst>
          </p:cNvPr>
          <p:cNvCxnSpPr>
            <a:cxnSpLocks/>
          </p:cNvCxnSpPr>
          <p:nvPr/>
        </p:nvCxnSpPr>
        <p:spPr>
          <a:xfrm flipV="1">
            <a:off x="3772619" y="3830466"/>
            <a:ext cx="9160" cy="408159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DBF2ACC9-330B-1A36-607D-D3CFF73B4EB2}"/>
              </a:ext>
            </a:extLst>
          </p:cNvPr>
          <p:cNvCxnSpPr>
            <a:cxnSpLocks/>
          </p:cNvCxnSpPr>
          <p:nvPr/>
        </p:nvCxnSpPr>
        <p:spPr>
          <a:xfrm flipV="1">
            <a:off x="8474628" y="3848674"/>
            <a:ext cx="9160" cy="408159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475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вал 11">
            <a:extLst>
              <a:ext uri="{FF2B5EF4-FFF2-40B4-BE49-F238E27FC236}">
                <a16:creationId xmlns:a16="http://schemas.microsoft.com/office/drawing/2014/main" id="{CCF3B33D-03C2-0A8E-A899-901CAEE59314}"/>
              </a:ext>
            </a:extLst>
          </p:cNvPr>
          <p:cNvSpPr/>
          <p:nvPr/>
        </p:nvSpPr>
        <p:spPr>
          <a:xfrm>
            <a:off x="-2201550" y="899856"/>
            <a:ext cx="5040000" cy="5040000"/>
          </a:xfrm>
          <a:prstGeom prst="ellipse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FB1DA2-B703-7204-63CE-57EB3DECB9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74" t="10556" r="7063" b="6111"/>
          <a:stretch/>
        </p:blipFill>
        <p:spPr>
          <a:xfrm>
            <a:off x="2838450" y="723900"/>
            <a:ext cx="9229725" cy="5715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2D24B8-7CCC-1748-4B73-CBBA817C2229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E1D08-8F5F-9476-384F-603A6467C875}"/>
              </a:ext>
            </a:extLst>
          </p:cNvPr>
          <p:cNvSpPr txBox="1"/>
          <p:nvPr/>
        </p:nvSpPr>
        <p:spPr>
          <a:xfrm>
            <a:off x="0" y="2127194"/>
            <a:ext cx="29945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</a:defRPr>
            </a:lvl1pPr>
          </a:lstStyle>
          <a:p>
            <a:r>
              <a:rPr lang="en-US" sz="5400" dirty="0" err="1">
                <a:solidFill>
                  <a:schemeClr val="bg1"/>
                </a:solidFill>
              </a:rPr>
              <a:t>RnD</a:t>
            </a:r>
            <a:endParaRPr lang="en-US" sz="5400" dirty="0">
              <a:solidFill>
                <a:schemeClr val="bg1"/>
              </a:solidFill>
            </a:endParaRPr>
          </a:p>
          <a:p>
            <a:r>
              <a:rPr lang="ru-RU" sz="5400" dirty="0">
                <a:solidFill>
                  <a:schemeClr val="bg1"/>
                </a:solidFill>
              </a:rPr>
              <a:t>В</a:t>
            </a:r>
          </a:p>
          <a:p>
            <a:r>
              <a:rPr lang="en-US" sz="5400" dirty="0">
                <a:solidFill>
                  <a:schemeClr val="bg1"/>
                </a:solidFill>
              </a:rPr>
              <a:t>UNISCAN</a:t>
            </a:r>
            <a:endParaRPr lang="ru-RU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885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Шестиугольник 1">
            <a:extLst>
              <a:ext uri="{FF2B5EF4-FFF2-40B4-BE49-F238E27FC236}">
                <a16:creationId xmlns:a16="http://schemas.microsoft.com/office/drawing/2014/main" id="{30151F1D-9714-01D8-29AC-8D549BCA10A3}"/>
              </a:ext>
            </a:extLst>
          </p:cNvPr>
          <p:cNvSpPr/>
          <p:nvPr/>
        </p:nvSpPr>
        <p:spPr>
          <a:xfrm>
            <a:off x="2062791" y="2030467"/>
            <a:ext cx="3051701" cy="444064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9A176-DF8A-F458-99B9-F9B540A1F8DC}"/>
              </a:ext>
            </a:extLst>
          </p:cNvPr>
          <p:cNvSpPr txBox="1"/>
          <p:nvPr/>
        </p:nvSpPr>
        <p:spPr>
          <a:xfrm>
            <a:off x="2139497" y="1959923"/>
            <a:ext cx="2774746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КОМАНДА</a:t>
            </a:r>
            <a:r>
              <a:rPr lang="en-US" sz="1800" b="1" dirty="0"/>
              <a:t> UNISCRUM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FF44B6B7-14E4-E17D-EF49-23CF4525B5D5}"/>
              </a:ext>
            </a:extLst>
          </p:cNvPr>
          <p:cNvCxnSpPr/>
          <p:nvPr/>
        </p:nvCxnSpPr>
        <p:spPr>
          <a:xfrm flipV="1">
            <a:off x="3526870" y="1310326"/>
            <a:ext cx="0" cy="72014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BF167DF3-D1CA-BAB8-A3E9-ADAA68E5A2BF}"/>
              </a:ext>
            </a:extLst>
          </p:cNvPr>
          <p:cNvCxnSpPr>
            <a:cxnSpLocks/>
          </p:cNvCxnSpPr>
          <p:nvPr/>
        </p:nvCxnSpPr>
        <p:spPr>
          <a:xfrm flipV="1">
            <a:off x="8650927" y="914400"/>
            <a:ext cx="0" cy="1116066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222CAA3-243C-3DE0-99A6-6957CD26AFA0}"/>
              </a:ext>
            </a:extLst>
          </p:cNvPr>
          <p:cNvSpPr txBox="1"/>
          <p:nvPr/>
        </p:nvSpPr>
        <p:spPr>
          <a:xfrm>
            <a:off x="1218305" y="2701425"/>
            <a:ext cx="5482433" cy="337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121917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chemeClr val="bg1"/>
                </a:solidFill>
                <a:latin typeface="Pragmatica Extra Light" panose="020B0303040502020204" pitchFamily="34" charset="-52"/>
              </a:rPr>
              <a:t>Сидят в одной комнате</a:t>
            </a:r>
          </a:p>
          <a:p>
            <a:pPr marL="342900" indent="-342900" defTabSz="121917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chemeClr val="bg1"/>
                </a:solidFill>
                <a:latin typeface="Pragmatica Extra Light" panose="020B0303040502020204" pitchFamily="34" charset="-52"/>
              </a:rPr>
              <a:t>Общий проект/продукт</a:t>
            </a:r>
          </a:p>
          <a:p>
            <a:pPr marL="342900" indent="-342900" defTabSz="121917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chemeClr val="bg1"/>
                </a:solidFill>
                <a:latin typeface="Pragmatica Extra Light" panose="020B0303040502020204" pitchFamily="34" charset="-52"/>
              </a:rPr>
              <a:t>Сотрудники разных профессий</a:t>
            </a:r>
          </a:p>
          <a:p>
            <a:pPr marL="342900" indent="-342900" defTabSz="121917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chemeClr val="bg1"/>
                </a:solidFill>
                <a:latin typeface="Pragmatica Extra Light" panose="020B0303040502020204" pitchFamily="34" charset="-52"/>
              </a:rPr>
              <a:t>Общаются ежедневно</a:t>
            </a:r>
          </a:p>
          <a:p>
            <a:pPr marL="342900" indent="-342900" defTabSz="121917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chemeClr val="bg1"/>
                </a:solidFill>
                <a:latin typeface="Pragmatica Extra Light" panose="020B0303040502020204" pitchFamily="34" charset="-52"/>
              </a:rPr>
              <a:t>Нет начальника, все члены команды равноправны</a:t>
            </a:r>
          </a:p>
          <a:p>
            <a:pPr marL="342900" indent="-342900" defTabSz="121917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Pragmatica Extra Light" panose="020B0303040502020204" pitchFamily="34" charset="-52"/>
              </a:rPr>
              <a:t>VIP</a:t>
            </a:r>
            <a:r>
              <a:rPr lang="ru-RU" sz="2000" b="0" dirty="0">
                <a:solidFill>
                  <a:schemeClr val="bg1"/>
                </a:solidFill>
                <a:latin typeface="Pragmatica Extra Light" panose="020B0303040502020204" pitchFamily="34" charset="-52"/>
              </a:rPr>
              <a:t>, Красная, Сиреневая, ГИС</a:t>
            </a:r>
            <a:endParaRPr lang="ru-RU" sz="2000" dirty="0">
              <a:solidFill>
                <a:schemeClr val="bg1"/>
              </a:solidFill>
              <a:latin typeface="Pragmatica Extra Light" panose="020B0303040502020204" pitchFamily="34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E0798-339F-DD2C-8220-CB5A31828D1F}"/>
              </a:ext>
            </a:extLst>
          </p:cNvPr>
          <p:cNvSpPr txBox="1"/>
          <p:nvPr/>
        </p:nvSpPr>
        <p:spPr>
          <a:xfrm>
            <a:off x="6350892" y="2701425"/>
            <a:ext cx="5752208" cy="33720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342900" indent="-342900" defTabSz="1219170">
              <a:lnSpc>
                <a:spcPts val="3700"/>
              </a:lnSpc>
              <a:buFont typeface="Arial" panose="020B0604020202020204" pitchFamily="34" charset="0"/>
              <a:buChar char="•"/>
              <a:defRPr sz="2000" b="0">
                <a:solidFill>
                  <a:schemeClr val="bg1"/>
                </a:solidFill>
                <a:latin typeface="Pragmatica Extra Light" panose="020B0303040502020204" pitchFamily="34" charset="-52"/>
              </a:defRPr>
            </a:lvl1pPr>
          </a:lstStyle>
          <a:p>
            <a:r>
              <a:rPr lang="ru-RU" dirty="0"/>
              <a:t>Сотрудники одной профессий</a:t>
            </a:r>
          </a:p>
          <a:p>
            <a:r>
              <a:rPr lang="ru-RU" dirty="0"/>
              <a:t>Административное подразделение</a:t>
            </a:r>
          </a:p>
          <a:p>
            <a:r>
              <a:rPr lang="ru-RU" dirty="0"/>
              <a:t>Сидят, обычно, в разных комнатах</a:t>
            </a:r>
          </a:p>
          <a:p>
            <a:r>
              <a:rPr lang="ru-RU" dirty="0"/>
              <a:t>Общаются, обычно, не регулярно</a:t>
            </a:r>
          </a:p>
          <a:p>
            <a:r>
              <a:rPr lang="ru-RU" dirty="0"/>
              <a:t>Работают над разными проектами</a:t>
            </a:r>
          </a:p>
          <a:p>
            <a:r>
              <a:rPr lang="ru-RU" dirty="0"/>
              <a:t>Есть руководитель отдела</a:t>
            </a:r>
          </a:p>
          <a:p>
            <a:r>
              <a:rPr lang="ru-RU" dirty="0"/>
              <a:t>Примеры: Конструкторское бюро, </a:t>
            </a:r>
            <a:r>
              <a:rPr lang="en-US" dirty="0"/>
              <a:t>QA</a:t>
            </a:r>
            <a:r>
              <a:rPr lang="ru-RU" dirty="0"/>
              <a:t> и </a:t>
            </a:r>
            <a:r>
              <a:rPr lang="ru-RU" dirty="0" err="1"/>
              <a:t>д.р</a:t>
            </a:r>
            <a:r>
              <a:rPr lang="ru-RU" dirty="0"/>
              <a:t>.</a:t>
            </a:r>
          </a:p>
        </p:txBody>
      </p:sp>
      <p:sp>
        <p:nvSpPr>
          <p:cNvPr id="12" name="Шестиугольник 11">
            <a:extLst>
              <a:ext uri="{FF2B5EF4-FFF2-40B4-BE49-F238E27FC236}">
                <a16:creationId xmlns:a16="http://schemas.microsoft.com/office/drawing/2014/main" id="{37EC247F-5449-6ADF-5C30-CBAE16018DB0}"/>
              </a:ext>
            </a:extLst>
          </p:cNvPr>
          <p:cNvSpPr/>
          <p:nvPr/>
        </p:nvSpPr>
        <p:spPr>
          <a:xfrm>
            <a:off x="6742117" y="2030467"/>
            <a:ext cx="3878258" cy="444064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857DC-F18A-0B79-548A-7786BBBCA94F}"/>
              </a:ext>
            </a:extLst>
          </p:cNvPr>
          <p:cNvSpPr txBox="1"/>
          <p:nvPr/>
        </p:nvSpPr>
        <p:spPr>
          <a:xfrm>
            <a:off x="6596484" y="2063797"/>
            <a:ext cx="4108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prstClr val="white"/>
                </a:solidFill>
                <a:latin typeface="Pragmatica Light" panose="020B0403040502020204" pitchFamily="34" charset="-52"/>
              </a:rPr>
              <a:t>ОТДЕЛ (РАСПРЕДЕЛЕННЫЙ)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КОМАНДЫ И ОТДЕЛЫ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56DA87F-0589-D8B5-8B0A-E00ABC39E4D5}"/>
              </a:ext>
            </a:extLst>
          </p:cNvPr>
          <p:cNvCxnSpPr>
            <a:cxnSpLocks/>
          </p:cNvCxnSpPr>
          <p:nvPr/>
        </p:nvCxnSpPr>
        <p:spPr>
          <a:xfrm>
            <a:off x="8396288" y="928684"/>
            <a:ext cx="254639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40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Шестиугольник 1">
            <a:extLst>
              <a:ext uri="{FF2B5EF4-FFF2-40B4-BE49-F238E27FC236}">
                <a16:creationId xmlns:a16="http://schemas.microsoft.com/office/drawing/2014/main" id="{30151F1D-9714-01D8-29AC-8D549BCA10A3}"/>
              </a:ext>
            </a:extLst>
          </p:cNvPr>
          <p:cNvSpPr/>
          <p:nvPr/>
        </p:nvSpPr>
        <p:spPr>
          <a:xfrm>
            <a:off x="2062791" y="2030467"/>
            <a:ext cx="3051701" cy="444064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9A176-DF8A-F458-99B9-F9B540A1F8DC}"/>
              </a:ext>
            </a:extLst>
          </p:cNvPr>
          <p:cNvSpPr txBox="1"/>
          <p:nvPr/>
        </p:nvSpPr>
        <p:spPr>
          <a:xfrm>
            <a:off x="2201268" y="1989831"/>
            <a:ext cx="2774746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РАСПРЕДЕЛЁННЫЕ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FF44B6B7-14E4-E17D-EF49-23CF4525B5D5}"/>
              </a:ext>
            </a:extLst>
          </p:cNvPr>
          <p:cNvCxnSpPr/>
          <p:nvPr/>
        </p:nvCxnSpPr>
        <p:spPr>
          <a:xfrm flipV="1">
            <a:off x="3526870" y="1310326"/>
            <a:ext cx="0" cy="72014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Шестиугольник 11">
            <a:extLst>
              <a:ext uri="{FF2B5EF4-FFF2-40B4-BE49-F238E27FC236}">
                <a16:creationId xmlns:a16="http://schemas.microsoft.com/office/drawing/2014/main" id="{37EC247F-5449-6ADF-5C30-CBAE16018DB0}"/>
              </a:ext>
            </a:extLst>
          </p:cNvPr>
          <p:cNvSpPr/>
          <p:nvPr/>
        </p:nvSpPr>
        <p:spPr>
          <a:xfrm>
            <a:off x="6742117" y="2030467"/>
            <a:ext cx="3878258" cy="444064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857DC-F18A-0B79-548A-7786BBBCA94F}"/>
              </a:ext>
            </a:extLst>
          </p:cNvPr>
          <p:cNvSpPr txBox="1"/>
          <p:nvPr/>
        </p:nvSpPr>
        <p:spPr>
          <a:xfrm>
            <a:off x="6626803" y="2086883"/>
            <a:ext cx="4108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КЛАССИЧЕСКИЕ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7FCA9-202C-9B69-A0E3-B9CCD9424F52}"/>
              </a:ext>
            </a:extLst>
          </p:cNvPr>
          <p:cNvSpPr txBox="1"/>
          <p:nvPr/>
        </p:nvSpPr>
        <p:spPr>
          <a:xfrm>
            <a:off x="588967" y="2584893"/>
            <a:ext cx="6153150" cy="33628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342900" marR="0" lvl="0" indent="-342900" defTabSz="1219170" fontAlgn="auto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Extra Light" panose="020B0303040502020204" pitchFamily="34" charset="-52"/>
              </a:defRPr>
            </a:lvl1pPr>
          </a:lstStyle>
          <a:p>
            <a:pPr marL="0" indent="0">
              <a:buNone/>
            </a:pPr>
            <a:r>
              <a:rPr lang="ru-RU" b="1" dirty="0"/>
              <a:t>Примеры:</a:t>
            </a:r>
          </a:p>
          <a:p>
            <a:r>
              <a:rPr lang="ru-RU" dirty="0"/>
              <a:t>Конструкторы</a:t>
            </a:r>
          </a:p>
          <a:p>
            <a:r>
              <a:rPr lang="ru-RU" dirty="0"/>
              <a:t>Программисты</a:t>
            </a:r>
          </a:p>
          <a:p>
            <a:r>
              <a:rPr lang="en-US" dirty="0"/>
              <a:t>QA</a:t>
            </a:r>
            <a:endParaRPr lang="ru-RU" dirty="0"/>
          </a:p>
          <a:p>
            <a:r>
              <a:rPr lang="ru-RU" dirty="0"/>
              <a:t>Электронщики</a:t>
            </a:r>
          </a:p>
          <a:p>
            <a:r>
              <a:rPr lang="ru-RU" dirty="0" err="1"/>
              <a:t>Тимдрайверы</a:t>
            </a:r>
            <a:endParaRPr lang="ru-RU" dirty="0"/>
          </a:p>
          <a:p>
            <a:r>
              <a:rPr lang="ru-RU" dirty="0"/>
              <a:t>Продакты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15741-2D68-577D-484D-06E656F3248B}"/>
              </a:ext>
            </a:extLst>
          </p:cNvPr>
          <p:cNvSpPr txBox="1"/>
          <p:nvPr/>
        </p:nvSpPr>
        <p:spPr>
          <a:xfrm>
            <a:off x="6342360" y="2598770"/>
            <a:ext cx="6153150" cy="19393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defTabSz="1219170" fontAlgn="auto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Extra Light" panose="020B0303040502020204" pitchFamily="34" charset="-52"/>
              </a:defRPr>
            </a:lvl1pPr>
          </a:lstStyle>
          <a:p>
            <a:r>
              <a:rPr lang="ru-RU" b="1" dirty="0"/>
              <a:t>Примеры: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Тех. писатели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Автоматизации (Стенды)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Отдел Снабжения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0CEA9879-D1BC-009F-7ADD-13E7E8B5BFE8}"/>
              </a:ext>
            </a:extLst>
          </p:cNvPr>
          <p:cNvCxnSpPr>
            <a:cxnSpLocks/>
          </p:cNvCxnSpPr>
          <p:nvPr/>
        </p:nvCxnSpPr>
        <p:spPr>
          <a:xfrm flipV="1">
            <a:off x="8650927" y="914400"/>
            <a:ext cx="0" cy="1116066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A7C1A30B-9683-DECC-81BE-E38108201227}"/>
              </a:ext>
            </a:extLst>
          </p:cNvPr>
          <p:cNvCxnSpPr>
            <a:cxnSpLocks/>
          </p:cNvCxnSpPr>
          <p:nvPr/>
        </p:nvCxnSpPr>
        <p:spPr>
          <a:xfrm>
            <a:off x="6342360" y="928684"/>
            <a:ext cx="2308567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ВИДЫ ОТДЕЛОВ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19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CF96889-181A-7EB9-EC16-BC937B369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10751803" y="1963749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КОМАНДА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982EF-7C1B-F78C-2A72-F7CF7C2AD763}"/>
              </a:ext>
            </a:extLst>
          </p:cNvPr>
          <p:cNvSpPr txBox="1"/>
          <p:nvPr/>
        </p:nvSpPr>
        <p:spPr>
          <a:xfrm>
            <a:off x="346070" y="4430965"/>
            <a:ext cx="9423664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Общая цель у команды - это не общий проект, </a:t>
            </a:r>
          </a:p>
          <a:p>
            <a:r>
              <a:rPr lang="ru-RU" dirty="0"/>
              <a:t>а общий продукт</a:t>
            </a:r>
            <a:r>
              <a:rPr lang="en-US" dirty="0"/>
              <a:t> - </a:t>
            </a:r>
            <a:r>
              <a:rPr lang="ru-RU" dirty="0" err="1"/>
              <a:t>Радиобарьер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132026-5C55-EC32-E653-EDC758C2A340}"/>
              </a:ext>
            </a:extLst>
          </p:cNvPr>
          <p:cNvSpPr txBox="1"/>
          <p:nvPr/>
        </p:nvSpPr>
        <p:spPr>
          <a:xfrm>
            <a:off x="346069" y="1711696"/>
            <a:ext cx="1074247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Группа людей, объединенная общей целью, действующая сообща, выполняющая различные задачи для её достижения и несущая ответственность за итоговый результат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2A514FD-6AA5-761B-4551-449D21AFF668}"/>
              </a:ext>
            </a:extLst>
          </p:cNvPr>
          <p:cNvCxnSpPr>
            <a:cxnSpLocks/>
          </p:cNvCxnSpPr>
          <p:nvPr/>
        </p:nvCxnSpPr>
        <p:spPr>
          <a:xfrm flipH="1">
            <a:off x="469900" y="4154732"/>
            <a:ext cx="2943383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69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28275" y="433759"/>
            <a:ext cx="1164122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800" dirty="0">
                <a:solidFill>
                  <a:prstClr val="white"/>
                </a:solidFill>
                <a:latin typeface="Impact" panose="020B0806030902050204" pitchFamily="34" charset="0"/>
              </a:rPr>
              <a:t>ОБЩАЯ ОТВЕТСТВЕННОСТЬ КОМАНДЫ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982EF-7C1B-F78C-2A72-F7CF7C2AD763}"/>
              </a:ext>
            </a:extLst>
          </p:cNvPr>
          <p:cNvSpPr txBox="1"/>
          <p:nvPr/>
        </p:nvSpPr>
        <p:spPr>
          <a:xfrm>
            <a:off x="2291156" y="3032316"/>
            <a:ext cx="3937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dirty="0">
                <a:solidFill>
                  <a:schemeClr val="bg1"/>
                </a:solidFill>
              </a:rPr>
              <a:t>Удовлетворенность заказчиков результатами работы команды</a:t>
            </a:r>
            <a:endParaRPr kumimoji="0" lang="ru-RU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19FCF-B224-991F-3FEF-8B8441CF08D9}"/>
              </a:ext>
            </a:extLst>
          </p:cNvPr>
          <p:cNvSpPr txBox="1"/>
          <p:nvPr/>
        </p:nvSpPr>
        <p:spPr>
          <a:xfrm>
            <a:off x="8328190" y="3309315"/>
            <a:ext cx="3937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dirty="0">
                <a:solidFill>
                  <a:schemeClr val="bg1"/>
                </a:solidFill>
              </a:rPr>
              <a:t>Соблюдение правил фреймворка</a:t>
            </a:r>
            <a:endParaRPr kumimoji="0" lang="ru-RU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C7420C-F4F6-AB10-BC71-FEF5707C2076}"/>
              </a:ext>
            </a:extLst>
          </p:cNvPr>
          <p:cNvSpPr txBox="1"/>
          <p:nvPr/>
        </p:nvSpPr>
        <p:spPr>
          <a:xfrm>
            <a:off x="805196" y="2114344"/>
            <a:ext cx="808095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3900" b="1" i="0" u="none" strike="noStrike" kern="1200" cap="none" spc="0" normalizeH="0" baseline="0" noProof="0" dirty="0">
                <a:ln w="38100">
                  <a:solidFill>
                    <a:srgbClr val="F26921"/>
                  </a:solidFill>
                </a:ln>
                <a:noFill/>
                <a:effectLst/>
                <a:uLnTx/>
                <a:uFillTx/>
                <a:latin typeface="Impact" panose="020B0806030902050204" pitchFamily="34" charset="0"/>
              </a:rPr>
              <a:t>1</a:t>
            </a:r>
            <a:endParaRPr lang="ru-RU" sz="23900" b="1" dirty="0">
              <a:ln w="38100">
                <a:solidFill>
                  <a:srgbClr val="F26921"/>
                </a:solidFill>
              </a:ln>
              <a:noFill/>
              <a:latin typeface="Impact" panose="020B080603090205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06C603-7F44-AC46-B003-32B5385936CC}"/>
              </a:ext>
            </a:extLst>
          </p:cNvPr>
          <p:cNvSpPr txBox="1"/>
          <p:nvPr/>
        </p:nvSpPr>
        <p:spPr>
          <a:xfrm>
            <a:off x="6658802" y="2114343"/>
            <a:ext cx="808095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3900" b="1" i="0" u="none" strike="noStrike" kern="1200" cap="none" spc="0" normalizeH="0" baseline="0" noProof="0" dirty="0">
                <a:ln w="38100">
                  <a:solidFill>
                    <a:srgbClr val="F26921"/>
                  </a:solidFill>
                </a:ln>
                <a:noFill/>
                <a:effectLst/>
                <a:uLnTx/>
                <a:uFillTx/>
                <a:latin typeface="Impact" panose="020B0806030902050204" pitchFamily="34" charset="0"/>
              </a:rPr>
              <a:t>2</a:t>
            </a:r>
            <a:endParaRPr lang="ru-RU" sz="23900" b="1" dirty="0">
              <a:ln w="38100">
                <a:solidFill>
                  <a:srgbClr val="F26921"/>
                </a:solidFill>
              </a:ln>
              <a:noFill/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668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20768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OKR </a:t>
            </a: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В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UNISCAN RESEARCH 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4CA98-B2E3-C1DD-BF58-0E6C74E787C7}"/>
              </a:ext>
            </a:extLst>
          </p:cNvPr>
          <p:cNvSpPr txBox="1"/>
          <p:nvPr/>
        </p:nvSpPr>
        <p:spPr>
          <a:xfrm>
            <a:off x="1768666" y="2006397"/>
            <a:ext cx="98322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ЭТО СИСТЕМА ПОСТАНОВКИ, СИНХРОНИЗАЦИИ И МОНИТОРИНГА ЦЕЛЕЙ И КЛЮЧЕВЫХ РЕЗУЛЬТАТОВ, ПОЗВОЛЯЮЩАЯ СОХРАНИТЬ ФОКУС РАБОТЫ, ПОДДЕРЖИВАТЬ КОММУНИКАЦИЮ СОТРУДНИКОВ И ОТСЛЕЖИВАТЬ ТЕКЩИЙ СТАТУС РАБОТ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22A0864-F1EA-E959-A084-7FC15E10DD27}"/>
              </a:ext>
            </a:extLst>
          </p:cNvPr>
          <p:cNvGrpSpPr/>
          <p:nvPr/>
        </p:nvGrpSpPr>
        <p:grpSpPr>
          <a:xfrm flipV="1">
            <a:off x="1075960" y="1343147"/>
            <a:ext cx="581484" cy="1289217"/>
            <a:chOff x="1112982" y="1646327"/>
            <a:chExt cx="419600" cy="720140"/>
          </a:xfrm>
        </p:grpSpPr>
        <p:cxnSp>
          <p:nvCxnSpPr>
            <p:cNvPr id="2" name="Прямая соединительная линия 1">
              <a:extLst>
                <a:ext uri="{FF2B5EF4-FFF2-40B4-BE49-F238E27FC236}">
                  <a16:creationId xmlns:a16="http://schemas.microsoft.com/office/drawing/2014/main" id="{DEE0085B-1183-394B-56C6-312A87DD90C3}"/>
                </a:ext>
              </a:extLst>
            </p:cNvPr>
            <p:cNvCxnSpPr>
              <a:cxnSpLocks/>
            </p:cNvCxnSpPr>
            <p:nvPr/>
          </p:nvCxnSpPr>
          <p:spPr>
            <a:xfrm>
              <a:off x="1112982" y="1659027"/>
              <a:ext cx="419600" cy="0"/>
            </a:xfrm>
            <a:prstGeom prst="line">
              <a:avLst/>
            </a:prstGeom>
            <a:ln w="28575">
              <a:solidFill>
                <a:srgbClr val="F269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57D0F704-26BF-1527-1310-9687CDBE5F7A}"/>
                </a:ext>
              </a:extLst>
            </p:cNvPr>
            <p:cNvCxnSpPr/>
            <p:nvPr/>
          </p:nvCxnSpPr>
          <p:spPr>
            <a:xfrm flipV="1">
              <a:off x="1112982" y="1646327"/>
              <a:ext cx="0" cy="720140"/>
            </a:xfrm>
            <a:prstGeom prst="line">
              <a:avLst/>
            </a:prstGeom>
            <a:ln w="28575">
              <a:solidFill>
                <a:srgbClr val="F269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1386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5099050" y="457755"/>
            <a:ext cx="19939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OKR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22A0864-F1EA-E959-A084-7FC15E10DD27}"/>
              </a:ext>
            </a:extLst>
          </p:cNvPr>
          <p:cNvGrpSpPr/>
          <p:nvPr/>
        </p:nvGrpSpPr>
        <p:grpSpPr>
          <a:xfrm flipV="1">
            <a:off x="3943350" y="1556481"/>
            <a:ext cx="1442417" cy="465049"/>
            <a:chOff x="-82872" y="1560899"/>
            <a:chExt cx="1040851" cy="259770"/>
          </a:xfrm>
        </p:grpSpPr>
        <p:cxnSp>
          <p:nvCxnSpPr>
            <p:cNvPr id="2" name="Прямая соединительная линия 1">
              <a:extLst>
                <a:ext uri="{FF2B5EF4-FFF2-40B4-BE49-F238E27FC236}">
                  <a16:creationId xmlns:a16="http://schemas.microsoft.com/office/drawing/2014/main" id="{DEE0085B-1183-394B-56C6-312A87DD90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82872" y="1560899"/>
              <a:ext cx="1040851" cy="5274"/>
            </a:xfrm>
            <a:prstGeom prst="line">
              <a:avLst/>
            </a:prstGeom>
            <a:ln w="28575">
              <a:solidFill>
                <a:srgbClr val="F269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57D0F704-26BF-1527-1310-9687CDBE5F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815" y="1560899"/>
              <a:ext cx="0" cy="259770"/>
            </a:xfrm>
            <a:prstGeom prst="line">
              <a:avLst/>
            </a:prstGeom>
            <a:ln w="28575">
              <a:solidFill>
                <a:srgbClr val="F269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CF7334B-53A6-E423-FE1B-4C5C46AF5551}"/>
              </a:ext>
            </a:extLst>
          </p:cNvPr>
          <p:cNvSpPr/>
          <p:nvPr/>
        </p:nvSpPr>
        <p:spPr>
          <a:xfrm>
            <a:off x="1935051" y="1803399"/>
            <a:ext cx="1982899" cy="461665"/>
          </a:xfrm>
          <a:prstGeom prst="rect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8B7A5-DE07-57C8-CA7A-05DBBEF173AC}"/>
              </a:ext>
            </a:extLst>
          </p:cNvPr>
          <p:cNvSpPr txBox="1"/>
          <p:nvPr/>
        </p:nvSpPr>
        <p:spPr>
          <a:xfrm>
            <a:off x="1909651" y="1816100"/>
            <a:ext cx="2808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OBJECTIVES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AD4FC5A6-1ED6-84B3-0E86-03B50E1C3F2E}"/>
              </a:ext>
            </a:extLst>
          </p:cNvPr>
          <p:cNvGrpSpPr/>
          <p:nvPr/>
        </p:nvGrpSpPr>
        <p:grpSpPr>
          <a:xfrm flipH="1" flipV="1">
            <a:off x="6506004" y="1572441"/>
            <a:ext cx="1455118" cy="465049"/>
            <a:chOff x="-92037" y="1560899"/>
            <a:chExt cx="1050016" cy="259770"/>
          </a:xfrm>
        </p:grpSpPr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84B7FAE-DC3A-496D-10BD-DD71EDC422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92037" y="1566173"/>
              <a:ext cx="1050016" cy="0"/>
            </a:xfrm>
            <a:prstGeom prst="line">
              <a:avLst/>
            </a:prstGeom>
            <a:ln w="28575">
              <a:solidFill>
                <a:srgbClr val="F269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49629E23-9807-2D4B-6318-DD88C776A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815" y="1560899"/>
              <a:ext cx="0" cy="259770"/>
            </a:xfrm>
            <a:prstGeom prst="line">
              <a:avLst/>
            </a:prstGeom>
            <a:ln w="28575">
              <a:solidFill>
                <a:srgbClr val="F269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BDA76EE-4F0E-BBF8-081C-3E5A11B74D87}"/>
              </a:ext>
            </a:extLst>
          </p:cNvPr>
          <p:cNvSpPr/>
          <p:nvPr/>
        </p:nvSpPr>
        <p:spPr>
          <a:xfrm>
            <a:off x="7999223" y="1793240"/>
            <a:ext cx="2148078" cy="461665"/>
          </a:xfrm>
          <a:prstGeom prst="rect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04AFAA-2F4E-AC71-FF96-97DD27AFEF0A}"/>
              </a:ext>
            </a:extLst>
          </p:cNvPr>
          <p:cNvSpPr txBox="1"/>
          <p:nvPr/>
        </p:nvSpPr>
        <p:spPr>
          <a:xfrm>
            <a:off x="7973822" y="1805941"/>
            <a:ext cx="2808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KEY RESULTS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908185-95A1-2696-AA4C-E4E8B50F5314}"/>
              </a:ext>
            </a:extLst>
          </p:cNvPr>
          <p:cNvSpPr txBox="1"/>
          <p:nvPr/>
        </p:nvSpPr>
        <p:spPr>
          <a:xfrm>
            <a:off x="1832166" y="2473753"/>
            <a:ext cx="376853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АМБИЦИОЗНАЯ ЦЕЛЬ, КОТОРУЮ ВЫ ХОТИТЕ ДОСТИЧЬ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ОНА НАПРАВЛЯЕТ И ВДОХНОВЛЯЕТ КОМАНДУ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A866A3-5A51-859B-88C6-7A49A74E6786}"/>
              </a:ext>
            </a:extLst>
          </p:cNvPr>
          <p:cNvSpPr txBox="1"/>
          <p:nvPr/>
        </p:nvSpPr>
        <p:spPr>
          <a:xfrm>
            <a:off x="6759766" y="2473753"/>
            <a:ext cx="376853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НАБОР ИЗМЕРИМЫХ ПОКАЗАТЕЛЕЙ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ПОКАЗЫВАЮТ ПРОГРЕСС В ДОСТИЖЕНИИ ЦЕЛИ</a:t>
            </a:r>
          </a:p>
        </p:txBody>
      </p:sp>
    </p:spTree>
    <p:extLst>
      <p:ext uri="{BB962C8B-B14F-4D97-AF65-F5344CB8AC3E}">
        <p14:creationId xmlns:p14="http://schemas.microsoft.com/office/powerpoint/2010/main" val="18672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20768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OKR </a:t>
            </a: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В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R&amp;D UNISCAN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230BE-28DC-085E-E5A3-0DC12367A0C2}"/>
              </a:ext>
            </a:extLst>
          </p:cNvPr>
          <p:cNvSpPr txBox="1"/>
          <p:nvPr/>
        </p:nvSpPr>
        <p:spPr>
          <a:xfrm>
            <a:off x="2206625" y="1986260"/>
            <a:ext cx="8753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УВЕЛИЧИТЬ ПРОИЗВОДИТЕЛЬНОСТЬ СИСТЕМЫ R’N’D ВНУТРИ И НА СТЫКЕ С ДРУГИМИ ПОДРАЗДЕЛЕНИЯМИ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88F52-7556-F04E-B973-5D8F88DB76FE}"/>
              </a:ext>
            </a:extLst>
          </p:cNvPr>
          <p:cNvSpPr txBox="1"/>
          <p:nvPr/>
        </p:nvSpPr>
        <p:spPr>
          <a:xfrm>
            <a:off x="2206624" y="3521987"/>
            <a:ext cx="9174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УВЕЛИЧИТЬ ПРИБЫЛЬНОСТЬ КОМПАНИИ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55C91-84C9-BDAA-9FB6-4662615F79E6}"/>
              </a:ext>
            </a:extLst>
          </p:cNvPr>
          <p:cNvSpPr txBox="1"/>
          <p:nvPr/>
        </p:nvSpPr>
        <p:spPr>
          <a:xfrm>
            <a:off x="2206624" y="4767602"/>
            <a:ext cx="9326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НАЛАЖЕНЫ ПРОЗРАЧНЫЕ ПРОЦЕССЫ РАБОТЫ С КАЧЕСТВОМ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0A260-0B82-F92D-2E12-BABD7107B824}"/>
              </a:ext>
            </a:extLst>
          </p:cNvPr>
          <p:cNvSpPr txBox="1"/>
          <p:nvPr/>
        </p:nvSpPr>
        <p:spPr>
          <a:xfrm>
            <a:off x="1127707" y="1490394"/>
            <a:ext cx="56748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1</a:t>
            </a:r>
            <a:endParaRPr kumimoji="0" lang="ru-RU" sz="72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CDE41A-EC87-BE34-43C8-4DE5CC2E2553}"/>
              </a:ext>
            </a:extLst>
          </p:cNvPr>
          <p:cNvSpPr txBox="1"/>
          <p:nvPr/>
        </p:nvSpPr>
        <p:spPr>
          <a:xfrm>
            <a:off x="1127707" y="2868364"/>
            <a:ext cx="56748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2</a:t>
            </a:r>
            <a:endParaRPr kumimoji="0" lang="ru-RU" sz="72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E1113-ECFE-5406-0DE5-0EF5914AA37E}"/>
              </a:ext>
            </a:extLst>
          </p:cNvPr>
          <p:cNvSpPr txBox="1"/>
          <p:nvPr/>
        </p:nvSpPr>
        <p:spPr>
          <a:xfrm>
            <a:off x="1138088" y="4233634"/>
            <a:ext cx="56748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3</a:t>
            </a:r>
            <a:endParaRPr kumimoji="0" lang="ru-RU" sz="72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9254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20768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7200" dirty="0">
                <a:solidFill>
                  <a:prstClr val="white"/>
                </a:solidFill>
                <a:latin typeface="Impact" panose="020B0806030902050204" pitchFamily="34" charset="0"/>
              </a:rPr>
              <a:t>ПРИМЕР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KR 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230BE-28DC-085E-E5A3-0DC12367A0C2}"/>
              </a:ext>
            </a:extLst>
          </p:cNvPr>
          <p:cNvSpPr txBox="1"/>
          <p:nvPr/>
        </p:nvSpPr>
        <p:spPr>
          <a:xfrm>
            <a:off x="1717738" y="1804449"/>
            <a:ext cx="8753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УВЕЛИЧИТЬ ПРОИЗВОДИТЕЛЬНОСТЬ СИСТЕМЫ R’N’D ВНУТРИ И НА СТЫКЕ С ДРУГИМИ ПОДРАЗДЕЛЕНИЯМИ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0A260-0B82-F92D-2E12-BABD7107B824}"/>
              </a:ext>
            </a:extLst>
          </p:cNvPr>
          <p:cNvSpPr txBox="1"/>
          <p:nvPr/>
        </p:nvSpPr>
        <p:spPr>
          <a:xfrm>
            <a:off x="1469470" y="3293041"/>
            <a:ext cx="56748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1 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CDE41A-EC87-BE34-43C8-4DE5CC2E2553}"/>
              </a:ext>
            </a:extLst>
          </p:cNvPr>
          <p:cNvSpPr txBox="1"/>
          <p:nvPr/>
        </p:nvSpPr>
        <p:spPr>
          <a:xfrm>
            <a:off x="1469468" y="4305943"/>
            <a:ext cx="56748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2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E1113-ECFE-5406-0DE5-0EF5914AA37E}"/>
              </a:ext>
            </a:extLst>
          </p:cNvPr>
          <p:cNvSpPr txBox="1"/>
          <p:nvPr/>
        </p:nvSpPr>
        <p:spPr>
          <a:xfrm>
            <a:off x="1469467" y="5318845"/>
            <a:ext cx="56748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3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3F995-B657-E5C8-F704-6F5E8CAA10EA}"/>
              </a:ext>
            </a:extLst>
          </p:cNvPr>
          <p:cNvSpPr txBox="1"/>
          <p:nvPr/>
        </p:nvSpPr>
        <p:spPr>
          <a:xfrm>
            <a:off x="2206623" y="3357325"/>
            <a:ext cx="8515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ПРОСТОИ ВНЕДРЕНИЯ ИЗ-ЗА R’N’D НЕ ПРЕВЫШАЮТ 5 РАБОЧИХ ДНЕЙ ПО КАЖДОМУ ИЗ ПРОЕКТОВ В 80% СЛУЧАЕВ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628BDA-CBBD-3E47-6B28-F5DFB28FC8EB}"/>
              </a:ext>
            </a:extLst>
          </p:cNvPr>
          <p:cNvSpPr txBox="1"/>
          <p:nvPr/>
        </p:nvSpPr>
        <p:spPr>
          <a:xfrm>
            <a:off x="2206622" y="4421359"/>
            <a:ext cx="8515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ЗАПУСК ВНЕДРЕНИЯ С ПЕРВОГО РАЗА В 90% ПРОЕКТОВ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C5E793-9080-9D84-E94F-AE43A98EC948}"/>
              </a:ext>
            </a:extLst>
          </p:cNvPr>
          <p:cNvSpPr txBox="1"/>
          <p:nvPr/>
        </p:nvSpPr>
        <p:spPr>
          <a:xfrm>
            <a:off x="2206622" y="5318845"/>
            <a:ext cx="8613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СООТНОШЕНИЕ ОБЕЩАННЫХ/ВЫПОЛНЕННЫХ </a:t>
            </a:r>
            <a:r>
              <a:rPr lang="ru-RU" sz="1800" dirty="0">
                <a:solidFill>
                  <a:prstClr val="white"/>
                </a:solidFill>
                <a:latin typeface="Pragmatica Light" panose="020B0403040502020204" pitchFamily="34" charset="-52"/>
              </a:rPr>
              <a:t>ЗАДАЧ К СРОКАМ РЕЛИЗА СОСТАВЛЯЕТ 80%</a:t>
            </a:r>
          </a:p>
        </p:txBody>
      </p:sp>
    </p:spTree>
    <p:extLst>
      <p:ext uri="{BB962C8B-B14F-4D97-AF65-F5344CB8AC3E}">
        <p14:creationId xmlns:p14="http://schemas.microsoft.com/office/powerpoint/2010/main" val="325231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0BC5E578-019F-81D5-0DDA-64D58989E722}"/>
              </a:ext>
            </a:extLst>
          </p:cNvPr>
          <p:cNvSpPr txBox="1"/>
          <p:nvPr/>
        </p:nvSpPr>
        <p:spPr>
          <a:xfrm>
            <a:off x="212497" y="2643304"/>
            <a:ext cx="11528421" cy="15713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UNISCRUM </a:t>
            </a:r>
            <a:r>
              <a:rPr kumimoji="0" lang="en-US" sz="104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TEAM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7E95E8-C887-D1DE-E9FA-B2F689DB559B}"/>
              </a:ext>
            </a:extLst>
          </p:cNvPr>
          <p:cNvSpPr/>
          <p:nvPr/>
        </p:nvSpPr>
        <p:spPr>
          <a:xfrm>
            <a:off x="229463" y="192024"/>
            <a:ext cx="11750040" cy="6473952"/>
          </a:xfrm>
          <a:prstGeom prst="rect">
            <a:avLst/>
          </a:prstGeom>
          <a:solidFill>
            <a:schemeClr val="tx1">
              <a:alpha val="50000"/>
            </a:schemeClr>
          </a:solidFill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E7D64-5C18-ADA3-2D19-7DE26FFDBCFC}"/>
              </a:ext>
            </a:extLst>
          </p:cNvPr>
          <p:cNvSpPr txBox="1"/>
          <p:nvPr/>
        </p:nvSpPr>
        <p:spPr>
          <a:xfrm>
            <a:off x="4440783" y="616064"/>
            <a:ext cx="3327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ВКЛЮЧАЕТ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rPr>
              <a:t>6-7 ИНЖЕНЕРОВ-РАЗРАБОТЧИКОВ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rPr>
              <a:t> 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agmatica Light" panose="020B0403040502020204" pitchFamily="34" charset="-52"/>
              </a:rPr>
              <a:t>1 PRODUCT OWNER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1 TEAMDRIVER</a:t>
            </a:r>
            <a:endParaRPr kumimoji="0" lang="ru-RU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</a:endParaRPr>
          </a:p>
        </p:txBody>
      </p:sp>
      <p:pic>
        <p:nvPicPr>
          <p:cNvPr id="32" name="Рисунок 3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394932E-B879-0DB6-0963-01827EC54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813" y="2681404"/>
            <a:ext cx="892263" cy="13383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F4A0FF-E613-2309-052A-8907CD287A56}"/>
              </a:ext>
            </a:extLst>
          </p:cNvPr>
          <p:cNvSpPr txBox="1"/>
          <p:nvPr/>
        </p:nvSpPr>
        <p:spPr>
          <a:xfrm>
            <a:off x="880353" y="4764606"/>
            <a:ext cx="30820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ВСЕ ЧЛЕНЫ КОМАНДЫ (КРОМЕ </a:t>
            </a:r>
            <a:r>
              <a:rPr lang="en-US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PO</a:t>
            </a:r>
            <a:r>
              <a:rPr lang="ru-RU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 и </a:t>
            </a:r>
            <a:r>
              <a:rPr lang="en-US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TD</a:t>
            </a: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) НАХОДЯТСЯ В ОДНОЙ КОМНАТЕ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C871C4-338E-28FD-111A-BE3E9EDE0BD4}"/>
              </a:ext>
            </a:extLst>
          </p:cNvPr>
          <p:cNvSpPr txBox="1"/>
          <p:nvPr/>
        </p:nvSpPr>
        <p:spPr>
          <a:xfrm>
            <a:off x="8255000" y="769954"/>
            <a:ext cx="31540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ВСЕ РАВНОПРАВНЫ.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КОМАНДА ПРИНИМАЕТ РЕШЕНИЯ И ОТВЕЧАЕТ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ЗА НИХ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E0269-60A9-FC39-178C-7370398B95E5}"/>
              </a:ext>
            </a:extLst>
          </p:cNvPr>
          <p:cNvSpPr txBox="1"/>
          <p:nvPr/>
        </p:nvSpPr>
        <p:spPr>
          <a:xfrm>
            <a:off x="4554976" y="4918493"/>
            <a:ext cx="30820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ИСПОЛЬЗУЕТ В РАБОТЕ </a:t>
            </a:r>
            <a:r>
              <a:rPr lang="en-US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AGILE-</a:t>
            </a: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ПРАКТИКИ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6DD88-B35A-CB92-084D-8B4C7073DA95}"/>
              </a:ext>
            </a:extLst>
          </p:cNvPr>
          <p:cNvSpPr txBox="1"/>
          <p:nvPr/>
        </p:nvSpPr>
        <p:spPr>
          <a:xfrm>
            <a:off x="8400077" y="4762501"/>
            <a:ext cx="308204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ЗАНИМАЕТСЯ РАЗВИТИЕМ (ТЕХНОЛОГИИ, ПРОЦЕССЫ, ОТНОШЕНИЯ)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8DF9C-36B3-A7C2-8C9A-ADC0CE753C4D}"/>
              </a:ext>
            </a:extLst>
          </p:cNvPr>
          <p:cNvSpPr txBox="1"/>
          <p:nvPr/>
        </p:nvSpPr>
        <p:spPr>
          <a:xfrm>
            <a:off x="782924" y="923841"/>
            <a:ext cx="3327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agmatica Light" panose="020B0403040502020204" pitchFamily="34" charset="-52"/>
              </a:rPr>
              <a:t>ЦЕЛЬ: СОЗДА</a:t>
            </a: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НИЕ ЦЕННОГО ДЛЯ КЛИЕНТА ПРОДУКТА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В СРОК</a:t>
            </a:r>
            <a:endParaRPr kumimoji="0" lang="ru-RU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33228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797885A1-9A43-324B-481B-93BE1228C51B}"/>
              </a:ext>
            </a:extLst>
          </p:cNvPr>
          <p:cNvCxnSpPr>
            <a:cxnSpLocks/>
          </p:cNvCxnSpPr>
          <p:nvPr/>
        </p:nvCxnSpPr>
        <p:spPr>
          <a:xfrm>
            <a:off x="9977628" y="1108564"/>
            <a:ext cx="229514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>
            <a:extLst>
              <a:ext uri="{FF2B5EF4-FFF2-40B4-BE49-F238E27FC236}">
                <a16:creationId xmlns:a16="http://schemas.microsoft.com/office/drawing/2014/main" id="{CCF3B33D-03C2-0A8E-A899-901CAEE59314}"/>
              </a:ext>
            </a:extLst>
          </p:cNvPr>
          <p:cNvSpPr/>
          <p:nvPr/>
        </p:nvSpPr>
        <p:spPr>
          <a:xfrm>
            <a:off x="2092158" y="3133613"/>
            <a:ext cx="2160000" cy="2160000"/>
          </a:xfrm>
          <a:prstGeom prst="ellipse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Параллелограмм 8">
            <a:extLst>
              <a:ext uri="{FF2B5EF4-FFF2-40B4-BE49-F238E27FC236}">
                <a16:creationId xmlns:a16="http://schemas.microsoft.com/office/drawing/2014/main" id="{8B31B1C4-E603-F9AE-1BEA-B2792C77392A}"/>
              </a:ext>
            </a:extLst>
          </p:cNvPr>
          <p:cNvSpPr/>
          <p:nvPr/>
        </p:nvSpPr>
        <p:spPr>
          <a:xfrm>
            <a:off x="4541403" y="1318857"/>
            <a:ext cx="8412281" cy="3941065"/>
          </a:xfrm>
          <a:prstGeom prst="parallelogram">
            <a:avLst/>
          </a:prstGeom>
          <a:solidFill>
            <a:srgbClr val="F26921">
              <a:alpha val="88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2D24B8-7CCC-1748-4B73-CBBA817C2229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E1D08-8F5F-9476-384F-603A6467C875}"/>
              </a:ext>
            </a:extLst>
          </p:cNvPr>
          <p:cNvSpPr txBox="1"/>
          <p:nvPr/>
        </p:nvSpPr>
        <p:spPr>
          <a:xfrm>
            <a:off x="412021" y="2022964"/>
            <a:ext cx="51131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dirty="0">
                <a:solidFill>
                  <a:schemeClr val="bg1"/>
                </a:solidFill>
              </a:rPr>
              <a:t>ОБЩЕЕ КОМАНДНОЕ РЕШЕНИЕ</a:t>
            </a:r>
            <a:endParaRPr kumimoji="0" lang="ru-RU" sz="5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B4F80-C68E-0E5C-396E-F6F1AFA1E519}"/>
              </a:ext>
            </a:extLst>
          </p:cNvPr>
          <p:cNvSpPr txBox="1"/>
          <p:nvPr/>
        </p:nvSpPr>
        <p:spPr>
          <a:xfrm>
            <a:off x="5586398" y="1306100"/>
            <a:ext cx="6591728" cy="6655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>
              <a:lnSpc>
                <a:spcPts val="5000"/>
              </a:lnSpc>
            </a:pPr>
            <a:r>
              <a:rPr lang="ru-RU" dirty="0"/>
              <a:t>Найм новых сотрудников в команду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8398B71A-A36C-46D9-AE6B-CE6F1D4D9F4A}"/>
              </a:ext>
            </a:extLst>
          </p:cNvPr>
          <p:cNvCxnSpPr>
            <a:cxnSpLocks/>
          </p:cNvCxnSpPr>
          <p:nvPr/>
        </p:nvCxnSpPr>
        <p:spPr>
          <a:xfrm>
            <a:off x="5312664" y="2022964"/>
            <a:ext cx="18470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C2B1906-DB45-6369-0176-80C367D7FFC4}"/>
              </a:ext>
            </a:extLst>
          </p:cNvPr>
          <p:cNvCxnSpPr>
            <a:cxnSpLocks/>
          </p:cNvCxnSpPr>
          <p:nvPr/>
        </p:nvCxnSpPr>
        <p:spPr>
          <a:xfrm>
            <a:off x="5047488" y="3327508"/>
            <a:ext cx="211226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AAE93CCE-1053-F047-F854-A908F8BB0593}"/>
              </a:ext>
            </a:extLst>
          </p:cNvPr>
          <p:cNvCxnSpPr>
            <a:cxnSpLocks/>
          </p:cNvCxnSpPr>
          <p:nvPr/>
        </p:nvCxnSpPr>
        <p:spPr>
          <a:xfrm>
            <a:off x="4864608" y="3967588"/>
            <a:ext cx="229514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9C71576-CBCC-C47D-0656-EC24A4E22BC0}"/>
              </a:ext>
            </a:extLst>
          </p:cNvPr>
          <p:cNvSpPr txBox="1"/>
          <p:nvPr/>
        </p:nvSpPr>
        <p:spPr>
          <a:xfrm>
            <a:off x="5525197" y="3913531"/>
            <a:ext cx="649681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>
              <a:lnSpc>
                <a:spcPct val="150000"/>
              </a:lnSpc>
            </a:pPr>
            <a:r>
              <a:rPr lang="ru-RU" dirty="0"/>
              <a:t>Обсуждение новых технических решений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DEE52C-5786-1040-E903-BB85CC790663}"/>
              </a:ext>
            </a:extLst>
          </p:cNvPr>
          <p:cNvSpPr txBox="1"/>
          <p:nvPr/>
        </p:nvSpPr>
        <p:spPr>
          <a:xfrm>
            <a:off x="5530978" y="2031691"/>
            <a:ext cx="6496812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>
              <a:lnSpc>
                <a:spcPct val="150000"/>
              </a:lnSpc>
            </a:pPr>
            <a:r>
              <a:rPr lang="ru-RU" dirty="0"/>
              <a:t>Согласование отпусков, </a:t>
            </a:r>
          </a:p>
          <a:p>
            <a:pPr>
              <a:lnSpc>
                <a:spcPct val="150000"/>
              </a:lnSpc>
            </a:pPr>
            <a:r>
              <a:rPr lang="ru-RU" dirty="0"/>
              <a:t>поездок на обучение и пр.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1A42C6-28EE-D8AC-1CCE-E24ACB2A6048}"/>
              </a:ext>
            </a:extLst>
          </p:cNvPr>
          <p:cNvSpPr txBox="1"/>
          <p:nvPr/>
        </p:nvSpPr>
        <p:spPr>
          <a:xfrm>
            <a:off x="5530978" y="3196759"/>
            <a:ext cx="6496812" cy="6655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Переходы сотрудников между командами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AB806C3-FBD1-82AD-5BBE-A8EDA81C9063}"/>
              </a:ext>
            </a:extLst>
          </p:cNvPr>
          <p:cNvCxnSpPr>
            <a:cxnSpLocks/>
          </p:cNvCxnSpPr>
          <p:nvPr/>
        </p:nvCxnSpPr>
        <p:spPr>
          <a:xfrm>
            <a:off x="4165092" y="5500732"/>
            <a:ext cx="229514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BC37D70-094A-166A-1F58-85CA8B7646D1}"/>
              </a:ext>
            </a:extLst>
          </p:cNvPr>
          <p:cNvCxnSpPr>
            <a:cxnSpLocks/>
          </p:cNvCxnSpPr>
          <p:nvPr/>
        </p:nvCxnSpPr>
        <p:spPr>
          <a:xfrm flipV="1">
            <a:off x="4179785" y="4295142"/>
            <a:ext cx="376311" cy="120559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257621F-2258-AC5B-1F33-9C93769A7305}"/>
              </a:ext>
            </a:extLst>
          </p:cNvPr>
          <p:cNvSpPr txBox="1"/>
          <p:nvPr/>
        </p:nvSpPr>
        <p:spPr>
          <a:xfrm>
            <a:off x="5539890" y="4553610"/>
            <a:ext cx="649681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>
              <a:lnSpc>
                <a:spcPct val="150000"/>
              </a:lnSpc>
            </a:pPr>
            <a:r>
              <a:rPr lang="ru-RU" dirty="0"/>
              <a:t>Улучшение рабочих процессов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9C261C8-A897-B12D-A551-C2DCB276B0D6}"/>
              </a:ext>
            </a:extLst>
          </p:cNvPr>
          <p:cNvCxnSpPr>
            <a:cxnSpLocks/>
          </p:cNvCxnSpPr>
          <p:nvPr/>
        </p:nvCxnSpPr>
        <p:spPr>
          <a:xfrm>
            <a:off x="4737608" y="4608287"/>
            <a:ext cx="229514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302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D6BADB-A1DC-F947-AB95-82D83833667A}"/>
              </a:ext>
            </a:extLst>
          </p:cNvPr>
          <p:cNvSpPr txBox="1"/>
          <p:nvPr/>
        </p:nvSpPr>
        <p:spPr>
          <a:xfrm>
            <a:off x="212497" y="2643304"/>
            <a:ext cx="11528421" cy="15713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UNISCRUM </a:t>
            </a:r>
            <a:r>
              <a:rPr kumimoji="0" lang="en-US" sz="104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TEAM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7E95E8-C887-D1DE-E9FA-B2F689DB559B}"/>
              </a:ext>
            </a:extLst>
          </p:cNvPr>
          <p:cNvSpPr/>
          <p:nvPr/>
        </p:nvSpPr>
        <p:spPr>
          <a:xfrm>
            <a:off x="229463" y="192024"/>
            <a:ext cx="11750040" cy="6473952"/>
          </a:xfrm>
          <a:prstGeom prst="rect">
            <a:avLst/>
          </a:prstGeom>
          <a:solidFill>
            <a:schemeClr val="tx1">
              <a:alpha val="79000"/>
            </a:schemeClr>
          </a:solidFill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E7D64-5C18-ADA3-2D19-7DE26FFDBCFC}"/>
              </a:ext>
            </a:extLst>
          </p:cNvPr>
          <p:cNvSpPr txBox="1"/>
          <p:nvPr/>
        </p:nvSpPr>
        <p:spPr>
          <a:xfrm>
            <a:off x="8780397" y="1111297"/>
            <a:ext cx="3607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>
                <a:solidFill>
                  <a:schemeClr val="bg1"/>
                </a:solidFill>
                <a:latin typeface="Pragmatica Light" panose="020B0403040502020204" pitchFamily="34" charset="-52"/>
              </a:rPr>
              <a:t>КРАСНАЯ КОМАНДА</a:t>
            </a:r>
            <a:endParaRPr kumimoji="0" lang="ru-RU" sz="4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4DA28-E07D-F85E-F276-AC8100A74B0D}"/>
              </a:ext>
            </a:extLst>
          </p:cNvPr>
          <p:cNvSpPr txBox="1"/>
          <p:nvPr/>
        </p:nvSpPr>
        <p:spPr>
          <a:xfrm>
            <a:off x="7515434" y="4202797"/>
            <a:ext cx="3607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dirty="0">
                <a:solidFill>
                  <a:schemeClr val="bg1"/>
                </a:solidFill>
                <a:latin typeface="Pragmatica Light" panose="020B0403040502020204" pitchFamily="34" charset="-52"/>
              </a:rPr>
              <a:t>СИРЕНЕВАЯ КОМАНДА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49B63-EAFC-B848-FDE3-0EBBB62AA143}"/>
              </a:ext>
            </a:extLst>
          </p:cNvPr>
          <p:cNvSpPr txBox="1"/>
          <p:nvPr/>
        </p:nvSpPr>
        <p:spPr>
          <a:xfrm>
            <a:off x="4019877" y="1467818"/>
            <a:ext cx="36075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VIP TEAM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AD7140-03EC-80B4-D57A-1C0F7D8F544E}"/>
              </a:ext>
            </a:extLst>
          </p:cNvPr>
          <p:cNvSpPr txBox="1"/>
          <p:nvPr/>
        </p:nvSpPr>
        <p:spPr>
          <a:xfrm>
            <a:off x="2750420" y="4238549"/>
            <a:ext cx="27008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КОМАНДА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ГИС</a:t>
            </a:r>
          </a:p>
        </p:txBody>
      </p:sp>
      <p:sp>
        <p:nvSpPr>
          <p:cNvPr id="16" name="Шестиугольник 15">
            <a:extLst>
              <a:ext uri="{FF2B5EF4-FFF2-40B4-BE49-F238E27FC236}">
                <a16:creationId xmlns:a16="http://schemas.microsoft.com/office/drawing/2014/main" id="{7F0E55A5-8DF1-466C-C848-860438193EAC}"/>
              </a:ext>
            </a:extLst>
          </p:cNvPr>
          <p:cNvSpPr/>
          <p:nvPr/>
        </p:nvSpPr>
        <p:spPr>
          <a:xfrm>
            <a:off x="2105530" y="934731"/>
            <a:ext cx="1800000" cy="1800000"/>
          </a:xfrm>
          <a:prstGeom prst="hexagon">
            <a:avLst/>
          </a:prstGeom>
          <a:solidFill>
            <a:schemeClr val="bg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22" name="Шестиугольник 21">
            <a:extLst>
              <a:ext uri="{FF2B5EF4-FFF2-40B4-BE49-F238E27FC236}">
                <a16:creationId xmlns:a16="http://schemas.microsoft.com/office/drawing/2014/main" id="{CE0EFF09-5C85-D94F-A206-0D72E03120F6}"/>
              </a:ext>
            </a:extLst>
          </p:cNvPr>
          <p:cNvSpPr/>
          <p:nvPr/>
        </p:nvSpPr>
        <p:spPr>
          <a:xfrm>
            <a:off x="5583350" y="3964517"/>
            <a:ext cx="1800000" cy="1800000"/>
          </a:xfrm>
          <a:prstGeom prst="hexagon">
            <a:avLst/>
          </a:prstGeom>
          <a:solidFill>
            <a:srgbClr val="C8A2C8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23" name="Шестиугольник 22">
            <a:extLst>
              <a:ext uri="{FF2B5EF4-FFF2-40B4-BE49-F238E27FC236}">
                <a16:creationId xmlns:a16="http://schemas.microsoft.com/office/drawing/2014/main" id="{F3E06E65-7E02-F933-81F6-5BB56A35ABDB}"/>
              </a:ext>
            </a:extLst>
          </p:cNvPr>
          <p:cNvSpPr/>
          <p:nvPr/>
        </p:nvSpPr>
        <p:spPr>
          <a:xfrm>
            <a:off x="6866050" y="873017"/>
            <a:ext cx="1800000" cy="1800000"/>
          </a:xfrm>
          <a:prstGeom prst="hexagon">
            <a:avLst/>
          </a:prstGeom>
          <a:solidFill>
            <a:schemeClr val="bg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24" name="Шестиугольник 23">
            <a:extLst>
              <a:ext uri="{FF2B5EF4-FFF2-40B4-BE49-F238E27FC236}">
                <a16:creationId xmlns:a16="http://schemas.microsoft.com/office/drawing/2014/main" id="{D96892A3-B746-D503-1124-BFC9C5110BDC}"/>
              </a:ext>
            </a:extLst>
          </p:cNvPr>
          <p:cNvSpPr/>
          <p:nvPr/>
        </p:nvSpPr>
        <p:spPr>
          <a:xfrm>
            <a:off x="818337" y="3964517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Pragmatica Light" panose="020B0403040502020204" pitchFamily="34" charset="-52"/>
            </a:endParaRPr>
          </a:p>
        </p:txBody>
      </p:sp>
      <p:pic>
        <p:nvPicPr>
          <p:cNvPr id="8" name="Рисунок 7" descr="Изображение выглядит как графическая вставка, круг, Графика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F005521A-00B0-43BA-6F36-71DA970D5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5000" y1="61898" x2="55797" y2="57385"/>
                        <a14:foregroundMark x1="52817" y1="74256" x2="54070" y2="67163"/>
                        <a14:foregroundMark x1="51691" y1="80630" x2="51876" y2="79582"/>
                        <a14:foregroundMark x1="51932" y1="67070" x2="53504" y2="65337"/>
                        <a14:foregroundMark x1="42615" y1="71881" x2="41546" y2="71429"/>
                        <a14:foregroundMark x1="42754" y1="88620" x2="59420" y2="85956"/>
                        <a14:foregroundMark x1="59179" y1="87167" x2="39855" y2="86925"/>
                        <a14:backgroundMark x1="53285" y1="63811" x2="49758" y2="63196"/>
                        <a14:backgroundMark x1="55314" y1="64165" x2="54507" y2="64024"/>
                        <a14:backgroundMark x1="51691" y1="76029" x2="53140" y2="76029"/>
                        <a14:backgroundMark x1="42995" y1="71671" x2="44928" y2="74818"/>
                        <a14:backgroundMark x1="51932" y1="76029" x2="46860" y2="76271"/>
                        <a14:backgroundMark x1="56522" y1="64891" x2="52415" y2="631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122" y="1049034"/>
            <a:ext cx="1575198" cy="1571393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круг, Графика, графическая вставк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3F821253-CA52-295D-7D20-0D36DF7703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199" y="1092550"/>
            <a:ext cx="1392049" cy="1323439"/>
          </a:xfrm>
          <a:prstGeom prst="rect">
            <a:avLst/>
          </a:prstGeom>
        </p:spPr>
      </p:pic>
      <p:pic>
        <p:nvPicPr>
          <p:cNvPr id="9" name="Рисунок 8" descr="Изображение выглядит как одежда, Человеческое лицо, человек, концерт&#10;&#10;Автоматически созданное описание">
            <a:extLst>
              <a:ext uri="{FF2B5EF4-FFF2-40B4-BE49-F238E27FC236}">
                <a16:creationId xmlns:a16="http://schemas.microsoft.com/office/drawing/2014/main" id="{6EB6DBB0-4AD5-2369-09D6-1BA9B54EAD9B}"/>
              </a:ext>
            </a:extLst>
          </p:cNvPr>
          <p:cNvPicPr>
            <a:picLocks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95" t="49400" r="27343"/>
          <a:stretch/>
        </p:blipFill>
        <p:spPr>
          <a:xfrm>
            <a:off x="818337" y="3965592"/>
            <a:ext cx="1800000" cy="1800000"/>
          </a:xfrm>
          <a:prstGeom prst="hexagon">
            <a:avLst/>
          </a:prstGeom>
        </p:spPr>
      </p:pic>
    </p:spTree>
    <p:extLst>
      <p:ext uri="{BB962C8B-B14F-4D97-AF65-F5344CB8AC3E}">
        <p14:creationId xmlns:p14="http://schemas.microsoft.com/office/powerpoint/2010/main" val="3881052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0BC5E578-019F-81D5-0DDA-64D58989E722}"/>
              </a:ext>
            </a:extLst>
          </p:cNvPr>
          <p:cNvSpPr txBox="1"/>
          <p:nvPr/>
        </p:nvSpPr>
        <p:spPr>
          <a:xfrm>
            <a:off x="-41503" y="2643304"/>
            <a:ext cx="11528421" cy="15713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DEVELOPMENT </a:t>
            </a:r>
            <a:r>
              <a:rPr kumimoji="0" lang="en-US" sz="104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TEAM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7E95E8-C887-D1DE-E9FA-B2F689DB559B}"/>
              </a:ext>
            </a:extLst>
          </p:cNvPr>
          <p:cNvSpPr/>
          <p:nvPr/>
        </p:nvSpPr>
        <p:spPr>
          <a:xfrm>
            <a:off x="212497" y="192024"/>
            <a:ext cx="11750040" cy="6473952"/>
          </a:xfrm>
          <a:prstGeom prst="rect">
            <a:avLst/>
          </a:prstGeom>
          <a:solidFill>
            <a:schemeClr val="tx1">
              <a:alpha val="50000"/>
            </a:schemeClr>
          </a:solidFill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E7D64-5C18-ADA3-2D19-7DE26FFDBCFC}"/>
              </a:ext>
            </a:extLst>
          </p:cNvPr>
          <p:cNvSpPr txBox="1"/>
          <p:nvPr/>
        </p:nvSpPr>
        <p:spPr>
          <a:xfrm>
            <a:off x="532460" y="909833"/>
            <a:ext cx="51902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ЦЕЛЬ: БЫСТРО И КАЧЕСТВЕННО РАЗРАБОТАТЬ ПРОДУКТ УЧИТЫВАЯ ТРЕБОВАНИЯ </a:t>
            </a:r>
            <a:r>
              <a:rPr lang="en-US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PO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pic>
        <p:nvPicPr>
          <p:cNvPr id="32" name="Рисунок 3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394932E-B879-0DB6-0963-01827EC54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013" y="2681404"/>
            <a:ext cx="892263" cy="13383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F4A0FF-E613-2309-052A-8907CD287A56}"/>
              </a:ext>
            </a:extLst>
          </p:cNvPr>
          <p:cNvSpPr txBox="1"/>
          <p:nvPr/>
        </p:nvSpPr>
        <p:spPr>
          <a:xfrm>
            <a:off x="7764966" y="4624728"/>
            <a:ext cx="308204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ВЫБИРАЕТ ТЕХНИЧЕСКИЕ РЕШЕНИЯ ЗАДАЧ И НЕСЁТ ЗА НИХ ОТВЕТСТВЕННОСТЬ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C871C4-338E-28FD-111A-BE3E9EDE0BD4}"/>
              </a:ext>
            </a:extLst>
          </p:cNvPr>
          <p:cNvSpPr txBox="1"/>
          <p:nvPr/>
        </p:nvSpPr>
        <p:spPr>
          <a:xfrm>
            <a:off x="751810" y="4898015"/>
            <a:ext cx="3843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РАСПРЕДЕЛЯЕТ ЗАДАЧИ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ВНУТРИ КОМАНДЫ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A95BC-BFB9-F715-303B-2F8BBCA46685}"/>
              </a:ext>
            </a:extLst>
          </p:cNvPr>
          <p:cNvSpPr txBox="1"/>
          <p:nvPr/>
        </p:nvSpPr>
        <p:spPr>
          <a:xfrm>
            <a:off x="5795577" y="909833"/>
            <a:ext cx="61912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ОПРЕДЕЛЯЕТ КОЛИЧЕСТВО РАБОТЫ, КОТОРОЕ  СМОЖЕТ ВЫПОЛНИТЬ С ВЫСОКИМ КАЧЕСТВОМ 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И СКОРОСТЬЮ</a:t>
            </a:r>
          </a:p>
        </p:txBody>
      </p:sp>
    </p:spTree>
    <p:extLst>
      <p:ext uri="{BB962C8B-B14F-4D97-AF65-F5344CB8AC3E}">
        <p14:creationId xmlns:p14="http://schemas.microsoft.com/office/powerpoint/2010/main" val="3451157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0BC5E578-019F-81D5-0DDA-64D58989E722}"/>
              </a:ext>
            </a:extLst>
          </p:cNvPr>
          <p:cNvSpPr txBox="1"/>
          <p:nvPr/>
        </p:nvSpPr>
        <p:spPr>
          <a:xfrm>
            <a:off x="123597" y="2643304"/>
            <a:ext cx="11528421" cy="15713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400" dirty="0">
                <a:solidFill>
                  <a:prstClr val="white"/>
                </a:solidFill>
                <a:latin typeface="Impact" panose="020B0806030902050204" pitchFamily="34" charset="0"/>
              </a:rPr>
              <a:t>PRODUCT </a:t>
            </a:r>
            <a:r>
              <a:rPr lang="en-US" sz="10400" dirty="0">
                <a:solidFill>
                  <a:srgbClr val="F26921"/>
                </a:solidFill>
                <a:latin typeface="Impact" panose="020B0806030902050204" pitchFamily="34" charset="0"/>
              </a:rPr>
              <a:t>OWNER</a:t>
            </a:r>
            <a:endParaRPr kumimoji="0" lang="en-US" sz="104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7E95E8-C887-D1DE-E9FA-B2F689DB559B}"/>
              </a:ext>
            </a:extLst>
          </p:cNvPr>
          <p:cNvSpPr/>
          <p:nvPr/>
        </p:nvSpPr>
        <p:spPr>
          <a:xfrm>
            <a:off x="212497" y="192024"/>
            <a:ext cx="11750040" cy="6473952"/>
          </a:xfrm>
          <a:prstGeom prst="rect">
            <a:avLst/>
          </a:prstGeom>
          <a:solidFill>
            <a:schemeClr val="tx1">
              <a:alpha val="50000"/>
            </a:schemeClr>
          </a:solidFill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E7D64-5C18-ADA3-2D19-7DE26FFDBCFC}"/>
              </a:ext>
            </a:extLst>
          </p:cNvPr>
          <p:cNvSpPr txBox="1"/>
          <p:nvPr/>
        </p:nvSpPr>
        <p:spPr>
          <a:xfrm>
            <a:off x="1001051" y="850009"/>
            <a:ext cx="26817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ОТВЕЧАЕТ ЗА СОЗДАНИЕ ПРОДУКТА НУЖНОГО КЛИЕНТУ</a:t>
            </a:r>
          </a:p>
        </p:txBody>
      </p:sp>
      <p:pic>
        <p:nvPicPr>
          <p:cNvPr id="32" name="Рисунок 3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394932E-B879-0DB6-0963-01827EC54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113" y="2668704"/>
            <a:ext cx="892263" cy="13383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F4A0FF-E613-2309-052A-8907CD287A56}"/>
              </a:ext>
            </a:extLst>
          </p:cNvPr>
          <p:cNvSpPr txBox="1"/>
          <p:nvPr/>
        </p:nvSpPr>
        <p:spPr>
          <a:xfrm>
            <a:off x="8441328" y="4684551"/>
            <a:ext cx="308204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ОДИН </a:t>
            </a:r>
            <a:r>
              <a:rPr lang="en-US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PO</a:t>
            </a:r>
            <a:r>
              <a:rPr lang="en-US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 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МОЖЕТ БЫТЬ В НЕСКОЛЬКИХ КОМАНДАХ. ВСЕ </a:t>
            </a:r>
            <a:r>
              <a:rPr lang="en-US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PO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 НАХОДЯТСЯ В ОДНОМ КАБИНЕТЕ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C871C4-338E-28FD-111A-BE3E9EDE0BD4}"/>
              </a:ext>
            </a:extLst>
          </p:cNvPr>
          <p:cNvSpPr txBox="1"/>
          <p:nvPr/>
        </p:nvSpPr>
        <p:spPr>
          <a:xfrm>
            <a:off x="911169" y="4992328"/>
            <a:ext cx="32187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ЗНАЕТ СИЛЬНЫЕ И СЛАБЫЕ СТОРОНЫ ПРОДУКТА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6DD88-B35A-CB92-084D-8B4C7073DA95}"/>
              </a:ext>
            </a:extLst>
          </p:cNvPr>
          <p:cNvSpPr txBox="1"/>
          <p:nvPr/>
        </p:nvSpPr>
        <p:spPr>
          <a:xfrm>
            <a:off x="8441329" y="850009"/>
            <a:ext cx="30820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ДОНОСИТ КАРТУ РАЗВИТИЯ ПРОДУКТА КОМАНДЕ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A95BC-BFB9-F715-303B-2F8BBCA46685}"/>
              </a:ext>
            </a:extLst>
          </p:cNvPr>
          <p:cNvSpPr txBox="1"/>
          <p:nvPr/>
        </p:nvSpPr>
        <p:spPr>
          <a:xfrm>
            <a:off x="4364051" y="850009"/>
            <a:ext cx="33418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ОБЩАЕТСЯ С ЗАКАЗЧИКАМИ И КЛИЕНТАМИ. ДЕТАЛЬНО ЗНАЕТ ИНТЕРЕСЫ КЛИЕНТОВ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D448B-9C51-026E-ACB5-DB5187A281BA}"/>
              </a:ext>
            </a:extLst>
          </p:cNvPr>
          <p:cNvSpPr txBox="1"/>
          <p:nvPr/>
        </p:nvSpPr>
        <p:spPr>
          <a:xfrm>
            <a:off x="4364051" y="4992328"/>
            <a:ext cx="3843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УЧАСТВУЕТ В ПРИОРИТЕЗАЦИИ ПРОЕКТОВ В ОЧЕРЕДИ</a:t>
            </a:r>
          </a:p>
        </p:txBody>
      </p:sp>
    </p:spTree>
    <p:extLst>
      <p:ext uri="{BB962C8B-B14F-4D97-AF65-F5344CB8AC3E}">
        <p14:creationId xmlns:p14="http://schemas.microsoft.com/office/powerpoint/2010/main" val="1592678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0BC5E578-019F-81D5-0DDA-64D58989E722}"/>
              </a:ext>
            </a:extLst>
          </p:cNvPr>
          <p:cNvSpPr txBox="1"/>
          <p:nvPr/>
        </p:nvSpPr>
        <p:spPr>
          <a:xfrm>
            <a:off x="123597" y="2643304"/>
            <a:ext cx="11528421" cy="15713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400" dirty="0">
                <a:solidFill>
                  <a:schemeClr val="bg1"/>
                </a:solidFill>
                <a:latin typeface="Impact" panose="020B0806030902050204" pitchFamily="34" charset="0"/>
              </a:rPr>
              <a:t>TEAM</a:t>
            </a:r>
            <a:r>
              <a:rPr lang="en-US" sz="10400" dirty="0">
                <a:solidFill>
                  <a:srgbClr val="F26921"/>
                </a:solidFill>
                <a:latin typeface="Impact" panose="020B0806030902050204" pitchFamily="34" charset="0"/>
              </a:rPr>
              <a:t>DRIVER</a:t>
            </a:r>
            <a:endParaRPr kumimoji="0" lang="en-US" sz="104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7E95E8-C887-D1DE-E9FA-B2F689DB559B}"/>
              </a:ext>
            </a:extLst>
          </p:cNvPr>
          <p:cNvSpPr/>
          <p:nvPr/>
        </p:nvSpPr>
        <p:spPr>
          <a:xfrm>
            <a:off x="212497" y="192024"/>
            <a:ext cx="11750040" cy="6473952"/>
          </a:xfrm>
          <a:prstGeom prst="rect">
            <a:avLst/>
          </a:prstGeom>
          <a:solidFill>
            <a:schemeClr val="tx1">
              <a:alpha val="50000"/>
            </a:schemeClr>
          </a:solidFill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E7D64-5C18-ADA3-2D19-7DE26FFDBCFC}"/>
              </a:ext>
            </a:extLst>
          </p:cNvPr>
          <p:cNvSpPr txBox="1"/>
          <p:nvPr/>
        </p:nvSpPr>
        <p:spPr>
          <a:xfrm>
            <a:off x="443727" y="969655"/>
            <a:ext cx="39275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УСТРАНЯЕТ ПРЕПЯТСТВИЯ И ОГРАНИЧЕНИЯ ВЛИЯЮЩИЕ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НА КОМАНДУ</a:t>
            </a:r>
          </a:p>
        </p:txBody>
      </p:sp>
      <p:pic>
        <p:nvPicPr>
          <p:cNvPr id="32" name="Рисунок 3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394932E-B879-0DB6-0963-01827EC54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013" y="2668704"/>
            <a:ext cx="892263" cy="13383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F4A0FF-E613-2309-052A-8907CD287A56}"/>
              </a:ext>
            </a:extLst>
          </p:cNvPr>
          <p:cNvSpPr txBox="1"/>
          <p:nvPr/>
        </p:nvSpPr>
        <p:spPr>
          <a:xfrm>
            <a:off x="8482120" y="4993217"/>
            <a:ext cx="30820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НАХОДИТСЯ ВМЕСТЕ </a:t>
            </a:r>
          </a:p>
          <a:p>
            <a:r>
              <a:rPr lang="ru-RU" dirty="0"/>
              <a:t>С КОМАНДОЙ*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C871C4-338E-28FD-111A-BE3E9EDE0BD4}"/>
              </a:ext>
            </a:extLst>
          </p:cNvPr>
          <p:cNvSpPr txBox="1"/>
          <p:nvPr/>
        </p:nvSpPr>
        <p:spPr>
          <a:xfrm>
            <a:off x="598732" y="4992327"/>
            <a:ext cx="36175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prstClr val="white"/>
                </a:solidFill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ПОМОГАЕТ СОБЛЮДАТЬ И ОСВАИВАТЬ ВНУТРЕННИЕ ПРАВИЛА КОМПАНИИ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6DD88-B35A-CB92-084D-8B4C7073DA95}"/>
              </a:ext>
            </a:extLst>
          </p:cNvPr>
          <p:cNvSpPr txBox="1"/>
          <p:nvPr/>
        </p:nvSpPr>
        <p:spPr>
          <a:xfrm>
            <a:off x="8512190" y="960960"/>
            <a:ext cx="30820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ФОКУСИРУЕТ НА ПРИОРИТЕТНЫХ ЗАДАЧАХ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A95BC-BFB9-F715-303B-2F8BBCA46685}"/>
              </a:ext>
            </a:extLst>
          </p:cNvPr>
          <p:cNvSpPr txBox="1"/>
          <p:nvPr/>
        </p:nvSpPr>
        <p:spPr>
          <a:xfrm>
            <a:off x="4690382" y="958843"/>
            <a:ext cx="33418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prstClr val="white"/>
                </a:solidFill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ПОМОГАЕТ КОМАНДЕ ЭФФЕКТИВНЕЙ РАБОТАТЬ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D448B-9C51-026E-ACB5-DB5187A281BA}"/>
              </a:ext>
            </a:extLst>
          </p:cNvPr>
          <p:cNvSpPr txBox="1"/>
          <p:nvPr/>
        </p:nvSpPr>
        <p:spPr>
          <a:xfrm>
            <a:off x="4305143" y="4993217"/>
            <a:ext cx="3843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ОДИН </a:t>
            </a:r>
            <a:r>
              <a:rPr lang="en-US" dirty="0"/>
              <a:t>TD </a:t>
            </a:r>
            <a:r>
              <a:rPr lang="ru-RU" dirty="0"/>
              <a:t>МОЖЕТ БЫТЬ В НЕСКОЛЬКИХ КОМАНДАХ</a:t>
            </a:r>
          </a:p>
        </p:txBody>
      </p:sp>
    </p:spTree>
    <p:extLst>
      <p:ext uri="{BB962C8B-B14F-4D97-AF65-F5344CB8AC3E}">
        <p14:creationId xmlns:p14="http://schemas.microsoft.com/office/powerpoint/2010/main" val="3031496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2944810" y="1997839"/>
            <a:ext cx="46640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7200" dirty="0">
                <a:solidFill>
                  <a:prstClr val="black"/>
                </a:solidFill>
                <a:latin typeface="Impact" panose="020B0806030902050204" pitchFamily="34" charset="0"/>
              </a:rPr>
              <a:t>ДРУГИЕ РОЛИ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в </a:t>
            </a:r>
            <a:r>
              <a:rPr lang="en-US" sz="3200" dirty="0" err="1">
                <a:solidFill>
                  <a:prstClr val="black"/>
                </a:solidFill>
                <a:latin typeface="Impact" panose="020B0806030902050204" pitchFamily="34" charset="0"/>
              </a:rPr>
              <a:t>RnD</a:t>
            </a:r>
            <a:r>
              <a:rPr lang="en-US" sz="3200" dirty="0">
                <a:solidFill>
                  <a:prstClr val="black"/>
                </a:solidFill>
                <a:latin typeface="Impact" panose="020B0806030902050204" pitchFamily="34" charset="0"/>
              </a:rPr>
              <a:t> </a:t>
            </a:r>
            <a:r>
              <a:rPr lang="ru-RU" sz="3200" dirty="0">
                <a:solidFill>
                  <a:prstClr val="black"/>
                </a:solidFill>
                <a:latin typeface="Impact" panose="020B0806030902050204" pitchFamily="34" charset="0"/>
              </a:rPr>
              <a:t>подразделении</a:t>
            </a:r>
            <a:endParaRPr kumimoji="0" lang="ru-RU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pic>
        <p:nvPicPr>
          <p:cNvPr id="9" name="Рисунок 8" descr="Изображение выглядит как диаграмма, многоугольник&#10;&#10;Автоматически созданное описание">
            <a:extLst>
              <a:ext uri="{FF2B5EF4-FFF2-40B4-BE49-F238E27FC236}">
                <a16:creationId xmlns:a16="http://schemas.microsoft.com/office/drawing/2014/main" id="{79A6D5E2-B35A-D748-06A1-DF1372FBE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17" y="847725"/>
            <a:ext cx="293179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01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041E4FF-B730-34A0-87B7-533149E51056}"/>
              </a:ext>
            </a:extLst>
          </p:cNvPr>
          <p:cNvSpPr/>
          <p:nvPr/>
        </p:nvSpPr>
        <p:spPr>
          <a:xfrm>
            <a:off x="212497" y="192024"/>
            <a:ext cx="11750040" cy="6473952"/>
          </a:xfrm>
          <a:prstGeom prst="rect">
            <a:avLst/>
          </a:prstGeom>
          <a:solidFill>
            <a:schemeClr val="tx1">
              <a:alpha val="50000"/>
            </a:schemeClr>
          </a:solidFill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E7D64-5C18-ADA3-2D19-7DE26FFDBCFC}"/>
              </a:ext>
            </a:extLst>
          </p:cNvPr>
          <p:cNvSpPr txBox="1"/>
          <p:nvPr/>
        </p:nvSpPr>
        <p:spPr>
          <a:xfrm>
            <a:off x="1635947" y="4109954"/>
            <a:ext cx="36075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РУКОВОДИТЕЛЬ</a:t>
            </a:r>
            <a:endParaRPr lang="en-US" sz="28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AGILE </a:t>
            </a:r>
            <a:r>
              <a:rPr lang="ru-RU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ОТДЕЛА</a:t>
            </a:r>
          </a:p>
        </p:txBody>
      </p:sp>
      <p:pic>
        <p:nvPicPr>
          <p:cNvPr id="32" name="Рисунок 3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394932E-B879-0DB6-0963-01827EC54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868" y="4698330"/>
            <a:ext cx="892263" cy="13383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6D2279-DBFC-7053-0FF9-4A968346441D}"/>
              </a:ext>
            </a:extLst>
          </p:cNvPr>
          <p:cNvSpPr txBox="1"/>
          <p:nvPr/>
        </p:nvSpPr>
        <p:spPr>
          <a:xfrm>
            <a:off x="1479369" y="5396573"/>
            <a:ext cx="39206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ЧЕР</a:t>
            </a:r>
            <a:r>
              <a:rPr lang="ru-RU" sz="2800" dirty="0">
                <a:solidFill>
                  <a:schemeClr val="bg1"/>
                </a:solidFill>
                <a:latin typeface="Pragmatica Light" panose="020B0403040502020204" pitchFamily="34" charset="-52"/>
              </a:rPr>
              <a:t>ВЯКОВ АЛЕКСАНДР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60F94328-FB85-37C1-083E-ACEADA324182}"/>
              </a:ext>
            </a:extLst>
          </p:cNvPr>
          <p:cNvCxnSpPr>
            <a:cxnSpLocks/>
          </p:cNvCxnSpPr>
          <p:nvPr/>
        </p:nvCxnSpPr>
        <p:spPr>
          <a:xfrm>
            <a:off x="2503638" y="5242583"/>
            <a:ext cx="174223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7811AEE-3CE6-CE80-3895-4E673DE77D39}"/>
              </a:ext>
            </a:extLst>
          </p:cNvPr>
          <p:cNvCxnSpPr>
            <a:cxnSpLocks/>
          </p:cNvCxnSpPr>
          <p:nvPr/>
        </p:nvCxnSpPr>
        <p:spPr>
          <a:xfrm flipH="1">
            <a:off x="4529999" y="1503734"/>
            <a:ext cx="3059488" cy="541856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CB75EC5-D71D-86B4-91C1-4D17FDFD1796}"/>
              </a:ext>
            </a:extLst>
          </p:cNvPr>
          <p:cNvCxnSpPr>
            <a:cxnSpLocks/>
          </p:cNvCxnSpPr>
          <p:nvPr/>
        </p:nvCxnSpPr>
        <p:spPr>
          <a:xfrm flipH="1" flipV="1">
            <a:off x="4530000" y="2504212"/>
            <a:ext cx="3059488" cy="54402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DC5A8A9-88F1-D9F5-10BF-1A7E06AB56A8}"/>
              </a:ext>
            </a:extLst>
          </p:cNvPr>
          <p:cNvGrpSpPr/>
          <p:nvPr/>
        </p:nvGrpSpPr>
        <p:grpSpPr>
          <a:xfrm>
            <a:off x="7476984" y="783734"/>
            <a:ext cx="1566000" cy="1440000"/>
            <a:chOff x="5612374" y="347260"/>
            <a:chExt cx="1900930" cy="1800000"/>
          </a:xfrm>
        </p:grpSpPr>
        <p:sp>
          <p:nvSpPr>
            <p:cNvPr id="17" name="Шестиугольник 16">
              <a:extLst>
                <a:ext uri="{FF2B5EF4-FFF2-40B4-BE49-F238E27FC236}">
                  <a16:creationId xmlns:a16="http://schemas.microsoft.com/office/drawing/2014/main" id="{A23B498B-71E5-58F1-2149-88E59EEEE1BD}"/>
                </a:ext>
              </a:extLst>
            </p:cNvPr>
            <p:cNvSpPr/>
            <p:nvPr/>
          </p:nvSpPr>
          <p:spPr>
            <a:xfrm>
              <a:off x="5662840" y="347260"/>
              <a:ext cx="1800000" cy="180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522F4F-53CA-9A78-3A50-BC3A7CA30B65}"/>
                </a:ext>
              </a:extLst>
            </p:cNvPr>
            <p:cNvSpPr txBox="1"/>
            <p:nvPr/>
          </p:nvSpPr>
          <p:spPr>
            <a:xfrm>
              <a:off x="5612374" y="1013046"/>
              <a:ext cx="1900930" cy="4424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Отдел </a:t>
              </a:r>
              <a:r>
                <a:rPr kumimoji="0" 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PO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E8513779-AB5B-734F-89C2-ADF6E5552416}"/>
              </a:ext>
            </a:extLst>
          </p:cNvPr>
          <p:cNvGrpSpPr/>
          <p:nvPr/>
        </p:nvGrpSpPr>
        <p:grpSpPr>
          <a:xfrm>
            <a:off x="7476984" y="2319746"/>
            <a:ext cx="1566000" cy="1440000"/>
            <a:chOff x="5612374" y="347260"/>
            <a:chExt cx="1900930" cy="1800000"/>
          </a:xfrm>
        </p:grpSpPr>
        <p:sp>
          <p:nvSpPr>
            <p:cNvPr id="21" name="Шестиугольник 20">
              <a:extLst>
                <a:ext uri="{FF2B5EF4-FFF2-40B4-BE49-F238E27FC236}">
                  <a16:creationId xmlns:a16="http://schemas.microsoft.com/office/drawing/2014/main" id="{C41C78BB-8556-BBF6-AA97-0474EB473D19}"/>
                </a:ext>
              </a:extLst>
            </p:cNvPr>
            <p:cNvSpPr/>
            <p:nvPr/>
          </p:nvSpPr>
          <p:spPr>
            <a:xfrm>
              <a:off x="5662840" y="347260"/>
              <a:ext cx="1800000" cy="180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6626DCD-ACCF-1F3C-496E-8B6570236D4D}"/>
                </a:ext>
              </a:extLst>
            </p:cNvPr>
            <p:cNvSpPr txBox="1"/>
            <p:nvPr/>
          </p:nvSpPr>
          <p:spPr>
            <a:xfrm>
              <a:off x="5612374" y="1013046"/>
              <a:ext cx="1900930" cy="4424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Отдел </a:t>
              </a:r>
              <a:r>
                <a:rPr lang="en-US" sz="1700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TD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94B388C-EF18-3883-D9B7-72A081EA4CA5}"/>
              </a:ext>
            </a:extLst>
          </p:cNvPr>
          <p:cNvSpPr txBox="1"/>
          <p:nvPr/>
        </p:nvSpPr>
        <p:spPr>
          <a:xfrm>
            <a:off x="6791951" y="4103911"/>
            <a:ext cx="39206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ГАШНИКОВ АНДРЕЙ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 -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PO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dirty="0">
                <a:solidFill>
                  <a:schemeClr val="bg1"/>
                </a:solidFill>
                <a:latin typeface="Pragmatica Light" panose="020B0403040502020204" pitchFamily="34" charset="-52"/>
              </a:rPr>
              <a:t>ЗАХАРОВ АНТОН</a:t>
            </a:r>
            <a:r>
              <a:rPr lang="en-US" sz="2800" dirty="0">
                <a:solidFill>
                  <a:schemeClr val="bg1"/>
                </a:solidFill>
                <a:latin typeface="Pragmatica Light" panose="020B0403040502020204" pitchFamily="34" charset="-52"/>
              </a:rPr>
              <a:t> - </a:t>
            </a:r>
            <a:r>
              <a:rPr lang="en-US" sz="2800" dirty="0">
                <a:solidFill>
                  <a:srgbClr val="F26921"/>
                </a:solidFill>
                <a:latin typeface="Pragmatica Light" panose="020B0403040502020204" pitchFamily="34" charset="-52"/>
              </a:rPr>
              <a:t>PO</a:t>
            </a:r>
            <a:endParaRPr lang="ru-RU" sz="2800" dirty="0">
              <a:solidFill>
                <a:srgbClr val="F26921"/>
              </a:solidFill>
              <a:latin typeface="Pragmatica Light" panose="020B0403040502020204" pitchFamily="34" charset="-5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dirty="0">
                <a:solidFill>
                  <a:schemeClr val="bg1"/>
                </a:solidFill>
                <a:latin typeface="Pragmatica Light" panose="020B0403040502020204" pitchFamily="34" charset="-52"/>
              </a:rPr>
              <a:t>ТИМОШОК АНТОН - </a:t>
            </a:r>
            <a:r>
              <a:rPr lang="en-US" sz="2800" dirty="0">
                <a:solidFill>
                  <a:srgbClr val="F26921"/>
                </a:solidFill>
                <a:latin typeface="Pragmatica Light" panose="020B0403040502020204" pitchFamily="34" charset="-52"/>
              </a:rPr>
              <a:t>TD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8437807-857F-D3E5-66A4-CC6213300792}"/>
              </a:ext>
            </a:extLst>
          </p:cNvPr>
          <p:cNvGrpSpPr/>
          <p:nvPr/>
        </p:nvGrpSpPr>
        <p:grpSpPr>
          <a:xfrm>
            <a:off x="2333443" y="1100928"/>
            <a:ext cx="2340000" cy="2340000"/>
            <a:chOff x="2838634" y="1484405"/>
            <a:chExt cx="2340000" cy="2340000"/>
          </a:xfrm>
        </p:grpSpPr>
        <p:sp>
          <p:nvSpPr>
            <p:cNvPr id="27" name="Шестиугольник 26">
              <a:extLst>
                <a:ext uri="{FF2B5EF4-FFF2-40B4-BE49-F238E27FC236}">
                  <a16:creationId xmlns:a16="http://schemas.microsoft.com/office/drawing/2014/main" id="{BC73A0F5-8B71-9F9C-6999-1C4967C039D8}"/>
                </a:ext>
              </a:extLst>
            </p:cNvPr>
            <p:cNvSpPr/>
            <p:nvPr/>
          </p:nvSpPr>
          <p:spPr>
            <a:xfrm>
              <a:off x="2838634" y="1484405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F1C24A-DB40-3778-45BB-AE611562F4DC}"/>
                </a:ext>
              </a:extLst>
            </p:cNvPr>
            <p:cNvSpPr txBox="1"/>
            <p:nvPr/>
          </p:nvSpPr>
          <p:spPr>
            <a:xfrm>
              <a:off x="3018634" y="2388212"/>
              <a:ext cx="1980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AGILE</a:t>
              </a:r>
              <a:r>
                <a:rPr lang="en-US" sz="2400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-</a:t>
              </a:r>
              <a:r>
                <a:rPr lang="ru-RU" sz="2400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ОТДЕЛ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5716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800" dirty="0">
                <a:solidFill>
                  <a:prstClr val="white"/>
                </a:solidFill>
                <a:latin typeface="Impact" panose="020B0806030902050204" pitchFamily="34" charset="0"/>
              </a:rPr>
              <a:t>РУКОВОДИТЕЛЬ РАСПРЕДЕЛЁННОГО ОТДЕЛА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A8CC93D-9C9D-0757-913B-A32AC3515EE6}"/>
              </a:ext>
            </a:extLst>
          </p:cNvPr>
          <p:cNvGrpSpPr/>
          <p:nvPr/>
        </p:nvGrpSpPr>
        <p:grpSpPr>
          <a:xfrm>
            <a:off x="7046590" y="2562032"/>
            <a:ext cx="2340000" cy="2340000"/>
            <a:chOff x="4629098" y="2682750"/>
            <a:chExt cx="2340000" cy="2340000"/>
          </a:xfrm>
        </p:grpSpPr>
        <p:sp>
          <p:nvSpPr>
            <p:cNvPr id="20" name="Шестиугольник 19">
              <a:extLst>
                <a:ext uri="{FF2B5EF4-FFF2-40B4-BE49-F238E27FC236}">
                  <a16:creationId xmlns:a16="http://schemas.microsoft.com/office/drawing/2014/main" id="{EBB97CA4-98D7-D44C-00B3-4515884DDE20}"/>
                </a:ext>
              </a:extLst>
            </p:cNvPr>
            <p:cNvSpPr/>
            <p:nvPr/>
          </p:nvSpPr>
          <p:spPr>
            <a:xfrm>
              <a:off x="4629098" y="2682750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628548-7787-7D05-F539-E92871DBE919}"/>
                </a:ext>
              </a:extLst>
            </p:cNvPr>
            <p:cNvSpPr txBox="1"/>
            <p:nvPr/>
          </p:nvSpPr>
          <p:spPr>
            <a:xfrm>
              <a:off x="4792276" y="3239406"/>
              <a:ext cx="201364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Оценка и развитие сотрудников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0326B62-817A-F68D-61BA-D2511D71A8F4}"/>
              </a:ext>
            </a:extLst>
          </p:cNvPr>
          <p:cNvGrpSpPr/>
          <p:nvPr/>
        </p:nvGrpSpPr>
        <p:grpSpPr>
          <a:xfrm>
            <a:off x="5256126" y="1363687"/>
            <a:ext cx="2340000" cy="2340000"/>
            <a:chOff x="2838634" y="1484405"/>
            <a:chExt cx="2340000" cy="2340000"/>
          </a:xfrm>
        </p:grpSpPr>
        <p:sp>
          <p:nvSpPr>
            <p:cNvPr id="19" name="Шестиугольник 18">
              <a:extLst>
                <a:ext uri="{FF2B5EF4-FFF2-40B4-BE49-F238E27FC236}">
                  <a16:creationId xmlns:a16="http://schemas.microsoft.com/office/drawing/2014/main" id="{26620A8A-0C51-7EF7-FAE3-C1E25BBB386B}"/>
                </a:ext>
              </a:extLst>
            </p:cNvPr>
            <p:cNvSpPr/>
            <p:nvPr/>
          </p:nvSpPr>
          <p:spPr>
            <a:xfrm>
              <a:off x="2838634" y="1484405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2F38D51-E51D-B834-67BB-22192197D843}"/>
                </a:ext>
              </a:extLst>
            </p:cNvPr>
            <p:cNvSpPr txBox="1"/>
            <p:nvPr/>
          </p:nvSpPr>
          <p:spPr>
            <a:xfrm>
              <a:off x="3198633" y="2054240"/>
              <a:ext cx="162000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Развитие отдела и стратегия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E762FAB-076B-23BA-9FE6-9613C00A5AF3}"/>
              </a:ext>
            </a:extLst>
          </p:cNvPr>
          <p:cNvGrpSpPr/>
          <p:nvPr/>
        </p:nvGrpSpPr>
        <p:grpSpPr>
          <a:xfrm>
            <a:off x="8832920" y="1358855"/>
            <a:ext cx="2340000" cy="2340000"/>
            <a:chOff x="6426445" y="1457539"/>
            <a:chExt cx="2340000" cy="2340000"/>
          </a:xfrm>
        </p:grpSpPr>
        <p:sp>
          <p:nvSpPr>
            <p:cNvPr id="3" name="Шестиугольник 2">
              <a:extLst>
                <a:ext uri="{FF2B5EF4-FFF2-40B4-BE49-F238E27FC236}">
                  <a16:creationId xmlns:a16="http://schemas.microsoft.com/office/drawing/2014/main" id="{0177C813-F7BA-55BB-81C7-EE45F9409077}"/>
                </a:ext>
              </a:extLst>
            </p:cNvPr>
            <p:cNvSpPr/>
            <p:nvPr/>
          </p:nvSpPr>
          <p:spPr>
            <a:xfrm>
              <a:off x="6426445" y="1457539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055B14-1691-01C9-020C-CEBD876E7CD5}"/>
                </a:ext>
              </a:extLst>
            </p:cNvPr>
            <p:cNvSpPr txBox="1"/>
            <p:nvPr/>
          </p:nvSpPr>
          <p:spPr>
            <a:xfrm>
              <a:off x="6445489" y="2245614"/>
              <a:ext cx="229856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Собственные задачи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7579B078-7085-21E7-ABAA-0783FF4E19D2}"/>
              </a:ext>
            </a:extLst>
          </p:cNvPr>
          <p:cNvGrpSpPr/>
          <p:nvPr/>
        </p:nvGrpSpPr>
        <p:grpSpPr>
          <a:xfrm>
            <a:off x="8840947" y="3749277"/>
            <a:ext cx="2359939" cy="2340000"/>
            <a:chOff x="6480155" y="3793404"/>
            <a:chExt cx="2359939" cy="2340000"/>
          </a:xfrm>
        </p:grpSpPr>
        <p:sp>
          <p:nvSpPr>
            <p:cNvPr id="5" name="Шестиугольник 4">
              <a:extLst>
                <a:ext uri="{FF2B5EF4-FFF2-40B4-BE49-F238E27FC236}">
                  <a16:creationId xmlns:a16="http://schemas.microsoft.com/office/drawing/2014/main" id="{0C105FB1-EEAA-2ECA-1E47-4D3CC1F1F74B}"/>
                </a:ext>
              </a:extLst>
            </p:cNvPr>
            <p:cNvSpPr/>
            <p:nvPr/>
          </p:nvSpPr>
          <p:spPr>
            <a:xfrm>
              <a:off x="6480155" y="3793404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3682500-74BE-D62B-9933-62BD00239C35}"/>
                </a:ext>
              </a:extLst>
            </p:cNvPr>
            <p:cNvSpPr txBox="1"/>
            <p:nvPr/>
          </p:nvSpPr>
          <p:spPr>
            <a:xfrm>
              <a:off x="6480155" y="4575748"/>
              <a:ext cx="235993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Административные задачи</a:t>
              </a: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95EB015E-BED3-25E0-B0B5-D6A499AF5904}"/>
              </a:ext>
            </a:extLst>
          </p:cNvPr>
          <p:cNvGrpSpPr/>
          <p:nvPr/>
        </p:nvGrpSpPr>
        <p:grpSpPr>
          <a:xfrm>
            <a:off x="1617128" y="4849795"/>
            <a:ext cx="1566000" cy="1440000"/>
            <a:chOff x="5612375" y="347260"/>
            <a:chExt cx="1900930" cy="1800000"/>
          </a:xfrm>
        </p:grpSpPr>
        <p:sp>
          <p:nvSpPr>
            <p:cNvPr id="15" name="Шестиугольник 14">
              <a:extLst>
                <a:ext uri="{FF2B5EF4-FFF2-40B4-BE49-F238E27FC236}">
                  <a16:creationId xmlns:a16="http://schemas.microsoft.com/office/drawing/2014/main" id="{86DDE8EF-D089-F05F-F39D-33F552E1A885}"/>
                </a:ext>
              </a:extLst>
            </p:cNvPr>
            <p:cNvSpPr/>
            <p:nvPr/>
          </p:nvSpPr>
          <p:spPr>
            <a:xfrm>
              <a:off x="5662840" y="347260"/>
              <a:ext cx="1800000" cy="180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F802EA-A550-7E85-9693-4337F47962CC}"/>
                </a:ext>
              </a:extLst>
            </p:cNvPr>
            <p:cNvSpPr txBox="1"/>
            <p:nvPr/>
          </p:nvSpPr>
          <p:spPr>
            <a:xfrm>
              <a:off x="5612375" y="914525"/>
              <a:ext cx="190093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700" dirty="0" err="1">
                  <a:solidFill>
                    <a:prstClr val="white"/>
                  </a:solidFill>
                  <a:latin typeface="Pragmatica Light" panose="020B0403040502020204" pitchFamily="34" charset="-52"/>
                </a:rPr>
                <a:t>Распределе</a:t>
              </a:r>
              <a:r>
                <a:rPr lang="ru-RU" sz="1700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-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700" dirty="0" err="1">
                  <a:solidFill>
                    <a:prstClr val="white"/>
                  </a:solidFill>
                  <a:latin typeface="Pragmatica Light" panose="020B0403040502020204" pitchFamily="34" charset="-52"/>
                </a:rPr>
                <a:t>ние</a:t>
              </a:r>
              <a:r>
                <a:rPr lang="ru-RU" sz="1700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 задач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0A6DA62C-E5FF-F07C-C872-DC59B29434CF}"/>
              </a:ext>
            </a:extLst>
          </p:cNvPr>
          <p:cNvGrpSpPr/>
          <p:nvPr/>
        </p:nvGrpSpPr>
        <p:grpSpPr>
          <a:xfrm>
            <a:off x="400566" y="4118962"/>
            <a:ext cx="1566000" cy="1440000"/>
            <a:chOff x="-2368234" y="3006961"/>
            <a:chExt cx="1566000" cy="1440000"/>
          </a:xfrm>
        </p:grpSpPr>
        <p:sp>
          <p:nvSpPr>
            <p:cNvPr id="23" name="Шестиугольник 22">
              <a:extLst>
                <a:ext uri="{FF2B5EF4-FFF2-40B4-BE49-F238E27FC236}">
                  <a16:creationId xmlns:a16="http://schemas.microsoft.com/office/drawing/2014/main" id="{30132FFF-684C-17C5-3280-B76212D30058}"/>
                </a:ext>
              </a:extLst>
            </p:cNvPr>
            <p:cNvSpPr/>
            <p:nvPr/>
          </p:nvSpPr>
          <p:spPr>
            <a:xfrm>
              <a:off x="-2368234" y="3006961"/>
              <a:ext cx="1566000" cy="14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42C0DE-73E1-1841-46DF-8601DAAB1DB1}"/>
                </a:ext>
              </a:extLst>
            </p:cNvPr>
            <p:cNvSpPr txBox="1"/>
            <p:nvPr/>
          </p:nvSpPr>
          <p:spPr>
            <a:xfrm>
              <a:off x="-2368219" y="3276129"/>
              <a:ext cx="156598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Сроки и качество работы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547C80F-FA48-0289-212E-8B7D735061E0}"/>
              </a:ext>
            </a:extLst>
          </p:cNvPr>
          <p:cNvSpPr txBox="1"/>
          <p:nvPr/>
        </p:nvSpPr>
        <p:spPr>
          <a:xfrm>
            <a:off x="379438" y="3545136"/>
            <a:ext cx="96968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white"/>
                </a:solidFill>
                <a:latin typeface="Impact" panose="020B0806030902050204" pitchFamily="34" charset="0"/>
              </a:rPr>
              <a:t>РУКОВОДИТЕЛЬ КЛАССИЧЕСКОГО ОТДЕЛА</a:t>
            </a:r>
            <a:endParaRPr kumimoji="0" lang="ru-RU" sz="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EAD508D-791E-93BE-A7C1-D02755107726}"/>
              </a:ext>
            </a:extLst>
          </p:cNvPr>
          <p:cNvCxnSpPr>
            <a:cxnSpLocks/>
          </p:cNvCxnSpPr>
          <p:nvPr/>
        </p:nvCxnSpPr>
        <p:spPr>
          <a:xfrm flipH="1">
            <a:off x="3394590" y="4154732"/>
            <a:ext cx="2825393" cy="1194072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782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800" dirty="0">
                <a:solidFill>
                  <a:prstClr val="white"/>
                </a:solidFill>
                <a:latin typeface="Impact" panose="020B0806030902050204" pitchFamily="34" charset="0"/>
              </a:rPr>
              <a:t>ВЛАДЕЛЕЦ ФРЕЙМВОРКА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A8CC93D-9C9D-0757-913B-A32AC3515EE6}"/>
              </a:ext>
            </a:extLst>
          </p:cNvPr>
          <p:cNvGrpSpPr/>
          <p:nvPr/>
        </p:nvGrpSpPr>
        <p:grpSpPr>
          <a:xfrm>
            <a:off x="3334559" y="2682750"/>
            <a:ext cx="2340000" cy="2340000"/>
            <a:chOff x="4629098" y="2682750"/>
            <a:chExt cx="2340000" cy="2340000"/>
          </a:xfrm>
        </p:grpSpPr>
        <p:sp>
          <p:nvSpPr>
            <p:cNvPr id="20" name="Шестиугольник 19">
              <a:extLst>
                <a:ext uri="{FF2B5EF4-FFF2-40B4-BE49-F238E27FC236}">
                  <a16:creationId xmlns:a16="http://schemas.microsoft.com/office/drawing/2014/main" id="{EBB97CA4-98D7-D44C-00B3-4515884DDE20}"/>
                </a:ext>
              </a:extLst>
            </p:cNvPr>
            <p:cNvSpPr/>
            <p:nvPr/>
          </p:nvSpPr>
          <p:spPr>
            <a:xfrm>
              <a:off x="4629098" y="2682750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628548-7787-7D05-F539-E92871DBE919}"/>
                </a:ext>
              </a:extLst>
            </p:cNvPr>
            <p:cNvSpPr txBox="1"/>
            <p:nvPr/>
          </p:nvSpPr>
          <p:spPr>
            <a:xfrm>
              <a:off x="4797200" y="3315997"/>
              <a:ext cx="2013643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2200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Обучение сотрудников Разработки</a:t>
              </a: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0326B62-817A-F68D-61BA-D2511D71A8F4}"/>
              </a:ext>
            </a:extLst>
          </p:cNvPr>
          <p:cNvGrpSpPr/>
          <p:nvPr/>
        </p:nvGrpSpPr>
        <p:grpSpPr>
          <a:xfrm>
            <a:off x="1522061" y="1462371"/>
            <a:ext cx="2340000" cy="2340000"/>
            <a:chOff x="2816600" y="1462371"/>
            <a:chExt cx="2340000" cy="2340000"/>
          </a:xfrm>
        </p:grpSpPr>
        <p:sp>
          <p:nvSpPr>
            <p:cNvPr id="19" name="Шестиугольник 18">
              <a:extLst>
                <a:ext uri="{FF2B5EF4-FFF2-40B4-BE49-F238E27FC236}">
                  <a16:creationId xmlns:a16="http://schemas.microsoft.com/office/drawing/2014/main" id="{26620A8A-0C51-7EF7-FAE3-C1E25BBB386B}"/>
                </a:ext>
              </a:extLst>
            </p:cNvPr>
            <p:cNvSpPr/>
            <p:nvPr/>
          </p:nvSpPr>
          <p:spPr>
            <a:xfrm>
              <a:off x="2816600" y="1462371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2F38D51-E51D-B834-67BB-22192197D843}"/>
                </a:ext>
              </a:extLst>
            </p:cNvPr>
            <p:cNvSpPr txBox="1"/>
            <p:nvPr/>
          </p:nvSpPr>
          <p:spPr>
            <a:xfrm>
              <a:off x="3098220" y="2069848"/>
              <a:ext cx="1770673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2200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Создание и поддержка Базы знаний</a:t>
              </a:r>
              <a:endParaRPr lang="en-US" sz="2200" dirty="0">
                <a:solidFill>
                  <a:prstClr val="white"/>
                </a:solidFill>
                <a:latin typeface="Pragmatica Light" panose="020B0403040502020204" pitchFamily="34" charset="-52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E762FAB-076B-23BA-9FE6-9613C00A5AF3}"/>
              </a:ext>
            </a:extLst>
          </p:cNvPr>
          <p:cNvGrpSpPr/>
          <p:nvPr/>
        </p:nvGrpSpPr>
        <p:grpSpPr>
          <a:xfrm>
            <a:off x="5131906" y="1424488"/>
            <a:ext cx="2340000" cy="2340000"/>
            <a:chOff x="6426445" y="1424488"/>
            <a:chExt cx="2340000" cy="2340000"/>
          </a:xfrm>
        </p:grpSpPr>
        <p:sp>
          <p:nvSpPr>
            <p:cNvPr id="3" name="Шестиугольник 2">
              <a:extLst>
                <a:ext uri="{FF2B5EF4-FFF2-40B4-BE49-F238E27FC236}">
                  <a16:creationId xmlns:a16="http://schemas.microsoft.com/office/drawing/2014/main" id="{0177C813-F7BA-55BB-81C7-EE45F9409077}"/>
                </a:ext>
              </a:extLst>
            </p:cNvPr>
            <p:cNvSpPr/>
            <p:nvPr/>
          </p:nvSpPr>
          <p:spPr>
            <a:xfrm>
              <a:off x="6426445" y="1424488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055B14-1691-01C9-020C-CEBD876E7CD5}"/>
                </a:ext>
              </a:extLst>
            </p:cNvPr>
            <p:cNvSpPr txBox="1"/>
            <p:nvPr/>
          </p:nvSpPr>
          <p:spPr>
            <a:xfrm>
              <a:off x="6445489" y="2078373"/>
              <a:ext cx="229856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2200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Улучшение Фреймворка </a:t>
              </a:r>
              <a:r>
                <a:rPr lang="ru-RU" sz="2200" dirty="0" err="1">
                  <a:solidFill>
                    <a:prstClr val="white"/>
                  </a:solidFill>
                  <a:latin typeface="Pragmatica Light" panose="020B0403040502020204" pitchFamily="34" charset="-52"/>
                </a:rPr>
                <a:t>Uniscrum</a:t>
              </a:r>
              <a:endParaRPr lang="ru-RU" sz="2200" dirty="0">
                <a:solidFill>
                  <a:prstClr val="white"/>
                </a:solidFill>
                <a:latin typeface="Pragmatica Light" panose="020B0403040502020204" pitchFamily="34" charset="-52"/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7579B078-7085-21E7-ABAA-0783FF4E19D2}"/>
              </a:ext>
            </a:extLst>
          </p:cNvPr>
          <p:cNvGrpSpPr/>
          <p:nvPr/>
        </p:nvGrpSpPr>
        <p:grpSpPr>
          <a:xfrm>
            <a:off x="5163786" y="3871834"/>
            <a:ext cx="2359939" cy="2340000"/>
            <a:chOff x="6502189" y="3793404"/>
            <a:chExt cx="2359939" cy="2340000"/>
          </a:xfrm>
        </p:grpSpPr>
        <p:sp>
          <p:nvSpPr>
            <p:cNvPr id="5" name="Шестиугольник 4">
              <a:extLst>
                <a:ext uri="{FF2B5EF4-FFF2-40B4-BE49-F238E27FC236}">
                  <a16:creationId xmlns:a16="http://schemas.microsoft.com/office/drawing/2014/main" id="{0C105FB1-EEAA-2ECA-1E47-4D3CC1F1F74B}"/>
                </a:ext>
              </a:extLst>
            </p:cNvPr>
            <p:cNvSpPr/>
            <p:nvPr/>
          </p:nvSpPr>
          <p:spPr>
            <a:xfrm>
              <a:off x="6502189" y="3793404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3682500-74BE-D62B-9933-62BD00239C35}"/>
                </a:ext>
              </a:extLst>
            </p:cNvPr>
            <p:cNvSpPr txBox="1"/>
            <p:nvPr/>
          </p:nvSpPr>
          <p:spPr>
            <a:xfrm>
              <a:off x="6502189" y="4319741"/>
              <a:ext cx="2359939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Курирование проектов улучшений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(доска Б)</a:t>
              </a: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BFA2438-F15A-D62F-45D1-F42DE646E88C}"/>
              </a:ext>
            </a:extLst>
          </p:cNvPr>
          <p:cNvGrpSpPr/>
          <p:nvPr/>
        </p:nvGrpSpPr>
        <p:grpSpPr>
          <a:xfrm>
            <a:off x="6964079" y="2623846"/>
            <a:ext cx="2340000" cy="2340000"/>
            <a:chOff x="6426445" y="1424488"/>
            <a:chExt cx="2340000" cy="2340000"/>
          </a:xfrm>
        </p:grpSpPr>
        <p:sp>
          <p:nvSpPr>
            <p:cNvPr id="13" name="Шестиугольник 12">
              <a:extLst>
                <a:ext uri="{FF2B5EF4-FFF2-40B4-BE49-F238E27FC236}">
                  <a16:creationId xmlns:a16="http://schemas.microsoft.com/office/drawing/2014/main" id="{5D9AE27F-FBCB-A285-ED59-7D4CECB0B6BB}"/>
                </a:ext>
              </a:extLst>
            </p:cNvPr>
            <p:cNvSpPr/>
            <p:nvPr/>
          </p:nvSpPr>
          <p:spPr>
            <a:xfrm>
              <a:off x="6426445" y="1424488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9BAAB10-EA51-319D-3926-CA62B4F58746}"/>
                </a:ext>
              </a:extLst>
            </p:cNvPr>
            <p:cNvSpPr txBox="1"/>
            <p:nvPr/>
          </p:nvSpPr>
          <p:spPr>
            <a:xfrm>
              <a:off x="6432407" y="1850625"/>
              <a:ext cx="2298569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2200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Контроль соблюдения правил фреймворка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30FA37F-1407-C033-8FC7-1FC097A0B6E1}"/>
              </a:ext>
            </a:extLst>
          </p:cNvPr>
          <p:cNvGrpSpPr/>
          <p:nvPr/>
        </p:nvGrpSpPr>
        <p:grpSpPr>
          <a:xfrm>
            <a:off x="8805306" y="3823204"/>
            <a:ext cx="2340000" cy="2340000"/>
            <a:chOff x="6426445" y="1424488"/>
            <a:chExt cx="2340000" cy="2340000"/>
          </a:xfrm>
        </p:grpSpPr>
        <p:sp>
          <p:nvSpPr>
            <p:cNvPr id="17" name="Шестиугольник 16">
              <a:extLst>
                <a:ext uri="{FF2B5EF4-FFF2-40B4-BE49-F238E27FC236}">
                  <a16:creationId xmlns:a16="http://schemas.microsoft.com/office/drawing/2014/main" id="{9C06DD42-4E1E-6682-3A17-EFA4BB2E107E}"/>
                </a:ext>
              </a:extLst>
            </p:cNvPr>
            <p:cNvSpPr/>
            <p:nvPr/>
          </p:nvSpPr>
          <p:spPr>
            <a:xfrm>
              <a:off x="6426445" y="1424488"/>
              <a:ext cx="2340000" cy="23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552B818-DB17-47BB-D22F-4C7015142202}"/>
                </a:ext>
              </a:extLst>
            </p:cNvPr>
            <p:cNvSpPr txBox="1"/>
            <p:nvPr/>
          </p:nvSpPr>
          <p:spPr>
            <a:xfrm>
              <a:off x="6447160" y="1972692"/>
              <a:ext cx="2298569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2000" dirty="0">
                  <a:solidFill>
                    <a:prstClr val="white"/>
                  </a:solidFill>
                  <a:latin typeface="Pragmatica Light" panose="020B0403040502020204" pitchFamily="34" charset="-52"/>
                </a:rPr>
                <a:t>Помощь в решении вопросов не описанных во фреймворке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0519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Шестиугольник 12">
            <a:extLst>
              <a:ext uri="{FF2B5EF4-FFF2-40B4-BE49-F238E27FC236}">
                <a16:creationId xmlns:a16="http://schemas.microsoft.com/office/drawing/2014/main" id="{5D9AE27F-FBCB-A285-ED59-7D4CECB0B6BB}"/>
              </a:ext>
            </a:extLst>
          </p:cNvPr>
          <p:cNvSpPr/>
          <p:nvPr/>
        </p:nvSpPr>
        <p:spPr>
          <a:xfrm>
            <a:off x="10687435" y="5193904"/>
            <a:ext cx="1866776" cy="1752942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248346"/>
            <a:ext cx="11350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800" dirty="0">
                <a:solidFill>
                  <a:prstClr val="white"/>
                </a:solidFill>
                <a:latin typeface="Impact" panose="020B0806030902050204" pitchFamily="34" charset="0"/>
              </a:rPr>
              <a:t>РУКОВОДИТЕЛЬ РАЗРАБОТКИ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17" name="Шестиугольник 16">
            <a:extLst>
              <a:ext uri="{FF2B5EF4-FFF2-40B4-BE49-F238E27FC236}">
                <a16:creationId xmlns:a16="http://schemas.microsoft.com/office/drawing/2014/main" id="{9C06DD42-4E1E-6682-3A17-EFA4BB2E107E}"/>
              </a:ext>
            </a:extLst>
          </p:cNvPr>
          <p:cNvSpPr/>
          <p:nvPr/>
        </p:nvSpPr>
        <p:spPr>
          <a:xfrm>
            <a:off x="9169251" y="4317175"/>
            <a:ext cx="1868400" cy="17532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DDB30-A790-1067-EADD-24356459F6F9}"/>
              </a:ext>
            </a:extLst>
          </p:cNvPr>
          <p:cNvSpPr txBox="1"/>
          <p:nvPr/>
        </p:nvSpPr>
        <p:spPr>
          <a:xfrm>
            <a:off x="1706395" y="2236053"/>
            <a:ext cx="10969556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НАЙМ И УВОЛЬНЕНИЕ СОТРУДНИКОВ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ПЕРЕХОДЫ СОТРУДНИКОВ МЕЖДУ КОМАНДАМИ, СМЕНА РОЛЕЙ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ИЗМЕНЕНИЯ ПРАВИЛ ФРЕЙМВОРКА </a:t>
            </a:r>
            <a:endParaRPr lang="en-US" sz="20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ЗАПУСК/ОСТАНОВКА КРУПНЫХ ПРОЕКТОВ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РЕШЕНИЕ СПОРНЫХ ВОПРОСОВ ПО ФРЕЙМВОРКУ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ИЗМЕНЕНИЕ РАЗМЕРА ЗП СОТРУДНИКОВ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СОГЛАСОВАНИЕ БЮДЖЕТА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441D744-9EA5-42D5-F9AD-F9275E9B0C9F}"/>
              </a:ext>
            </a:extLst>
          </p:cNvPr>
          <p:cNvCxnSpPr>
            <a:cxnSpLocks/>
          </p:cNvCxnSpPr>
          <p:nvPr/>
        </p:nvCxnSpPr>
        <p:spPr>
          <a:xfrm>
            <a:off x="1065233" y="3867447"/>
            <a:ext cx="920562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A7E4FA5-F7A9-4B1A-C0C0-472E76C2AD8B}"/>
              </a:ext>
            </a:extLst>
          </p:cNvPr>
          <p:cNvCxnSpPr>
            <a:cxnSpLocks/>
          </p:cNvCxnSpPr>
          <p:nvPr/>
        </p:nvCxnSpPr>
        <p:spPr>
          <a:xfrm>
            <a:off x="1080473" y="1079343"/>
            <a:ext cx="0" cy="2807087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901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5" y="182880"/>
            <a:ext cx="13276207" cy="6461111"/>
          </a:xfrm>
          <a:custGeom>
            <a:avLst/>
            <a:gdLst>
              <a:gd name="connsiteX0" fmla="*/ 0 w 11750040"/>
              <a:gd name="connsiteY0" fmla="*/ 0 h 6473952"/>
              <a:gd name="connsiteX1" fmla="*/ 11750040 w 11750040"/>
              <a:gd name="connsiteY1" fmla="*/ 0 h 6473952"/>
              <a:gd name="connsiteX2" fmla="*/ 11750040 w 11750040"/>
              <a:gd name="connsiteY2" fmla="*/ 6473952 h 6473952"/>
              <a:gd name="connsiteX3" fmla="*/ 0 w 11750040"/>
              <a:gd name="connsiteY3" fmla="*/ 6473952 h 6473952"/>
              <a:gd name="connsiteX4" fmla="*/ 0 w 11750040"/>
              <a:gd name="connsiteY4" fmla="*/ 0 h 6473952"/>
              <a:gd name="connsiteX0" fmla="*/ 0 w 11750040"/>
              <a:gd name="connsiteY0" fmla="*/ 0 h 6473952"/>
              <a:gd name="connsiteX1" fmla="*/ 8014619 w 11750040"/>
              <a:gd name="connsiteY1" fmla="*/ 19455 h 6473952"/>
              <a:gd name="connsiteX2" fmla="*/ 11750040 w 11750040"/>
              <a:gd name="connsiteY2" fmla="*/ 6473952 h 6473952"/>
              <a:gd name="connsiteX3" fmla="*/ 0 w 11750040"/>
              <a:gd name="connsiteY3" fmla="*/ 6473952 h 6473952"/>
              <a:gd name="connsiteX4" fmla="*/ 0 w 11750040"/>
              <a:gd name="connsiteY4" fmla="*/ 0 h 6473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6473952">
                <a:moveTo>
                  <a:pt x="0" y="0"/>
                </a:moveTo>
                <a:lnTo>
                  <a:pt x="8014619" y="19455"/>
                </a:lnTo>
                <a:lnTo>
                  <a:pt x="11750040" y="6473952"/>
                </a:lnTo>
                <a:lnTo>
                  <a:pt x="0" y="6473952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Шестиугольник 10">
            <a:extLst>
              <a:ext uri="{FF2B5EF4-FFF2-40B4-BE49-F238E27FC236}">
                <a16:creationId xmlns:a16="http://schemas.microsoft.com/office/drawing/2014/main" id="{ECC88295-6BA7-D330-F3D4-21291B5180EF}"/>
              </a:ext>
            </a:extLst>
          </p:cNvPr>
          <p:cNvSpPr/>
          <p:nvPr/>
        </p:nvSpPr>
        <p:spPr>
          <a:xfrm rot="21330689">
            <a:off x="8018411" y="-472063"/>
            <a:ext cx="1868400" cy="17532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Шестиугольник 9">
            <a:extLst>
              <a:ext uri="{FF2B5EF4-FFF2-40B4-BE49-F238E27FC236}">
                <a16:creationId xmlns:a16="http://schemas.microsoft.com/office/drawing/2014/main" id="{D0CCB027-04E9-CB7D-FEE8-CAE3EC05AB2D}"/>
              </a:ext>
            </a:extLst>
          </p:cNvPr>
          <p:cNvSpPr/>
          <p:nvPr/>
        </p:nvSpPr>
        <p:spPr>
          <a:xfrm rot="21330689">
            <a:off x="11429826" y="4677746"/>
            <a:ext cx="1868400" cy="17532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E3A40CFA-3998-1D14-9A8F-B4275E930700}"/>
              </a:ext>
            </a:extLst>
          </p:cNvPr>
          <p:cNvSpPr/>
          <p:nvPr/>
        </p:nvSpPr>
        <p:spPr>
          <a:xfrm rot="21330689">
            <a:off x="9716712" y="2125963"/>
            <a:ext cx="1868400" cy="17532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Шестиугольник 16">
            <a:extLst>
              <a:ext uri="{FF2B5EF4-FFF2-40B4-BE49-F238E27FC236}">
                <a16:creationId xmlns:a16="http://schemas.microsoft.com/office/drawing/2014/main" id="{9C06DD42-4E1E-6682-3A17-EFA4BB2E107E}"/>
              </a:ext>
            </a:extLst>
          </p:cNvPr>
          <p:cNvSpPr/>
          <p:nvPr/>
        </p:nvSpPr>
        <p:spPr>
          <a:xfrm rot="21330689">
            <a:off x="9578077" y="308386"/>
            <a:ext cx="1868400" cy="17532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Шестиугольник 7">
            <a:extLst>
              <a:ext uri="{FF2B5EF4-FFF2-40B4-BE49-F238E27FC236}">
                <a16:creationId xmlns:a16="http://schemas.microsoft.com/office/drawing/2014/main" id="{B36E72EF-BD62-85FE-1201-6F799DCAF8A0}"/>
              </a:ext>
            </a:extLst>
          </p:cNvPr>
          <p:cNvSpPr/>
          <p:nvPr/>
        </p:nvSpPr>
        <p:spPr>
          <a:xfrm rot="21330689">
            <a:off x="11128014" y="1095652"/>
            <a:ext cx="1868400" cy="17532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Шестиугольник 8">
            <a:extLst>
              <a:ext uri="{FF2B5EF4-FFF2-40B4-BE49-F238E27FC236}">
                <a16:creationId xmlns:a16="http://schemas.microsoft.com/office/drawing/2014/main" id="{278B7E46-9002-004A-29AB-602EAE65B393}"/>
              </a:ext>
            </a:extLst>
          </p:cNvPr>
          <p:cNvSpPr/>
          <p:nvPr/>
        </p:nvSpPr>
        <p:spPr>
          <a:xfrm rot="21330689">
            <a:off x="11266649" y="2882629"/>
            <a:ext cx="1868400" cy="17532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Шестиугольник 19">
            <a:extLst>
              <a:ext uri="{FF2B5EF4-FFF2-40B4-BE49-F238E27FC236}">
                <a16:creationId xmlns:a16="http://schemas.microsoft.com/office/drawing/2014/main" id="{F8DB9B03-63B9-63F9-4D8D-D5FA2B025A9E}"/>
              </a:ext>
            </a:extLst>
          </p:cNvPr>
          <p:cNvSpPr/>
          <p:nvPr/>
        </p:nvSpPr>
        <p:spPr>
          <a:xfrm rot="21330689">
            <a:off x="10989379" y="-721926"/>
            <a:ext cx="1868400" cy="17532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824B88-8A85-DBD8-F6D9-C3D27DCCA776}"/>
              </a:ext>
            </a:extLst>
          </p:cNvPr>
          <p:cNvSpPr txBox="1"/>
          <p:nvPr/>
        </p:nvSpPr>
        <p:spPr>
          <a:xfrm>
            <a:off x="1088961" y="1586082"/>
            <a:ext cx="36075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РУКОВОДИТЕЛЬ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РАЗРАБОТКИ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8E4C4F-DB9E-8936-0504-F2CC1F2E5291}"/>
              </a:ext>
            </a:extLst>
          </p:cNvPr>
          <p:cNvSpPr txBox="1"/>
          <p:nvPr/>
        </p:nvSpPr>
        <p:spPr>
          <a:xfrm>
            <a:off x="5972392" y="1585628"/>
            <a:ext cx="3607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ДИРЕКЦИЯ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9773B8E-EFAC-1561-8F5E-E2E3E430953A}"/>
              </a:ext>
            </a:extLst>
          </p:cNvPr>
          <p:cNvCxnSpPr>
            <a:cxnSpLocks/>
          </p:cNvCxnSpPr>
          <p:nvPr/>
        </p:nvCxnSpPr>
        <p:spPr>
          <a:xfrm>
            <a:off x="2021605" y="3350000"/>
            <a:ext cx="174223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2FF0458-EA26-54B0-3BAF-3659F1DAE811}"/>
              </a:ext>
            </a:extLst>
          </p:cNvPr>
          <p:cNvSpPr txBox="1"/>
          <p:nvPr/>
        </p:nvSpPr>
        <p:spPr>
          <a:xfrm>
            <a:off x="679410" y="3949585"/>
            <a:ext cx="4552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АЛЕКСАНДР БОРИСОВ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78E73B-7BCD-489B-8939-0243920D1A7C}"/>
              </a:ext>
            </a:extLst>
          </p:cNvPr>
          <p:cNvSpPr txBox="1"/>
          <p:nvPr/>
        </p:nvSpPr>
        <p:spPr>
          <a:xfrm>
            <a:off x="5692355" y="3928761"/>
            <a:ext cx="44529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АНТОН РЯДИНСКИЙ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АЛЕКСЕЙ СТЕРИНОВИЧ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69CF53BA-F97C-7100-DCC0-910E5BF2843B}"/>
              </a:ext>
            </a:extLst>
          </p:cNvPr>
          <p:cNvCxnSpPr>
            <a:cxnSpLocks/>
          </p:cNvCxnSpPr>
          <p:nvPr/>
        </p:nvCxnSpPr>
        <p:spPr>
          <a:xfrm>
            <a:off x="6948205" y="3350000"/>
            <a:ext cx="174223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495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2944810" y="2828836"/>
            <a:ext cx="46640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СЕРВИСЫ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pic>
        <p:nvPicPr>
          <p:cNvPr id="9" name="Рисунок 8" descr="Изображение выглядит как диаграмма, многоугольник&#10;&#10;Автоматически созданное описание">
            <a:extLst>
              <a:ext uri="{FF2B5EF4-FFF2-40B4-BE49-F238E27FC236}">
                <a16:creationId xmlns:a16="http://schemas.microsoft.com/office/drawing/2014/main" id="{79A6D5E2-B35A-D748-06A1-DF1372FBE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17" y="847725"/>
            <a:ext cx="293179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69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E0E5CE6-C048-FBB5-B803-91959C563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10669507" y="4287461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84570" y="349766"/>
            <a:ext cx="4347525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СЕРВИСЫ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C5670B9-21DD-7ADE-EF80-FB9DC551C2A0}"/>
              </a:ext>
            </a:extLst>
          </p:cNvPr>
          <p:cNvCxnSpPr>
            <a:cxnSpLocks/>
          </p:cNvCxnSpPr>
          <p:nvPr/>
        </p:nvCxnSpPr>
        <p:spPr>
          <a:xfrm flipV="1">
            <a:off x="5366681" y="950686"/>
            <a:ext cx="0" cy="5163457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2">
            <a:extLst>
              <a:ext uri="{FF2B5EF4-FFF2-40B4-BE49-F238E27FC236}">
                <a16:creationId xmlns:a16="http://schemas.microsoft.com/office/drawing/2014/main" id="{C7E48AE3-D3EE-1B76-F644-882D3737D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043" y="1563501"/>
            <a:ext cx="6174444" cy="3712709"/>
          </a:xfrm>
        </p:spPr>
        <p:txBody>
          <a:bodyPr>
            <a:noAutofit/>
          </a:bodyPr>
          <a:lstStyle/>
          <a:p>
            <a:pPr marL="0" indent="0">
              <a:spcBef>
                <a:spcPts val="1600"/>
              </a:spcBef>
              <a:buNone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Часть сервисов находится внутри Разработки, часть снаружи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Взаимодействие с большинством сервисных отделов идет с помощью системы заявок 1С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Если команде требуется помощь сервиса, то она ставит ему задачу, формулирует требования, принимает результат</a:t>
            </a:r>
            <a:endParaRPr lang="en-US" sz="24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B87E9-FF77-D20D-A03D-21425A2C6C91}"/>
              </a:ext>
            </a:extLst>
          </p:cNvPr>
          <p:cNvSpPr txBox="1"/>
          <p:nvPr/>
        </p:nvSpPr>
        <p:spPr>
          <a:xfrm>
            <a:off x="-121657" y="2059405"/>
            <a:ext cx="53599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9988" marR="0" lvl="0" indent="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Book" panose="020B0503040502020204" pitchFamily="34" charset="0"/>
                <a:ea typeface="+mn-ea"/>
                <a:cs typeface="+mn-cs"/>
              </a:rPr>
              <a:t>это отделы компании, которые выполняют вспомогательные задачи необходимые для проектов</a:t>
            </a:r>
          </a:p>
        </p:txBody>
      </p:sp>
    </p:spTree>
    <p:extLst>
      <p:ext uri="{BB962C8B-B14F-4D97-AF65-F5344CB8AC3E}">
        <p14:creationId xmlns:p14="http://schemas.microsoft.com/office/powerpoint/2010/main" val="2121110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E0E5CE6-C048-FBB5-B803-91959C563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10669507" y="4287461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84570" y="349766"/>
            <a:ext cx="4347525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СЕРВИСЫ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C5670B9-21DD-7ADE-EF80-FB9DC551C2A0}"/>
              </a:ext>
            </a:extLst>
          </p:cNvPr>
          <p:cNvCxnSpPr>
            <a:cxnSpLocks/>
          </p:cNvCxnSpPr>
          <p:nvPr/>
        </p:nvCxnSpPr>
        <p:spPr>
          <a:xfrm>
            <a:off x="1180761" y="4935583"/>
            <a:ext cx="2873079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2">
            <a:extLst>
              <a:ext uri="{FF2B5EF4-FFF2-40B4-BE49-F238E27FC236}">
                <a16:creationId xmlns:a16="http://schemas.microsoft.com/office/drawing/2014/main" id="{C7E48AE3-D3EE-1B76-F644-882D3737D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977" y="1894935"/>
            <a:ext cx="9562077" cy="3040648"/>
          </a:xfrm>
        </p:spPr>
        <p:txBody>
          <a:bodyPr>
            <a:noAutofit/>
          </a:bodyPr>
          <a:lstStyle/>
          <a:p>
            <a:pPr marL="251388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prstClr val="white"/>
                </a:solidFill>
                <a:latin typeface="Pragmatica Light" panose="020B0403040502020204" pitchFamily="34" charset="-52"/>
              </a:rPr>
              <a:t>Отдел АХО</a:t>
            </a: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ключи, мебель, офисные принадлежности, помещения </a:t>
            </a:r>
          </a:p>
          <a:p>
            <a:pPr marL="251388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prstClr val="white"/>
                </a:solidFill>
                <a:latin typeface="Pragmatica Light" panose="020B0403040502020204" pitchFamily="34" charset="-52"/>
              </a:rPr>
              <a:t>Отдел системных администраторов</a:t>
            </a: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компьютеры, ПО, телефония, удаленный доступ</a:t>
            </a:r>
          </a:p>
          <a:p>
            <a:pPr marL="251388" indent="0">
              <a:spcBef>
                <a:spcPts val="1600"/>
              </a:spcBef>
              <a:buNone/>
            </a:pPr>
            <a:r>
              <a:rPr lang="en-US" sz="2400" b="1" dirty="0">
                <a:solidFill>
                  <a:prstClr val="white"/>
                </a:solidFill>
                <a:latin typeface="Pragmatica Light" panose="020B0403040502020204" pitchFamily="34" charset="-52"/>
              </a:rPr>
              <a:t>HR</a:t>
            </a:r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</a:t>
            </a: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найм сотрудников, увольнение, мотивация </a:t>
            </a:r>
            <a:endParaRPr lang="en-US" sz="24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marL="251388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prstClr val="white"/>
                </a:solidFill>
                <a:latin typeface="Pragmatica Light" panose="020B0403040502020204" pitchFamily="34" charset="-52"/>
              </a:rPr>
              <a:t>Бухгалтерия и кадры</a:t>
            </a: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оформление документов, отпуска, больничные</a:t>
            </a:r>
          </a:p>
        </p:txBody>
      </p:sp>
    </p:spTree>
    <p:extLst>
      <p:ext uri="{BB962C8B-B14F-4D97-AF65-F5344CB8AC3E}">
        <p14:creationId xmlns:p14="http://schemas.microsoft.com/office/powerpoint/2010/main" val="3508857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E0E5CE6-C048-FBB5-B803-91959C563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-611993" y="4684688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84570" y="349766"/>
            <a:ext cx="4347525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СЕРВИСЫ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C5670B9-21DD-7ADE-EF80-FB9DC551C2A0}"/>
              </a:ext>
            </a:extLst>
          </p:cNvPr>
          <p:cNvCxnSpPr>
            <a:cxnSpLocks/>
          </p:cNvCxnSpPr>
          <p:nvPr/>
        </p:nvCxnSpPr>
        <p:spPr>
          <a:xfrm rot="10800000">
            <a:off x="4122066" y="3726341"/>
            <a:ext cx="2119901" cy="2745986"/>
          </a:xfrm>
          <a:prstGeom prst="bentConnector2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E66DB6C-91D7-2183-F6F8-51194531F1F6}"/>
              </a:ext>
            </a:extLst>
          </p:cNvPr>
          <p:cNvSpPr txBox="1"/>
          <p:nvPr/>
        </p:nvSpPr>
        <p:spPr>
          <a:xfrm>
            <a:off x="4068204" y="646060"/>
            <a:ext cx="7649256" cy="55658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1388" indent="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defRPr sz="2400" b="1">
                <a:solidFill>
                  <a:prstClr val="white"/>
                </a:solidFill>
                <a:latin typeface="Pragmatica Light" panose="020B0403040502020204" pitchFamily="34" charset="-5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sz="2200" dirty="0"/>
              <a:t>Макетные мастерские</a:t>
            </a:r>
            <a:r>
              <a:rPr lang="ru-RU" sz="2200" b="0" dirty="0"/>
              <a:t> – изготовление малых партий деталей для Разработки, справочник подрядчиков и технологий </a:t>
            </a:r>
          </a:p>
          <a:p>
            <a:r>
              <a:rPr lang="ru-RU" sz="2200" dirty="0"/>
              <a:t>Отдел логистики</a:t>
            </a:r>
            <a:r>
              <a:rPr lang="ru-RU" sz="2200" b="0" dirty="0"/>
              <a:t> – закупка и доставка деталей или материалов </a:t>
            </a:r>
          </a:p>
          <a:p>
            <a:r>
              <a:rPr lang="ru-RU" sz="2200" dirty="0"/>
              <a:t>Лаборатория</a:t>
            </a:r>
            <a:r>
              <a:rPr lang="ru-RU" sz="2200" b="0" dirty="0"/>
              <a:t> – проведение технологических экспериментов </a:t>
            </a:r>
          </a:p>
          <a:p>
            <a:r>
              <a:rPr lang="ru-RU" sz="2200" dirty="0"/>
              <a:t>Отдел технической документации </a:t>
            </a:r>
            <a:r>
              <a:rPr lang="ru-RU" sz="2200" b="0" dirty="0"/>
              <a:t>– документация и работа с текстами </a:t>
            </a:r>
          </a:p>
          <a:p>
            <a:r>
              <a:rPr lang="ru-RU" sz="2200" dirty="0"/>
              <a:t>Отдел автоматизации (стенды)</a:t>
            </a:r>
            <a:r>
              <a:rPr lang="ru-RU" sz="2200" b="0" dirty="0"/>
              <a:t> – автоматизация серийного тестирования для нужд производства и экспериментов </a:t>
            </a:r>
            <a:r>
              <a:rPr lang="en-US" sz="2200" b="0" dirty="0" err="1"/>
              <a:t>RnD</a:t>
            </a:r>
            <a:r>
              <a:rPr lang="ru-RU" sz="2200" b="0" dirty="0"/>
              <a:t> </a:t>
            </a:r>
          </a:p>
          <a:p>
            <a:r>
              <a:rPr lang="ru-RU" sz="2200" dirty="0"/>
              <a:t>Группа ГОЗ </a:t>
            </a:r>
            <a:r>
              <a:rPr lang="ru-RU" sz="2200" b="0" dirty="0"/>
              <a:t>– экспертиза на соответствие РКМ </a:t>
            </a:r>
          </a:p>
          <a:p>
            <a:r>
              <a:rPr lang="en-US" sz="2200" dirty="0">
                <a:solidFill>
                  <a:schemeClr val="bg1"/>
                </a:solidFill>
              </a:rPr>
              <a:t>DevOps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ru-RU" sz="2200" b="0" dirty="0">
                <a:solidFill>
                  <a:schemeClr val="bg1"/>
                </a:solidFill>
              </a:rPr>
              <a:t>инженер </a:t>
            </a:r>
            <a:r>
              <a:rPr lang="en-US" sz="2200" b="0" dirty="0"/>
              <a:t>- </a:t>
            </a:r>
            <a:r>
              <a:rPr lang="ru-RU" sz="2200" b="0" dirty="0"/>
              <a:t>автоматизация процессов сборки и внедрения программного обеспечения</a:t>
            </a:r>
          </a:p>
        </p:txBody>
      </p:sp>
      <p:cxnSp>
        <p:nvCxnSpPr>
          <p:cNvPr id="12" name="Прямая соединительная линия 9">
            <a:extLst>
              <a:ext uri="{FF2B5EF4-FFF2-40B4-BE49-F238E27FC236}">
                <a16:creationId xmlns:a16="http://schemas.microsoft.com/office/drawing/2014/main" id="{5D45A139-7A24-1409-5884-076A88421753}"/>
              </a:ext>
            </a:extLst>
          </p:cNvPr>
          <p:cNvCxnSpPr>
            <a:cxnSpLocks/>
          </p:cNvCxnSpPr>
          <p:nvPr/>
        </p:nvCxnSpPr>
        <p:spPr>
          <a:xfrm>
            <a:off x="9597559" y="471242"/>
            <a:ext cx="2119901" cy="2745986"/>
          </a:xfrm>
          <a:prstGeom prst="bentConnector2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8027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E0E5CE6-C048-FBB5-B803-91959C563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10669507" y="4287461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84570" y="349766"/>
            <a:ext cx="4347525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СЕРВИСЫ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C5670B9-21DD-7ADE-EF80-FB9DC551C2A0}"/>
              </a:ext>
            </a:extLst>
          </p:cNvPr>
          <p:cNvCxnSpPr>
            <a:cxnSpLocks/>
          </p:cNvCxnSpPr>
          <p:nvPr/>
        </p:nvCxnSpPr>
        <p:spPr>
          <a:xfrm flipV="1">
            <a:off x="5381195" y="1008504"/>
            <a:ext cx="0" cy="5163457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B7B87E9-FF77-D20D-A03D-21425A2C6C91}"/>
              </a:ext>
            </a:extLst>
          </p:cNvPr>
          <p:cNvSpPr txBox="1"/>
          <p:nvPr/>
        </p:nvSpPr>
        <p:spPr>
          <a:xfrm>
            <a:off x="-121657" y="2059405"/>
            <a:ext cx="53599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9988" marR="0" lvl="0" indent="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dirty="0">
                <a:solidFill>
                  <a:prstClr val="white"/>
                </a:solidFill>
                <a:latin typeface="Pragmatica Book" panose="020B0503040502020204" pitchFamily="34" charset="0"/>
              </a:rPr>
              <a:t>Группа ГОЗ (только для РБ проектов)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2F285-A138-C7D7-A035-1A91907F5C68}"/>
              </a:ext>
            </a:extLst>
          </p:cNvPr>
          <p:cNvSpPr txBox="1"/>
          <p:nvPr/>
        </p:nvSpPr>
        <p:spPr>
          <a:xfrm>
            <a:off x="439989" y="3429000"/>
            <a:ext cx="3976271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799" indent="0">
              <a:spcBef>
                <a:spcPts val="800"/>
              </a:spcBef>
              <a:buNone/>
            </a:pPr>
            <a:r>
              <a:rPr lang="ru-RU" b="1" dirty="0">
                <a:solidFill>
                  <a:prstClr val="white"/>
                </a:solidFill>
                <a:latin typeface="Pragmatica Light" panose="020B0403040502020204" pitchFamily="34" charset="-52"/>
              </a:rPr>
              <a:t>ГОЗ</a:t>
            </a:r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Государственный Оборонный Заказ</a:t>
            </a:r>
          </a:p>
          <a:p>
            <a:pPr marL="22799" indent="0">
              <a:spcBef>
                <a:spcPts val="800"/>
              </a:spcBef>
              <a:buNone/>
            </a:pPr>
            <a:b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</a:br>
            <a:r>
              <a:rPr lang="ru-RU" b="1" dirty="0">
                <a:solidFill>
                  <a:prstClr val="white"/>
                </a:solidFill>
                <a:latin typeface="Pragmatica Light" panose="020B0403040502020204" pitchFamily="34" charset="-52"/>
              </a:rPr>
              <a:t>РКМ</a:t>
            </a:r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 - Расчетно-калькуляционные материалы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6266EA-92C3-6A7D-C845-90B945E48841}"/>
              </a:ext>
            </a:extLst>
          </p:cNvPr>
          <p:cNvSpPr txBox="1"/>
          <p:nvPr/>
        </p:nvSpPr>
        <p:spPr>
          <a:xfrm>
            <a:off x="5579433" y="1652567"/>
            <a:ext cx="5642745" cy="378667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2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 marL="251388">
              <a:lnSpc>
                <a:spcPct val="90000"/>
              </a:lnSpc>
              <a:spcBef>
                <a:spcPts val="1600"/>
              </a:spcBef>
            </a:pPr>
            <a:r>
              <a:rPr lang="ru-RU" sz="2400" b="1" dirty="0">
                <a:solidFill>
                  <a:prstClr val="white"/>
                </a:solidFill>
              </a:rPr>
              <a:t>Осуществляет:</a:t>
            </a:r>
          </a:p>
          <a:p>
            <a:pPr marL="251388">
              <a:lnSpc>
                <a:spcPct val="90000"/>
              </a:lnSpc>
              <a:spcBef>
                <a:spcPts val="1600"/>
              </a:spcBef>
            </a:pPr>
            <a:endParaRPr lang="ru-RU" sz="2400" dirty="0">
              <a:solidFill>
                <a:prstClr val="white"/>
              </a:solidFill>
            </a:endParaRPr>
          </a:p>
          <a:p>
            <a:pPr marL="251388">
              <a:lnSpc>
                <a:spcPct val="90000"/>
              </a:lnSpc>
              <a:spcBef>
                <a:spcPts val="1600"/>
              </a:spcBef>
            </a:pPr>
            <a:r>
              <a:rPr lang="ru-RU" sz="2400" dirty="0">
                <a:solidFill>
                  <a:prstClr val="white"/>
                </a:solidFill>
              </a:rPr>
              <a:t>Контроль бухгалтерских ведомостей покупных узлов</a:t>
            </a:r>
          </a:p>
          <a:p>
            <a:pPr marL="251388">
              <a:lnSpc>
                <a:spcPct val="90000"/>
              </a:lnSpc>
              <a:spcBef>
                <a:spcPts val="1600"/>
              </a:spcBef>
            </a:pPr>
            <a:r>
              <a:rPr lang="ru-RU" sz="2400" dirty="0">
                <a:solidFill>
                  <a:prstClr val="white"/>
                </a:solidFill>
              </a:rPr>
              <a:t>Контроль технологических процессов</a:t>
            </a:r>
          </a:p>
          <a:p>
            <a:pPr marL="251388">
              <a:lnSpc>
                <a:spcPct val="90000"/>
              </a:lnSpc>
              <a:spcBef>
                <a:spcPts val="1600"/>
              </a:spcBef>
            </a:pPr>
            <a:r>
              <a:rPr lang="ru-RU" sz="2400" dirty="0">
                <a:solidFill>
                  <a:prstClr val="white"/>
                </a:solidFill>
              </a:rPr>
              <a:t>Взаимодействие с заказчиками</a:t>
            </a:r>
          </a:p>
          <a:p>
            <a:pPr marL="251388">
              <a:lnSpc>
                <a:spcPct val="90000"/>
              </a:lnSpc>
              <a:spcBef>
                <a:spcPts val="1600"/>
              </a:spcBef>
            </a:pPr>
            <a:r>
              <a:rPr lang="ru-RU" sz="2400" dirty="0">
                <a:solidFill>
                  <a:prstClr val="white"/>
                </a:solidFill>
              </a:rPr>
              <a:t>Контроль конструкции изделий</a:t>
            </a:r>
          </a:p>
        </p:txBody>
      </p:sp>
    </p:spTree>
    <p:extLst>
      <p:ext uri="{BB962C8B-B14F-4D97-AF65-F5344CB8AC3E}">
        <p14:creationId xmlns:p14="http://schemas.microsoft.com/office/powerpoint/2010/main" val="3676421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2973643" y="1720840"/>
            <a:ext cx="52755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СОБЫТИЯ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7200" dirty="0">
                <a:solidFill>
                  <a:prstClr val="black"/>
                </a:solidFill>
                <a:latin typeface="Impact" panose="020B0806030902050204" pitchFamily="34" charset="0"/>
              </a:rPr>
              <a:t>И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АКТИВНОСТИ</a:t>
            </a:r>
          </a:p>
        </p:txBody>
      </p:sp>
      <p:pic>
        <p:nvPicPr>
          <p:cNvPr id="9" name="Рисунок 8" descr="Изображение выглядит как диаграмма, многоугольник&#10;&#10;Автоматически созданное описание">
            <a:extLst>
              <a:ext uri="{FF2B5EF4-FFF2-40B4-BE49-F238E27FC236}">
                <a16:creationId xmlns:a16="http://schemas.microsoft.com/office/drawing/2014/main" id="{79A6D5E2-B35A-D748-06A1-DF1372FBE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17" y="847725"/>
            <a:ext cx="293179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45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вал 7">
            <a:extLst>
              <a:ext uri="{FF2B5EF4-FFF2-40B4-BE49-F238E27FC236}">
                <a16:creationId xmlns:a16="http://schemas.microsoft.com/office/drawing/2014/main" id="{DA0BC0F2-F6C8-02FA-181E-B3902DA519E3}"/>
              </a:ext>
            </a:extLst>
          </p:cNvPr>
          <p:cNvSpPr/>
          <p:nvPr/>
        </p:nvSpPr>
        <p:spPr>
          <a:xfrm>
            <a:off x="3957087" y="1557778"/>
            <a:ext cx="2880000" cy="2880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24A8DDE3-024D-9F4E-3735-EDF1C30F8C6B}"/>
              </a:ext>
            </a:extLst>
          </p:cNvPr>
          <p:cNvSpPr/>
          <p:nvPr/>
        </p:nvSpPr>
        <p:spPr>
          <a:xfrm>
            <a:off x="1047754" y="3429000"/>
            <a:ext cx="2160000" cy="2160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248346"/>
            <a:ext cx="11350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СОБЫТИЯ И АКТИВНОСТИ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4BE2F628-9FE5-A9B9-5CAF-99C72A51ABFD}"/>
              </a:ext>
            </a:extLst>
          </p:cNvPr>
          <p:cNvSpPr/>
          <p:nvPr/>
        </p:nvSpPr>
        <p:spPr>
          <a:xfrm>
            <a:off x="956846" y="3429000"/>
            <a:ext cx="2160000" cy="2160000"/>
          </a:xfrm>
          <a:prstGeom prst="ellipse">
            <a:avLst/>
          </a:prstGeom>
          <a:noFill/>
          <a:ln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B18A6-B05A-07B9-106F-8C3AE9616AF6}"/>
              </a:ext>
            </a:extLst>
          </p:cNvPr>
          <p:cNvSpPr txBox="1"/>
          <p:nvPr/>
        </p:nvSpPr>
        <p:spPr>
          <a:xfrm>
            <a:off x="1125685" y="3980360"/>
            <a:ext cx="1822322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dirty="0"/>
              <a:t>DevRel</a:t>
            </a:r>
            <a:endParaRPr lang="ru-RU" sz="3600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FE84AA7F-9EAD-A28F-3EF6-3BE9AB61C329}"/>
              </a:ext>
            </a:extLst>
          </p:cNvPr>
          <p:cNvSpPr/>
          <p:nvPr/>
        </p:nvSpPr>
        <p:spPr>
          <a:xfrm>
            <a:off x="8355154" y="2510655"/>
            <a:ext cx="2880000" cy="2880000"/>
          </a:xfrm>
          <a:prstGeom prst="ellipse">
            <a:avLst/>
          </a:prstGeom>
          <a:noFill/>
          <a:ln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D315ED-770F-8C42-3DA5-93402EB5251C}"/>
              </a:ext>
            </a:extLst>
          </p:cNvPr>
          <p:cNvSpPr txBox="1"/>
          <p:nvPr/>
        </p:nvSpPr>
        <p:spPr>
          <a:xfrm>
            <a:off x="8252302" y="2997778"/>
            <a:ext cx="3085703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dirty="0"/>
              <a:t>Community</a:t>
            </a:r>
          </a:p>
          <a:p>
            <a:pPr algn="ctr">
              <a:lnSpc>
                <a:spcPct val="150000"/>
              </a:lnSpc>
            </a:pPr>
            <a:r>
              <a:rPr lang="en-US" sz="3600" dirty="0"/>
              <a:t>of Practice</a:t>
            </a:r>
            <a:endParaRPr lang="ru-RU" sz="3600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91A5642F-7B29-76F6-F88B-F32CA60441C2}"/>
              </a:ext>
            </a:extLst>
          </p:cNvPr>
          <p:cNvSpPr/>
          <p:nvPr/>
        </p:nvSpPr>
        <p:spPr>
          <a:xfrm>
            <a:off x="3957088" y="1426989"/>
            <a:ext cx="2880000" cy="2880000"/>
          </a:xfrm>
          <a:prstGeom prst="ellipse">
            <a:avLst/>
          </a:prstGeom>
          <a:noFill/>
          <a:ln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5441E4-F72D-F829-EB15-2C5CADAD1723}"/>
              </a:ext>
            </a:extLst>
          </p:cNvPr>
          <p:cNvSpPr txBox="1"/>
          <p:nvPr/>
        </p:nvSpPr>
        <p:spPr>
          <a:xfrm>
            <a:off x="3854236" y="2363512"/>
            <a:ext cx="308570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dirty="0" err="1"/>
              <a:t>Орг.проекты</a:t>
            </a:r>
            <a:endParaRPr lang="ru-RU" sz="3600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01CA9DC2-4A59-A79F-E77D-F34143DA8483}"/>
              </a:ext>
            </a:extLst>
          </p:cNvPr>
          <p:cNvSpPr/>
          <p:nvPr/>
        </p:nvSpPr>
        <p:spPr>
          <a:xfrm>
            <a:off x="8406580" y="2540360"/>
            <a:ext cx="2880000" cy="2880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7577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2788860" y="2136725"/>
            <a:ext cx="58401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К КОМУ ОБРАЩАТЬСЯ?</a:t>
            </a:r>
          </a:p>
        </p:txBody>
      </p:sp>
      <p:pic>
        <p:nvPicPr>
          <p:cNvPr id="9" name="Рисунок 8" descr="Изображение выглядит как диаграмма, многоугольник&#10;&#10;Автоматически созданное описание">
            <a:extLst>
              <a:ext uri="{FF2B5EF4-FFF2-40B4-BE49-F238E27FC236}">
                <a16:creationId xmlns:a16="http://schemas.microsoft.com/office/drawing/2014/main" id="{79A6D5E2-B35A-D748-06A1-DF1372FBE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17" y="847725"/>
            <a:ext cx="293179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322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Шестиугольник 6">
            <a:extLst>
              <a:ext uri="{FF2B5EF4-FFF2-40B4-BE49-F238E27FC236}">
                <a16:creationId xmlns:a16="http://schemas.microsoft.com/office/drawing/2014/main" id="{97A55D26-82C7-655B-F63E-2641C55BEBC2}"/>
              </a:ext>
            </a:extLst>
          </p:cNvPr>
          <p:cNvSpPr>
            <a:spLocks noChangeAspect="1"/>
          </p:cNvSpPr>
          <p:nvPr/>
        </p:nvSpPr>
        <p:spPr>
          <a:xfrm>
            <a:off x="3041569" y="682071"/>
            <a:ext cx="3600000" cy="3600000"/>
          </a:xfrm>
          <a:prstGeom prst="hexagon">
            <a:avLst/>
          </a:prstGeom>
          <a:solidFill>
            <a:schemeClr val="tx1"/>
          </a:solidFill>
          <a:ln w="1301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Шестиугольник 7">
            <a:extLst>
              <a:ext uri="{FF2B5EF4-FFF2-40B4-BE49-F238E27FC236}">
                <a16:creationId xmlns:a16="http://schemas.microsoft.com/office/drawing/2014/main" id="{4EC2FBDD-995D-91C9-85FD-39232B5C6757}"/>
              </a:ext>
            </a:extLst>
          </p:cNvPr>
          <p:cNvSpPr>
            <a:spLocks noChangeAspect="1"/>
          </p:cNvSpPr>
          <p:nvPr/>
        </p:nvSpPr>
        <p:spPr>
          <a:xfrm>
            <a:off x="5863682" y="2545248"/>
            <a:ext cx="3600000" cy="3600000"/>
          </a:xfrm>
          <a:prstGeom prst="hexagon">
            <a:avLst/>
          </a:prstGeom>
          <a:solidFill>
            <a:schemeClr val="tx1"/>
          </a:solidFill>
          <a:ln w="1301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solidFill>
            <a:schemeClr val="tx1">
              <a:alpha val="76000"/>
            </a:schemeClr>
          </a:solidFill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FF44B6B7-14E4-E17D-EF49-23CF4525B5D5}"/>
              </a:ext>
            </a:extLst>
          </p:cNvPr>
          <p:cNvCxnSpPr>
            <a:cxnSpLocks/>
          </p:cNvCxnSpPr>
          <p:nvPr/>
        </p:nvCxnSpPr>
        <p:spPr>
          <a:xfrm flipH="1">
            <a:off x="8516763" y="1415043"/>
            <a:ext cx="1556143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3B5111F-33FB-AC7B-E421-5178B28DEF8E}"/>
              </a:ext>
            </a:extLst>
          </p:cNvPr>
          <p:cNvSpPr txBox="1"/>
          <p:nvPr/>
        </p:nvSpPr>
        <p:spPr>
          <a:xfrm>
            <a:off x="8405621" y="430468"/>
            <a:ext cx="3563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algn="l"/>
            <a:r>
              <a:rPr lang="en-US" dirty="0"/>
              <a:t>TEAM</a:t>
            </a:r>
            <a:endParaRPr lang="ru-RU" dirty="0"/>
          </a:p>
          <a:p>
            <a:pPr algn="l"/>
            <a:r>
              <a:rPr lang="en-US" dirty="0"/>
              <a:t>DRIVER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25920-DF2A-27DE-27C4-563D8BA74BE5}"/>
              </a:ext>
            </a:extLst>
          </p:cNvPr>
          <p:cNvSpPr txBox="1"/>
          <p:nvPr/>
        </p:nvSpPr>
        <p:spPr>
          <a:xfrm>
            <a:off x="8405621" y="1686731"/>
            <a:ext cx="3406177" cy="14135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algn="ctr" defTabSz="1219170">
              <a:lnSpc>
                <a:spcPts val="1700"/>
              </a:lnSpc>
              <a:defRPr sz="2000">
                <a:solidFill>
                  <a:prstClr val="white"/>
                </a:solidFill>
                <a:latin typeface="Pragmatica Light" panose="020B0403040502020204" pitchFamily="34" charset="-52"/>
              </a:defRPr>
            </a:lvl1pPr>
          </a:lstStyle>
          <a:p>
            <a:pPr algn="l"/>
            <a:r>
              <a:rPr lang="ru-RU" dirty="0"/>
              <a:t>взаимодействие в команде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препятствия мешающие работе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вопросы по фреймворку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BCE2C5-FC76-F923-6DAC-040D0FF5D602}"/>
              </a:ext>
            </a:extLst>
          </p:cNvPr>
          <p:cNvSpPr txBox="1"/>
          <p:nvPr/>
        </p:nvSpPr>
        <p:spPr>
          <a:xfrm>
            <a:off x="746329" y="2985836"/>
            <a:ext cx="3563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РУКОВОДИТЕЛЬ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ОТДЕЛА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5A1D7-99EB-A9A9-21AA-F0B791FFBA82}"/>
              </a:ext>
            </a:extLst>
          </p:cNvPr>
          <p:cNvSpPr txBox="1"/>
          <p:nvPr/>
        </p:nvSpPr>
        <p:spPr>
          <a:xfrm>
            <a:off x="746329" y="4241115"/>
            <a:ext cx="3164824" cy="207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lnSpc>
                <a:spcPts val="1700"/>
              </a:lnSpc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заработная плата</a:t>
            </a:r>
          </a:p>
          <a:p>
            <a:pPr defTabSz="1219170">
              <a:lnSpc>
                <a:spcPts val="1700"/>
              </a:lnSpc>
            </a:pPr>
            <a:endParaRPr lang="ru-RU" sz="20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defTabSz="1219170">
              <a:lnSpc>
                <a:spcPts val="1700"/>
              </a:lnSpc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обучение и развитие</a:t>
            </a:r>
          </a:p>
          <a:p>
            <a:pPr defTabSz="1219170">
              <a:lnSpc>
                <a:spcPts val="1700"/>
              </a:lnSpc>
            </a:pPr>
            <a:endParaRPr lang="ru-RU" sz="20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defTabSz="1219170">
              <a:lnSpc>
                <a:spcPts val="1700"/>
              </a:lnSpc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консультации по </a:t>
            </a:r>
            <a:r>
              <a:rPr lang="ru-RU" sz="2000" dirty="0" err="1">
                <a:solidFill>
                  <a:prstClr val="white"/>
                </a:solidFill>
                <a:latin typeface="Pragmatica Light" panose="020B0403040502020204" pitchFamily="34" charset="-52"/>
              </a:rPr>
              <a:t>тех.вопросам</a:t>
            </a:r>
            <a:endParaRPr lang="ru-RU" sz="20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defTabSz="1219170">
              <a:lnSpc>
                <a:spcPts val="1700"/>
              </a:lnSpc>
            </a:pPr>
            <a:endParaRPr lang="ru-RU" sz="20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defTabSz="1219170">
              <a:lnSpc>
                <a:spcPts val="1700"/>
              </a:lnSpc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обмен опытом, </a:t>
            </a:r>
            <a:r>
              <a:rPr lang="en-US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community</a:t>
            </a:r>
            <a:endParaRPr lang="ru-RU" sz="20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310EB9-64BC-27EB-A35A-B9646E435FBD}"/>
              </a:ext>
            </a:extLst>
          </p:cNvPr>
          <p:cNvSpPr txBox="1"/>
          <p:nvPr/>
        </p:nvSpPr>
        <p:spPr>
          <a:xfrm>
            <a:off x="4310204" y="1830171"/>
            <a:ext cx="3563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PRODUCT</a:t>
            </a:r>
            <a:endParaRPr lang="ru-RU" dirty="0"/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OWNER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FCA6FF8B-6D19-7C67-C809-EDB1B57A10D8}"/>
              </a:ext>
            </a:extLst>
          </p:cNvPr>
          <p:cNvCxnSpPr>
            <a:cxnSpLocks/>
          </p:cNvCxnSpPr>
          <p:nvPr/>
        </p:nvCxnSpPr>
        <p:spPr>
          <a:xfrm flipH="1">
            <a:off x="4428004" y="2782642"/>
            <a:ext cx="1556143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15C1FE7-846C-E650-AB36-35A95A21E9BD}"/>
              </a:ext>
            </a:extLst>
          </p:cNvPr>
          <p:cNvSpPr txBox="1"/>
          <p:nvPr/>
        </p:nvSpPr>
        <p:spPr>
          <a:xfrm>
            <a:off x="4332735" y="3063737"/>
            <a:ext cx="4118767" cy="20768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algn="ctr" defTabSz="1219170">
              <a:lnSpc>
                <a:spcPts val="1700"/>
              </a:lnSpc>
              <a:defRPr sz="2000">
                <a:solidFill>
                  <a:prstClr val="white"/>
                </a:solidFill>
                <a:latin typeface="Pragmatica Light" panose="020B0403040502020204" pitchFamily="34" charset="-52"/>
              </a:defRPr>
            </a:lvl1pPr>
          </a:lstStyle>
          <a:p>
            <a:pPr algn="l"/>
            <a:r>
              <a:rPr lang="ru-RU" dirty="0"/>
              <a:t>приоритетность и сроки проектов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улучшения и фичи продуктов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идеи по новым проектам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разъяснение требований или задач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BF536589-DE72-0CAD-61F7-84988F97AAA8}"/>
              </a:ext>
            </a:extLst>
          </p:cNvPr>
          <p:cNvCxnSpPr>
            <a:cxnSpLocks/>
          </p:cNvCxnSpPr>
          <p:nvPr/>
        </p:nvCxnSpPr>
        <p:spPr>
          <a:xfrm flipH="1">
            <a:off x="868116" y="3997054"/>
            <a:ext cx="1556143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133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Шестиугольник 6">
            <a:extLst>
              <a:ext uri="{FF2B5EF4-FFF2-40B4-BE49-F238E27FC236}">
                <a16:creationId xmlns:a16="http://schemas.microsoft.com/office/drawing/2014/main" id="{97A55D26-82C7-655B-F63E-2641C55BEBC2}"/>
              </a:ext>
            </a:extLst>
          </p:cNvPr>
          <p:cNvSpPr>
            <a:spLocks noChangeAspect="1"/>
          </p:cNvSpPr>
          <p:nvPr/>
        </p:nvSpPr>
        <p:spPr>
          <a:xfrm>
            <a:off x="3041569" y="682071"/>
            <a:ext cx="3600000" cy="3600000"/>
          </a:xfrm>
          <a:prstGeom prst="hexagon">
            <a:avLst/>
          </a:prstGeom>
          <a:solidFill>
            <a:schemeClr val="tx1"/>
          </a:solidFill>
          <a:ln w="1301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Шестиугольник 7">
            <a:extLst>
              <a:ext uri="{FF2B5EF4-FFF2-40B4-BE49-F238E27FC236}">
                <a16:creationId xmlns:a16="http://schemas.microsoft.com/office/drawing/2014/main" id="{4EC2FBDD-995D-91C9-85FD-39232B5C6757}"/>
              </a:ext>
            </a:extLst>
          </p:cNvPr>
          <p:cNvSpPr>
            <a:spLocks noChangeAspect="1"/>
          </p:cNvSpPr>
          <p:nvPr/>
        </p:nvSpPr>
        <p:spPr>
          <a:xfrm>
            <a:off x="5863682" y="2545248"/>
            <a:ext cx="3600000" cy="3600000"/>
          </a:xfrm>
          <a:prstGeom prst="hexagon">
            <a:avLst/>
          </a:prstGeom>
          <a:solidFill>
            <a:schemeClr val="tx1"/>
          </a:solidFill>
          <a:ln w="1301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solidFill>
            <a:schemeClr val="tx1">
              <a:alpha val="76000"/>
            </a:schemeClr>
          </a:solidFill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FF44B6B7-14E4-E17D-EF49-23CF4525B5D5}"/>
              </a:ext>
            </a:extLst>
          </p:cNvPr>
          <p:cNvCxnSpPr>
            <a:cxnSpLocks/>
          </p:cNvCxnSpPr>
          <p:nvPr/>
        </p:nvCxnSpPr>
        <p:spPr>
          <a:xfrm flipH="1">
            <a:off x="8516763" y="1415043"/>
            <a:ext cx="1556143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3B5111F-33FB-AC7B-E421-5178B28DEF8E}"/>
              </a:ext>
            </a:extLst>
          </p:cNvPr>
          <p:cNvSpPr txBox="1"/>
          <p:nvPr/>
        </p:nvSpPr>
        <p:spPr>
          <a:xfrm>
            <a:off x="8405621" y="633668"/>
            <a:ext cx="3563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СЕРВИСЫ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25920-DF2A-27DE-27C4-563D8BA74BE5}"/>
              </a:ext>
            </a:extLst>
          </p:cNvPr>
          <p:cNvSpPr txBox="1"/>
          <p:nvPr/>
        </p:nvSpPr>
        <p:spPr>
          <a:xfrm>
            <a:off x="8405621" y="1686731"/>
            <a:ext cx="3406177" cy="18588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defTabSz="1219170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офисные и кадровые вопросы</a:t>
            </a:r>
          </a:p>
          <a:p>
            <a:endParaRPr lang="ru-RU" dirty="0"/>
          </a:p>
          <a:p>
            <a:r>
              <a:rPr lang="ru-RU" dirty="0"/>
              <a:t>покупка и производство деталей</a:t>
            </a:r>
          </a:p>
          <a:p>
            <a:endParaRPr lang="ru-RU" dirty="0"/>
          </a:p>
          <a:p>
            <a:r>
              <a:rPr lang="ru-RU" dirty="0"/>
              <a:t>документация, стенды, лаборатория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BCE2C5-FC76-F923-6DAC-040D0FF5D602}"/>
              </a:ext>
            </a:extLst>
          </p:cNvPr>
          <p:cNvSpPr txBox="1"/>
          <p:nvPr/>
        </p:nvSpPr>
        <p:spPr>
          <a:xfrm>
            <a:off x="776534" y="2987277"/>
            <a:ext cx="3563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РУКОВОДИТЕЛЬ РАЗАРБОТКИ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5A1D7-99EB-A9A9-21AA-F0B791FFBA82}"/>
              </a:ext>
            </a:extLst>
          </p:cNvPr>
          <p:cNvSpPr txBox="1"/>
          <p:nvPr/>
        </p:nvSpPr>
        <p:spPr>
          <a:xfrm>
            <a:off x="726976" y="4345248"/>
            <a:ext cx="3164824" cy="14228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defTabSz="1219170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утверждение расходов</a:t>
            </a:r>
          </a:p>
          <a:p>
            <a:endParaRPr lang="ru-RU" dirty="0"/>
          </a:p>
          <a:p>
            <a:r>
              <a:rPr lang="ru-RU" dirty="0"/>
              <a:t>кадровые изменения</a:t>
            </a:r>
          </a:p>
          <a:p>
            <a:endParaRPr lang="ru-RU" dirty="0"/>
          </a:p>
          <a:p>
            <a:r>
              <a:rPr lang="ru-RU" dirty="0"/>
              <a:t>вопросы нерешаемые </a:t>
            </a:r>
          </a:p>
          <a:p>
            <a:r>
              <a:rPr lang="ru-RU" dirty="0"/>
              <a:t>ни с кем другим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310EB9-64BC-27EB-A35A-B9646E435FBD}"/>
              </a:ext>
            </a:extLst>
          </p:cNvPr>
          <p:cNvSpPr txBox="1"/>
          <p:nvPr/>
        </p:nvSpPr>
        <p:spPr>
          <a:xfrm>
            <a:off x="4376788" y="1913648"/>
            <a:ext cx="3563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ИНЖЕНЕРЫ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КОМАНДЫ</a:t>
            </a:r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FCA6FF8B-6D19-7C67-C809-EDB1B57A10D8}"/>
              </a:ext>
            </a:extLst>
          </p:cNvPr>
          <p:cNvCxnSpPr>
            <a:cxnSpLocks/>
          </p:cNvCxnSpPr>
          <p:nvPr/>
        </p:nvCxnSpPr>
        <p:spPr>
          <a:xfrm flipH="1">
            <a:off x="4494588" y="2866119"/>
            <a:ext cx="1556143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15C1FE7-846C-E650-AB36-35A95A21E9BD}"/>
              </a:ext>
            </a:extLst>
          </p:cNvPr>
          <p:cNvSpPr txBox="1"/>
          <p:nvPr/>
        </p:nvSpPr>
        <p:spPr>
          <a:xfrm>
            <a:off x="4399320" y="3147214"/>
            <a:ext cx="3301006" cy="14228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defTabSz="1219170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рабочие вопросы</a:t>
            </a:r>
          </a:p>
          <a:p>
            <a:endParaRPr lang="ru-RU" dirty="0"/>
          </a:p>
          <a:p>
            <a:r>
              <a:rPr lang="ru-RU" dirty="0"/>
              <a:t>задачи по проекту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улучшения рабочего процесса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BF536589-DE72-0CAD-61F7-84988F97AAA8}"/>
              </a:ext>
            </a:extLst>
          </p:cNvPr>
          <p:cNvCxnSpPr>
            <a:cxnSpLocks/>
          </p:cNvCxnSpPr>
          <p:nvPr/>
        </p:nvCxnSpPr>
        <p:spPr>
          <a:xfrm flipH="1">
            <a:off x="868116" y="3997054"/>
            <a:ext cx="1556143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8898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Шестиугольник 6">
            <a:extLst>
              <a:ext uri="{FF2B5EF4-FFF2-40B4-BE49-F238E27FC236}">
                <a16:creationId xmlns:a16="http://schemas.microsoft.com/office/drawing/2014/main" id="{97A55D26-82C7-655B-F63E-2641C55BEBC2}"/>
              </a:ext>
            </a:extLst>
          </p:cNvPr>
          <p:cNvSpPr>
            <a:spLocks noChangeAspect="1"/>
          </p:cNvSpPr>
          <p:nvPr/>
        </p:nvSpPr>
        <p:spPr>
          <a:xfrm>
            <a:off x="3041569" y="682071"/>
            <a:ext cx="3600000" cy="3600000"/>
          </a:xfrm>
          <a:prstGeom prst="hexagon">
            <a:avLst/>
          </a:prstGeom>
          <a:solidFill>
            <a:schemeClr val="tx1"/>
          </a:solidFill>
          <a:ln w="1301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Шестиугольник 7">
            <a:extLst>
              <a:ext uri="{FF2B5EF4-FFF2-40B4-BE49-F238E27FC236}">
                <a16:creationId xmlns:a16="http://schemas.microsoft.com/office/drawing/2014/main" id="{4EC2FBDD-995D-91C9-85FD-39232B5C6757}"/>
              </a:ext>
            </a:extLst>
          </p:cNvPr>
          <p:cNvSpPr>
            <a:spLocks noChangeAspect="1"/>
          </p:cNvSpPr>
          <p:nvPr/>
        </p:nvSpPr>
        <p:spPr>
          <a:xfrm>
            <a:off x="5863682" y="2545248"/>
            <a:ext cx="3600000" cy="3600000"/>
          </a:xfrm>
          <a:prstGeom prst="hexagon">
            <a:avLst/>
          </a:prstGeom>
          <a:solidFill>
            <a:schemeClr val="tx1"/>
          </a:solidFill>
          <a:ln w="1301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solidFill>
            <a:schemeClr val="tx1">
              <a:alpha val="76000"/>
            </a:schemeClr>
          </a:solidFill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BCE2C5-FC76-F923-6DAC-040D0FF5D602}"/>
              </a:ext>
            </a:extLst>
          </p:cNvPr>
          <p:cNvSpPr txBox="1"/>
          <p:nvPr/>
        </p:nvSpPr>
        <p:spPr>
          <a:xfrm>
            <a:off x="2854410" y="2228901"/>
            <a:ext cx="3563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ВЛАДЕЛЕЦ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ФРЕЙМВОРКА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5A1D7-99EB-A9A9-21AA-F0B791FFBA82}"/>
              </a:ext>
            </a:extLst>
          </p:cNvPr>
          <p:cNvSpPr txBox="1"/>
          <p:nvPr/>
        </p:nvSpPr>
        <p:spPr>
          <a:xfrm>
            <a:off x="2867229" y="3484180"/>
            <a:ext cx="3164824" cy="20768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defTabSz="1219170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нарушения правил фреймворка</a:t>
            </a:r>
          </a:p>
          <a:p>
            <a:endParaRPr lang="ru-RU" dirty="0"/>
          </a:p>
          <a:p>
            <a:r>
              <a:rPr lang="ru-RU" dirty="0"/>
              <a:t>улучшения фреймворка</a:t>
            </a:r>
          </a:p>
          <a:p>
            <a:endParaRPr lang="ru-RU" dirty="0"/>
          </a:p>
          <a:p>
            <a:r>
              <a:rPr lang="ru-RU" dirty="0"/>
              <a:t>участие в </a:t>
            </a:r>
            <a:r>
              <a:rPr lang="ru-RU" dirty="0" err="1"/>
              <a:t>орг.проектах</a:t>
            </a:r>
            <a:endParaRPr lang="ru-RU" dirty="0"/>
          </a:p>
          <a:p>
            <a:endParaRPr lang="ru-RU" dirty="0"/>
          </a:p>
          <a:p>
            <a:r>
              <a:rPr lang="ru-RU" dirty="0"/>
              <a:t>иные неоднозначные ситуации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310EB9-64BC-27EB-A35A-B9646E435FBD}"/>
              </a:ext>
            </a:extLst>
          </p:cNvPr>
          <p:cNvSpPr txBox="1"/>
          <p:nvPr/>
        </p:nvSpPr>
        <p:spPr>
          <a:xfrm>
            <a:off x="6925363" y="994667"/>
            <a:ext cx="3563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КОМАНДА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DEVREL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FCA6FF8B-6D19-7C67-C809-EDB1B57A10D8}"/>
              </a:ext>
            </a:extLst>
          </p:cNvPr>
          <p:cNvCxnSpPr>
            <a:cxnSpLocks/>
          </p:cNvCxnSpPr>
          <p:nvPr/>
        </p:nvCxnSpPr>
        <p:spPr>
          <a:xfrm flipH="1">
            <a:off x="7043163" y="1947138"/>
            <a:ext cx="1556143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15C1FE7-846C-E650-AB36-35A95A21E9BD}"/>
              </a:ext>
            </a:extLst>
          </p:cNvPr>
          <p:cNvSpPr txBox="1"/>
          <p:nvPr/>
        </p:nvSpPr>
        <p:spPr>
          <a:xfrm>
            <a:off x="6947895" y="2228233"/>
            <a:ext cx="3301006" cy="16408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defTabSz="1219170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выступление на конференциях</a:t>
            </a:r>
          </a:p>
          <a:p>
            <a:endParaRPr lang="ru-RU" dirty="0"/>
          </a:p>
          <a:p>
            <a:r>
              <a:rPr lang="ru-RU" dirty="0"/>
              <a:t>подготовка мероприятий</a:t>
            </a:r>
          </a:p>
          <a:p>
            <a:endParaRPr lang="ru-RU" dirty="0"/>
          </a:p>
          <a:p>
            <a:r>
              <a:rPr lang="ru-RU" dirty="0"/>
              <a:t>корпоративные мероприятия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BF536589-DE72-0CAD-61F7-84988F97AAA8}"/>
              </a:ext>
            </a:extLst>
          </p:cNvPr>
          <p:cNvCxnSpPr>
            <a:cxnSpLocks/>
          </p:cNvCxnSpPr>
          <p:nvPr/>
        </p:nvCxnSpPr>
        <p:spPr>
          <a:xfrm flipH="1">
            <a:off x="2989016" y="3240119"/>
            <a:ext cx="1556143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7925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2788860" y="2136725"/>
            <a:ext cx="58401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7200" dirty="0">
                <a:solidFill>
                  <a:prstClr val="black"/>
                </a:solidFill>
                <a:latin typeface="Impact" panose="020B0806030902050204" pitchFamily="34" charset="0"/>
              </a:rPr>
              <a:t>ПРОЕКТ И ПРОДУКТ</a:t>
            </a:r>
            <a:endParaRPr kumimoji="0" lang="ru-RU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pic>
        <p:nvPicPr>
          <p:cNvPr id="9" name="Рисунок 8" descr="Изображение выглядит как диаграмма, многоугольник&#10;&#10;Автоматически созданное описание">
            <a:extLst>
              <a:ext uri="{FF2B5EF4-FFF2-40B4-BE49-F238E27FC236}">
                <a16:creationId xmlns:a16="http://schemas.microsoft.com/office/drawing/2014/main" id="{79A6D5E2-B35A-D748-06A1-DF1372FBE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17" y="847725"/>
            <a:ext cx="293179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26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7515FB1-4485-1150-B541-F80957D56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84" b="94907" l="9970" r="89976">
                        <a14:foregroundMark x1="65186" y1="91269" x2="65186" y2="91269"/>
                        <a14:foregroundMark x1="65186" y1="91431" x2="66974" y2="94907"/>
                        <a14:backgroundMark x1="50041" y1="69644" x2="53969" y2="64228"/>
                        <a14:backgroundMark x1="45435" y1="55901" x2="46410" y2="58367"/>
                        <a14:backgroundMark x1="56272" y1="84842" x2="52371" y2="79224"/>
                        <a14:backgroundMark x1="52371" y1="79224" x2="51504" y2="76960"/>
                        <a14:backgroundMark x1="47738" y1="35004" x2="48578" y2="35327"/>
                        <a14:backgroundMark x1="53238" y1="40986" x2="53238" y2="40986"/>
                        <a14:backgroundMark x1="52073" y1="39410" x2="52073" y2="39410"/>
                        <a14:backgroundMark x1="50501" y1="38804" x2="50501" y2="38804"/>
                        <a14:backgroundMark x1="54511" y1="52991" x2="54511" y2="52991"/>
                        <a14:backgroundMark x1="52723" y1="57720" x2="52723" y2="57720"/>
                        <a14:backgroundMark x1="53454" y1="56306" x2="53454" y2="56306"/>
                        <a14:backgroundMark x1="44459" y1="48262" x2="44459" y2="48262"/>
                        <a14:backgroundMark x1="51964" y1="58650" x2="51964" y2="58650"/>
                        <a14:backgroundMark x1="43620" y1="35327" x2="43620" y2="35327"/>
                        <a14:backgroundMark x1="60742" y1="73767" x2="60742" y2="73767"/>
                        <a14:backgroundMark x1="66649" y1="91754" x2="66649" y2="91754"/>
                        <a14:backgroundMark x1="28610" y1="80234" x2="30425" y2="81043"/>
                        <a14:backgroundMark x1="78542" y1="67340" x2="78976" y2="676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103" y="625153"/>
            <a:ext cx="9489376" cy="636188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199708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7200" dirty="0">
                <a:solidFill>
                  <a:prstClr val="white"/>
                </a:solidFill>
                <a:latin typeface="Impact" panose="020B0806030902050204" pitchFamily="34" charset="0"/>
              </a:rPr>
              <a:t>ЧТО ТАКОЕ ПРОДУКТ?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76A38-9168-4C8F-49B8-0A7B570CE73B}"/>
              </a:ext>
            </a:extLst>
          </p:cNvPr>
          <p:cNvSpPr txBox="1"/>
          <p:nvPr/>
        </p:nvSpPr>
        <p:spPr>
          <a:xfrm>
            <a:off x="346069" y="1466194"/>
            <a:ext cx="883028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Это то изделие, услуга или комплексное решение, которое мы придумываем, производим, продаем, а клиент покупает и использует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60249-00A0-8CF7-5205-96917DD13EA0}"/>
              </a:ext>
            </a:extLst>
          </p:cNvPr>
          <p:cNvSpPr txBox="1"/>
          <p:nvPr/>
        </p:nvSpPr>
        <p:spPr>
          <a:xfrm>
            <a:off x="446747" y="3677056"/>
            <a:ext cx="8655185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r>
              <a:rPr lang="ru-RU" b="1" dirty="0"/>
              <a:t>Примеры продуктов: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комплекс </a:t>
            </a:r>
            <a:r>
              <a:rPr lang="ru-RU" dirty="0" err="1"/>
              <a:t>Радиобарьер</a:t>
            </a: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комплекс Кайман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комплекс </a:t>
            </a:r>
            <a:r>
              <a:rPr lang="ru-RU" dirty="0" err="1"/>
              <a:t>Радиодозор</a:t>
            </a:r>
            <a:r>
              <a:rPr lang="ru-RU" dirty="0"/>
              <a:t> 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37B671A-29F9-ECB6-629E-B8177BAE426E}"/>
              </a:ext>
            </a:extLst>
          </p:cNvPr>
          <p:cNvCxnSpPr>
            <a:cxnSpLocks/>
          </p:cNvCxnSpPr>
          <p:nvPr/>
        </p:nvCxnSpPr>
        <p:spPr>
          <a:xfrm flipH="1">
            <a:off x="446747" y="3429000"/>
            <a:ext cx="231229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6075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36C99FC-82D4-2860-61BF-D7B740F3C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9349992" y="3568260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199708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ЧТО ТАКОЕ ПРОЕКТ?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76A38-9168-4C8F-49B8-0A7B570CE73B}"/>
              </a:ext>
            </a:extLst>
          </p:cNvPr>
          <p:cNvSpPr txBox="1"/>
          <p:nvPr/>
        </p:nvSpPr>
        <p:spPr>
          <a:xfrm>
            <a:off x="539343" y="1466194"/>
            <a:ext cx="9527136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Это одноразовая деятельность, в результате которой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за определенное время и бюджет достигается четко поставленная цель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60249-00A0-8CF7-5205-96917DD13EA0}"/>
              </a:ext>
            </a:extLst>
          </p:cNvPr>
          <p:cNvSpPr txBox="1"/>
          <p:nvPr/>
        </p:nvSpPr>
        <p:spPr>
          <a:xfrm>
            <a:off x="446746" y="3501969"/>
            <a:ext cx="7598027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Примеры проектов: </a:t>
            </a:r>
          </a:p>
          <a:p>
            <a:pPr marL="342000" indent="-342900">
              <a:buFont typeface="Arial" panose="020B0604020202020204" pitchFamily="34" charset="0"/>
              <a:buChar char="•"/>
            </a:pPr>
            <a:r>
              <a:rPr lang="ru-RU" dirty="0"/>
              <a:t>создание Подземной РСЛ </a:t>
            </a:r>
          </a:p>
          <a:p>
            <a:pPr marL="342000" indent="-342900">
              <a:buFont typeface="Arial" panose="020B0604020202020204" pitchFamily="34" charset="0"/>
              <a:buChar char="•"/>
            </a:pPr>
            <a:r>
              <a:rPr lang="ru-RU" dirty="0"/>
              <a:t>Кулунда</a:t>
            </a:r>
          </a:p>
          <a:p>
            <a:pPr marL="342000" indent="-342900">
              <a:buFont typeface="Arial" panose="020B0604020202020204" pitchFamily="34" charset="0"/>
              <a:buChar char="•"/>
            </a:pPr>
            <a:r>
              <a:rPr lang="ru-RU" dirty="0"/>
              <a:t>создать Уголок метролога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37B671A-29F9-ECB6-629E-B8177BAE426E}"/>
              </a:ext>
            </a:extLst>
          </p:cNvPr>
          <p:cNvCxnSpPr>
            <a:cxnSpLocks/>
          </p:cNvCxnSpPr>
          <p:nvPr/>
        </p:nvCxnSpPr>
        <p:spPr>
          <a:xfrm flipH="1">
            <a:off x="539343" y="3369317"/>
            <a:ext cx="231229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6841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E0E5CE6-C048-FBB5-B803-91959C563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10669507" y="4287461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199708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ПРОДУКТ ИЛИ ПРОЕКТ?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20B21-C016-8E93-C4E8-1665EA8FF350}"/>
              </a:ext>
            </a:extLst>
          </p:cNvPr>
          <p:cNvSpPr txBox="1"/>
          <p:nvPr/>
        </p:nvSpPr>
        <p:spPr>
          <a:xfrm>
            <a:off x="428365" y="2709837"/>
            <a:ext cx="10498715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Команда всегда должна</a:t>
            </a:r>
            <a:r>
              <a:rPr lang="en-US" dirty="0"/>
              <a:t> </a:t>
            </a:r>
            <a:r>
              <a:rPr lang="ru-RU" dirty="0"/>
              <a:t>понимать: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Как то что мы делаем отразится на конечном продукте?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Почему эти изменения улучшат продукт?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Как изменится жизнь клиента, использующего наш продукт?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02AB4-6CEF-5BD0-093E-FE5C3C8F5148}"/>
              </a:ext>
            </a:extLst>
          </p:cNvPr>
          <p:cNvSpPr txBox="1"/>
          <p:nvPr/>
        </p:nvSpPr>
        <p:spPr>
          <a:xfrm>
            <a:off x="428365" y="1671331"/>
            <a:ext cx="8176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prstClr val="white"/>
                </a:solidFill>
                <a:latin typeface="Pragmatica Book" panose="020B0503040502020204" pitchFamily="34" charset="0"/>
              </a:rPr>
              <a:t>Команда всегда создает, либо улучшает Продукт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C5670B9-21DD-7ADE-EF80-FB9DC551C2A0}"/>
              </a:ext>
            </a:extLst>
          </p:cNvPr>
          <p:cNvCxnSpPr>
            <a:cxnSpLocks/>
          </p:cNvCxnSpPr>
          <p:nvPr/>
        </p:nvCxnSpPr>
        <p:spPr>
          <a:xfrm flipH="1">
            <a:off x="556475" y="2350008"/>
            <a:ext cx="7892581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6159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48BFD81-2505-D125-3346-63E8E209B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10669507" y="4287461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199708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ПРОДУКТ ИЛИ ПРОЕКТ?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02AB4-6CEF-5BD0-093E-FE5C3C8F5148}"/>
              </a:ext>
            </a:extLst>
          </p:cNvPr>
          <p:cNvSpPr txBox="1"/>
          <p:nvPr/>
        </p:nvSpPr>
        <p:spPr>
          <a:xfrm>
            <a:off x="428365" y="1671331"/>
            <a:ext cx="10032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prstClr val="white"/>
                </a:solidFill>
                <a:latin typeface="Pragmatica Bold" panose="020B0703040502020204" pitchFamily="34" charset="0"/>
              </a:defRPr>
            </a:lvl1pPr>
          </a:lstStyle>
          <a:p>
            <a:r>
              <a:rPr lang="ru-RU" dirty="0">
                <a:latin typeface="Pragmatica Book" panose="020B0503040502020204" pitchFamily="34" charset="0"/>
              </a:rPr>
              <a:t>Работа команды над Продуктом состоит из шагов (Проектов)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C5670B9-21DD-7ADE-EF80-FB9DC551C2A0}"/>
              </a:ext>
            </a:extLst>
          </p:cNvPr>
          <p:cNvCxnSpPr>
            <a:cxnSpLocks/>
          </p:cNvCxnSpPr>
          <p:nvPr/>
        </p:nvCxnSpPr>
        <p:spPr>
          <a:xfrm flipH="1">
            <a:off x="556475" y="2350008"/>
            <a:ext cx="7892581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A8CE676-93C7-F94E-727E-7EB6091CB213}"/>
              </a:ext>
            </a:extLst>
          </p:cNvPr>
          <p:cNvSpPr txBox="1"/>
          <p:nvPr/>
        </p:nvSpPr>
        <p:spPr>
          <a:xfrm>
            <a:off x="428365" y="2720940"/>
            <a:ext cx="10517003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Для каждого проекта команде важно понимать: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 каком продукту относится проект?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Что является целью проекта?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Как цель проекта улучшает продукт?</a:t>
            </a:r>
          </a:p>
        </p:txBody>
      </p:sp>
    </p:spTree>
    <p:extLst>
      <p:ext uri="{BB962C8B-B14F-4D97-AF65-F5344CB8AC3E}">
        <p14:creationId xmlns:p14="http://schemas.microsoft.com/office/powerpoint/2010/main" val="1467721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48BFD81-2505-D125-3346-63E8E209B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10669507" y="4287461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199708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7200" dirty="0">
                <a:solidFill>
                  <a:prstClr val="white"/>
                </a:solidFill>
                <a:latin typeface="Impact" panose="020B0806030902050204" pitchFamily="34" charset="0"/>
              </a:rPr>
              <a:t>РАБОТА С ПРОЕКТАМИ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A9DDB9-5FAB-43D0-BDC5-63BA98A881DF}"/>
              </a:ext>
            </a:extLst>
          </p:cNvPr>
          <p:cNvSpPr txBox="1"/>
          <p:nvPr/>
        </p:nvSpPr>
        <p:spPr>
          <a:xfrm>
            <a:off x="607756" y="2033841"/>
            <a:ext cx="3218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sz="2400" dirty="0"/>
              <a:t>ПОТОКИ ПРОЕКТОВ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2B170-908D-3E4E-1D36-64A58E7CE357}"/>
              </a:ext>
            </a:extLst>
          </p:cNvPr>
          <p:cNvSpPr txBox="1"/>
          <p:nvPr/>
        </p:nvSpPr>
        <p:spPr>
          <a:xfrm>
            <a:off x="4670276" y="2033841"/>
            <a:ext cx="3218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sz="2400" dirty="0"/>
              <a:t>СРОЧНЫЕ ПРОЕКТЫ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E466F-970E-A4CF-1B49-AFAA7FB679E9}"/>
              </a:ext>
            </a:extLst>
          </p:cNvPr>
          <p:cNvSpPr txBox="1"/>
          <p:nvPr/>
        </p:nvSpPr>
        <p:spPr>
          <a:xfrm>
            <a:off x="8296400" y="2035768"/>
            <a:ext cx="3218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sz="2400" dirty="0"/>
              <a:t>ОРГ.ПРОЕКТЫ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1EE9F9-AE53-4DF7-8DC9-2DF8AFA12D47}"/>
              </a:ext>
            </a:extLst>
          </p:cNvPr>
          <p:cNvSpPr txBox="1"/>
          <p:nvPr/>
        </p:nvSpPr>
        <p:spPr>
          <a:xfrm>
            <a:off x="607755" y="3221977"/>
            <a:ext cx="4152397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dirty="0"/>
              <a:t>СТРАТЕГИЧЕСКИЙ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dirty="0"/>
              <a:t>ТАКТИЧЕСКИЙ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dirty="0"/>
              <a:t>ИНФРАСТРУКТУРНЫЙ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E6B6D14-BA83-FAE0-E05E-95BFDE06B046}"/>
              </a:ext>
            </a:extLst>
          </p:cNvPr>
          <p:cNvCxnSpPr>
            <a:cxnSpLocks/>
          </p:cNvCxnSpPr>
          <p:nvPr/>
        </p:nvCxnSpPr>
        <p:spPr>
          <a:xfrm flipH="1">
            <a:off x="1048631" y="2977586"/>
            <a:ext cx="231229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6FC137-3473-27F6-6D07-95AC1575C8E2}"/>
              </a:ext>
            </a:extLst>
          </p:cNvPr>
          <p:cNvSpPr txBox="1"/>
          <p:nvPr/>
        </p:nvSpPr>
        <p:spPr>
          <a:xfrm>
            <a:off x="4203473" y="3205025"/>
            <a:ext cx="4152397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>
              <a:lnSpc>
                <a:spcPct val="150000"/>
              </a:lnSpc>
            </a:pPr>
            <a:r>
              <a:rPr lang="ru-RU" dirty="0"/>
              <a:t>ИМЕЮТ ПРИОРИТЕТ И ОБЯЗАТЕЛЬНО БЕРУТСЯ В РАБОТУ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CADF1B-00B6-5E18-19DB-A5796BF2DCB4}"/>
              </a:ext>
            </a:extLst>
          </p:cNvPr>
          <p:cNvSpPr txBox="1"/>
          <p:nvPr/>
        </p:nvSpPr>
        <p:spPr>
          <a:xfrm>
            <a:off x="8170674" y="3209425"/>
            <a:ext cx="3395912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>
              <a:lnSpc>
                <a:spcPct val="150000"/>
              </a:lnSpc>
            </a:pPr>
            <a:r>
              <a:rPr lang="ru-RU" dirty="0"/>
              <a:t>ВЕДУТСЯ НА ДОСКАХ</a:t>
            </a:r>
          </a:p>
          <a:p>
            <a:pPr>
              <a:lnSpc>
                <a:spcPct val="150000"/>
              </a:lnSpc>
            </a:pPr>
            <a:r>
              <a:rPr lang="ru-RU" dirty="0"/>
              <a:t>А и Б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E5AD7814-390E-66D6-DA06-472011AE397A}"/>
              </a:ext>
            </a:extLst>
          </p:cNvPr>
          <p:cNvCxnSpPr>
            <a:cxnSpLocks/>
          </p:cNvCxnSpPr>
          <p:nvPr/>
        </p:nvCxnSpPr>
        <p:spPr>
          <a:xfrm flipH="1">
            <a:off x="5020875" y="2977586"/>
            <a:ext cx="231229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31FAD23-4039-80D0-D003-B2F8572643E3}"/>
              </a:ext>
            </a:extLst>
          </p:cNvPr>
          <p:cNvCxnSpPr>
            <a:cxnSpLocks/>
          </p:cNvCxnSpPr>
          <p:nvPr/>
        </p:nvCxnSpPr>
        <p:spPr>
          <a:xfrm flipH="1">
            <a:off x="8865024" y="2977586"/>
            <a:ext cx="231229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7617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48BFD81-2505-D125-3346-63E8E209B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10669507" y="4287461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8459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7200" dirty="0">
                <a:solidFill>
                  <a:prstClr val="white"/>
                </a:solidFill>
                <a:latin typeface="Impact" panose="020B0806030902050204" pitchFamily="34" charset="0"/>
              </a:rPr>
              <a:t>СРОЧНЫЕ ПРОЕКТЫ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В СБОРНЫХ КОМАНДАХ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31FAD23-4039-80D0-D003-B2F8572643E3}"/>
              </a:ext>
            </a:extLst>
          </p:cNvPr>
          <p:cNvCxnSpPr>
            <a:cxnSpLocks/>
          </p:cNvCxnSpPr>
          <p:nvPr/>
        </p:nvCxnSpPr>
        <p:spPr>
          <a:xfrm flipH="1">
            <a:off x="2095924" y="4053927"/>
            <a:ext cx="231229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600683-676C-3BA5-22D7-7ADEADF87937}"/>
              </a:ext>
            </a:extLst>
          </p:cNvPr>
          <p:cNvSpPr txBox="1"/>
          <p:nvPr/>
        </p:nvSpPr>
        <p:spPr>
          <a:xfrm>
            <a:off x="4728448" y="3288711"/>
            <a:ext cx="6978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algn="l"/>
            <a:r>
              <a:rPr lang="ru-RU" dirty="0"/>
              <a:t>ВРЕМЕННАЯ КОМАНДА/ГРУППА, КОТОРАЯ СОЗДАЕТСЯ ИЗ СОТРУДНИКОВ ПОСТОЯННЫХ КОМАНД, СПЕЦИАЛЬНО ДЛЯ РАБОТЫ НАД ОДНИМ «СРОЧНЯКОМ»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848B855-9C08-CCFF-4C17-746EDE73F400}"/>
              </a:ext>
            </a:extLst>
          </p:cNvPr>
          <p:cNvCxnSpPr>
            <a:cxnSpLocks/>
          </p:cNvCxnSpPr>
          <p:nvPr/>
        </p:nvCxnSpPr>
        <p:spPr>
          <a:xfrm flipV="1">
            <a:off x="2095924" y="2238775"/>
            <a:ext cx="0" cy="182370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2232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48BFD81-2505-D125-3346-63E8E209B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10669507" y="4287461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8459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СРОЧНЫЕ ПРОЕКТЫ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В СБОРНЫХ КОМАНДАХ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31FAD23-4039-80D0-D003-B2F8572643E3}"/>
              </a:ext>
            </a:extLst>
          </p:cNvPr>
          <p:cNvCxnSpPr>
            <a:cxnSpLocks/>
          </p:cNvCxnSpPr>
          <p:nvPr/>
        </p:nvCxnSpPr>
        <p:spPr>
          <a:xfrm flipV="1">
            <a:off x="2192812" y="2751835"/>
            <a:ext cx="0" cy="260350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F92455-8748-8AC3-DF81-327A4335E3FC}"/>
              </a:ext>
            </a:extLst>
          </p:cNvPr>
          <p:cNvSpPr txBox="1"/>
          <p:nvPr/>
        </p:nvSpPr>
        <p:spPr>
          <a:xfrm>
            <a:off x="2819648" y="2478565"/>
            <a:ext cx="8991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UNISCRUM </a:t>
            </a: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КОМАНДА НЕ ИМЕЕТ ПРАВА НЕ ОТПУСТИТЬ СВОЕГО СОТРУДНИКА В СБОРНУЮ КОМАНДУ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C41C99-0333-07CE-51B2-E61128D49078}"/>
              </a:ext>
            </a:extLst>
          </p:cNvPr>
          <p:cNvSpPr txBox="1"/>
          <p:nvPr/>
        </p:nvSpPr>
        <p:spPr>
          <a:xfrm>
            <a:off x="2819649" y="3566768"/>
            <a:ext cx="6978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РАБОТОЙ СБОРНОЙ КОМАНДЫ УПРАВЛЯЕТ МЕНЕДЖЕР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F0012-728B-ED74-C8BF-36D2E8F6636A}"/>
              </a:ext>
            </a:extLst>
          </p:cNvPr>
          <p:cNvSpPr txBox="1"/>
          <p:nvPr/>
        </p:nvSpPr>
        <p:spPr>
          <a:xfrm>
            <a:off x="2819649" y="4654971"/>
            <a:ext cx="6978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lnSpc>
                <a:spcPct val="100000"/>
              </a:lnSpc>
              <a:defRPr sz="2400">
                <a:solidFill>
                  <a:prstClr val="white"/>
                </a:solidFill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МЕНЕДЖЕР ДЕЙСТВУЕТ КАК КЛАССИЧЕСКИЙ РУКОВОДИТЕЛЬ</a:t>
            </a:r>
          </a:p>
        </p:txBody>
      </p:sp>
    </p:spTree>
    <p:extLst>
      <p:ext uri="{BB962C8B-B14F-4D97-AF65-F5344CB8AC3E}">
        <p14:creationId xmlns:p14="http://schemas.microsoft.com/office/powerpoint/2010/main" val="12649886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ЭТАПЫ ПРОЕКТА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1892AD7-4461-5A2F-D4B3-7BDD4C3ED618}"/>
              </a:ext>
            </a:extLst>
          </p:cNvPr>
          <p:cNvGrpSpPr/>
          <p:nvPr/>
        </p:nvGrpSpPr>
        <p:grpSpPr>
          <a:xfrm>
            <a:off x="1865962" y="1643436"/>
            <a:ext cx="1800000" cy="1800000"/>
            <a:chOff x="2338959" y="1962750"/>
            <a:chExt cx="1665685" cy="1440000"/>
          </a:xfrm>
        </p:grpSpPr>
        <p:sp>
          <p:nvSpPr>
            <p:cNvPr id="10" name="Шестиугольник 9">
              <a:extLst>
                <a:ext uri="{FF2B5EF4-FFF2-40B4-BE49-F238E27FC236}">
                  <a16:creationId xmlns:a16="http://schemas.microsoft.com/office/drawing/2014/main" id="{855B9839-AC41-9BF2-C973-48007A182BBF}"/>
                </a:ext>
              </a:extLst>
            </p:cNvPr>
            <p:cNvSpPr/>
            <p:nvPr/>
          </p:nvSpPr>
          <p:spPr>
            <a:xfrm>
              <a:off x="2338959" y="1962750"/>
              <a:ext cx="1665685" cy="14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02DDA7-6A92-A782-8144-D841888CB6A3}"/>
                </a:ext>
              </a:extLst>
            </p:cNvPr>
            <p:cNvSpPr txBox="1"/>
            <p:nvPr/>
          </p:nvSpPr>
          <p:spPr>
            <a:xfrm>
              <a:off x="2338959" y="2448840"/>
              <a:ext cx="1665685" cy="4678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ИДЕЯ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9280C37-E2E3-AFD2-D02C-5503102BBBF8}"/>
              </a:ext>
            </a:extLst>
          </p:cNvPr>
          <p:cNvSpPr txBox="1"/>
          <p:nvPr/>
        </p:nvSpPr>
        <p:spPr>
          <a:xfrm>
            <a:off x="4324776" y="1648572"/>
            <a:ext cx="7460823" cy="432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У отдела Продаж появляется запрос от клиентов </a:t>
            </a:r>
            <a:b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</a:b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о новом продукте или доработке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Производство сталкивается с проблемой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Отдел Сервиса замечает что клиенты часто жалуются на один и тот же баг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Сотрудники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RnD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предлагают улучшения для одного из наших продуктов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15023-D9ED-5FE5-E818-AA6674E722EE}"/>
              </a:ext>
            </a:extLst>
          </p:cNvPr>
          <p:cNvSpPr txBox="1"/>
          <p:nvPr/>
        </p:nvSpPr>
        <p:spPr>
          <a:xfrm>
            <a:off x="-76671" y="4468173"/>
            <a:ext cx="39882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9988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во всех этих случаях идея проекта добавляется на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сайт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feedback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504E238-C98E-D73D-6E33-324BC9A5E463}"/>
              </a:ext>
            </a:extLst>
          </p:cNvPr>
          <p:cNvCxnSpPr>
            <a:cxnSpLocks/>
          </p:cNvCxnSpPr>
          <p:nvPr/>
        </p:nvCxnSpPr>
        <p:spPr>
          <a:xfrm flipH="1">
            <a:off x="709812" y="4298386"/>
            <a:ext cx="2312298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6429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ЭТАПЫ ПРОЕКТА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A628A93C-20C4-41B4-0BDD-9FBE7C5239E5}"/>
              </a:ext>
            </a:extLst>
          </p:cNvPr>
          <p:cNvSpPr/>
          <p:nvPr/>
        </p:nvSpPr>
        <p:spPr>
          <a:xfrm>
            <a:off x="489514" y="2575814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1892AD7-4461-5A2F-D4B3-7BDD4C3ED618}"/>
              </a:ext>
            </a:extLst>
          </p:cNvPr>
          <p:cNvGrpSpPr/>
          <p:nvPr/>
        </p:nvGrpSpPr>
        <p:grpSpPr>
          <a:xfrm>
            <a:off x="1865962" y="1643436"/>
            <a:ext cx="1800000" cy="1800000"/>
            <a:chOff x="2338959" y="1962750"/>
            <a:chExt cx="1665685" cy="1440000"/>
          </a:xfrm>
        </p:grpSpPr>
        <p:sp>
          <p:nvSpPr>
            <p:cNvPr id="10" name="Шестиугольник 9">
              <a:extLst>
                <a:ext uri="{FF2B5EF4-FFF2-40B4-BE49-F238E27FC236}">
                  <a16:creationId xmlns:a16="http://schemas.microsoft.com/office/drawing/2014/main" id="{855B9839-AC41-9BF2-C973-48007A182BBF}"/>
                </a:ext>
              </a:extLst>
            </p:cNvPr>
            <p:cNvSpPr/>
            <p:nvPr/>
          </p:nvSpPr>
          <p:spPr>
            <a:xfrm>
              <a:off x="2338959" y="1962750"/>
              <a:ext cx="1665685" cy="14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02DDA7-6A92-A782-8144-D841888CB6A3}"/>
                </a:ext>
              </a:extLst>
            </p:cNvPr>
            <p:cNvSpPr txBox="1"/>
            <p:nvPr/>
          </p:nvSpPr>
          <p:spPr>
            <a:xfrm>
              <a:off x="2338959" y="2448840"/>
              <a:ext cx="1665685" cy="4678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ИДЕЯ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AA0B376-F7DF-1E4F-2E9B-91A7DBB4CD44}"/>
              </a:ext>
            </a:extLst>
          </p:cNvPr>
          <p:cNvSpPr txBox="1"/>
          <p:nvPr/>
        </p:nvSpPr>
        <p:spPr>
          <a:xfrm>
            <a:off x="576868" y="3212994"/>
            <a:ext cx="1665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ДОБАВЛЕНИЕ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 ОЧЕРЕДЬ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5C108-99DB-8D62-997B-71D910729D32}"/>
              </a:ext>
            </a:extLst>
          </p:cNvPr>
          <p:cNvSpPr txBox="1"/>
          <p:nvPr/>
        </p:nvSpPr>
        <p:spPr>
          <a:xfrm>
            <a:off x="4338660" y="1643436"/>
            <a:ext cx="6710340" cy="2456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342900" indent="-34290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400">
                <a:solidFill>
                  <a:prstClr val="white"/>
                </a:solidFill>
                <a:latin typeface="Pragmatica Light" panose="020B0403040502020204" pitchFamily="34" charset="-52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PO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принимают решение о заведении проекта для идеи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Проект добавляется на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SPACE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Формируется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приоритет проекта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8840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ЭТАПЫ ПРОЕКТА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A628A93C-20C4-41B4-0BDD-9FBE7C5239E5}"/>
              </a:ext>
            </a:extLst>
          </p:cNvPr>
          <p:cNvSpPr/>
          <p:nvPr/>
        </p:nvSpPr>
        <p:spPr>
          <a:xfrm>
            <a:off x="489514" y="2575814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1892AD7-4461-5A2F-D4B3-7BDD4C3ED618}"/>
              </a:ext>
            </a:extLst>
          </p:cNvPr>
          <p:cNvGrpSpPr/>
          <p:nvPr/>
        </p:nvGrpSpPr>
        <p:grpSpPr>
          <a:xfrm>
            <a:off x="1865962" y="1643436"/>
            <a:ext cx="1800000" cy="1800000"/>
            <a:chOff x="2338959" y="1962750"/>
            <a:chExt cx="1665685" cy="1440000"/>
          </a:xfrm>
        </p:grpSpPr>
        <p:sp>
          <p:nvSpPr>
            <p:cNvPr id="10" name="Шестиугольник 9">
              <a:extLst>
                <a:ext uri="{FF2B5EF4-FFF2-40B4-BE49-F238E27FC236}">
                  <a16:creationId xmlns:a16="http://schemas.microsoft.com/office/drawing/2014/main" id="{855B9839-AC41-9BF2-C973-48007A182BBF}"/>
                </a:ext>
              </a:extLst>
            </p:cNvPr>
            <p:cNvSpPr/>
            <p:nvPr/>
          </p:nvSpPr>
          <p:spPr>
            <a:xfrm>
              <a:off x="2338959" y="1962750"/>
              <a:ext cx="1665685" cy="14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02DDA7-6A92-A782-8144-D841888CB6A3}"/>
                </a:ext>
              </a:extLst>
            </p:cNvPr>
            <p:cNvSpPr txBox="1"/>
            <p:nvPr/>
          </p:nvSpPr>
          <p:spPr>
            <a:xfrm>
              <a:off x="2338959" y="2448596"/>
              <a:ext cx="1665685" cy="4678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ИДЕЯ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sp>
        <p:nvSpPr>
          <p:cNvPr id="13" name="Шестиугольник 12">
            <a:extLst>
              <a:ext uri="{FF2B5EF4-FFF2-40B4-BE49-F238E27FC236}">
                <a16:creationId xmlns:a16="http://schemas.microsoft.com/office/drawing/2014/main" id="{73B4BAEA-1DE4-788E-41D9-631EE449E51B}"/>
              </a:ext>
            </a:extLst>
          </p:cNvPr>
          <p:cNvSpPr/>
          <p:nvPr/>
        </p:nvSpPr>
        <p:spPr>
          <a:xfrm>
            <a:off x="3261458" y="2566289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A0B376-F7DF-1E4F-2E9B-91A7DBB4CD44}"/>
              </a:ext>
            </a:extLst>
          </p:cNvPr>
          <p:cNvSpPr txBox="1"/>
          <p:nvPr/>
        </p:nvSpPr>
        <p:spPr>
          <a:xfrm>
            <a:off x="576868" y="3212994"/>
            <a:ext cx="1665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ДОБАВЛЕНИЕ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 ОЧЕРЕДЬ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26E626-08C4-7A37-CFC4-2E63619D0B8B}"/>
              </a:ext>
            </a:extLst>
          </p:cNvPr>
          <p:cNvSpPr txBox="1"/>
          <p:nvPr/>
        </p:nvSpPr>
        <p:spPr>
          <a:xfrm>
            <a:off x="3319090" y="3106700"/>
            <a:ext cx="16656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ПЕРЕДАЧА В КОМАНДУ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EE770A-0BE2-FB52-FCB8-15C638B13D34}"/>
              </a:ext>
            </a:extLst>
          </p:cNvPr>
          <p:cNvSpPr txBox="1"/>
          <p:nvPr/>
        </p:nvSpPr>
        <p:spPr>
          <a:xfrm>
            <a:off x="5201077" y="1394572"/>
            <a:ext cx="6768420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При наличии ресурса соответствующего требованиям проекта, команда берёт проект в работу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Выбирается проект с максимальным приоритетом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Проект помещается на доску команды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При переходе проекта между этапами, заполняются чек-листы</a:t>
            </a:r>
          </a:p>
        </p:txBody>
      </p:sp>
    </p:spTree>
    <p:extLst>
      <p:ext uri="{BB962C8B-B14F-4D97-AF65-F5344CB8AC3E}">
        <p14:creationId xmlns:p14="http://schemas.microsoft.com/office/powerpoint/2010/main" val="25108294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51095-7D74-4AA4-6289-3F5C477B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EACF8E6-3EA7-339F-095E-E6A2A83D3C75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50391-C93A-8993-3DD8-3156D3273867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ЭТАПЫ ПРОЕКТА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3281F9CC-0988-0A9E-33FF-2B208F1AA87A}"/>
              </a:ext>
            </a:extLst>
          </p:cNvPr>
          <p:cNvSpPr/>
          <p:nvPr/>
        </p:nvSpPr>
        <p:spPr>
          <a:xfrm>
            <a:off x="489514" y="2575814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DAA04CE-D9A2-0894-F635-626A169460A6}"/>
              </a:ext>
            </a:extLst>
          </p:cNvPr>
          <p:cNvGrpSpPr/>
          <p:nvPr/>
        </p:nvGrpSpPr>
        <p:grpSpPr>
          <a:xfrm>
            <a:off x="1865962" y="1643436"/>
            <a:ext cx="1800000" cy="1800000"/>
            <a:chOff x="2338959" y="1962750"/>
            <a:chExt cx="1665685" cy="1440000"/>
          </a:xfrm>
        </p:grpSpPr>
        <p:sp>
          <p:nvSpPr>
            <p:cNvPr id="10" name="Шестиугольник 9">
              <a:extLst>
                <a:ext uri="{FF2B5EF4-FFF2-40B4-BE49-F238E27FC236}">
                  <a16:creationId xmlns:a16="http://schemas.microsoft.com/office/drawing/2014/main" id="{89A7720F-163D-70F3-2224-9B755A150ACA}"/>
                </a:ext>
              </a:extLst>
            </p:cNvPr>
            <p:cNvSpPr/>
            <p:nvPr/>
          </p:nvSpPr>
          <p:spPr>
            <a:xfrm>
              <a:off x="2338959" y="1962750"/>
              <a:ext cx="1665685" cy="14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CFF964-A126-D1AB-4200-67C7ACCEE13F}"/>
                </a:ext>
              </a:extLst>
            </p:cNvPr>
            <p:cNvSpPr txBox="1"/>
            <p:nvPr/>
          </p:nvSpPr>
          <p:spPr>
            <a:xfrm>
              <a:off x="2338959" y="2448596"/>
              <a:ext cx="1665685" cy="4678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ИДЕЯ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sp>
        <p:nvSpPr>
          <p:cNvPr id="13" name="Шестиугольник 12">
            <a:extLst>
              <a:ext uri="{FF2B5EF4-FFF2-40B4-BE49-F238E27FC236}">
                <a16:creationId xmlns:a16="http://schemas.microsoft.com/office/drawing/2014/main" id="{191CC82A-E9CA-E7E4-81D6-4D7EFA30CC07}"/>
              </a:ext>
            </a:extLst>
          </p:cNvPr>
          <p:cNvSpPr/>
          <p:nvPr/>
        </p:nvSpPr>
        <p:spPr>
          <a:xfrm>
            <a:off x="3261458" y="2566289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FF2645-505C-0B7A-36BE-78869B31FE2E}"/>
              </a:ext>
            </a:extLst>
          </p:cNvPr>
          <p:cNvSpPr txBox="1"/>
          <p:nvPr/>
        </p:nvSpPr>
        <p:spPr>
          <a:xfrm>
            <a:off x="576868" y="3212994"/>
            <a:ext cx="1665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ДОБАВЛЕНИЕ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 ОЧЕРЕДЬ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F1FF8D-7F2C-6B7F-2FA3-B28671748FE9}"/>
              </a:ext>
            </a:extLst>
          </p:cNvPr>
          <p:cNvSpPr txBox="1"/>
          <p:nvPr/>
        </p:nvSpPr>
        <p:spPr>
          <a:xfrm>
            <a:off x="3319090" y="3106700"/>
            <a:ext cx="16656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ПЕРЕДАЧА В КОМАНДУ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8C00B5-4681-9657-3E70-9FB9CE6F06EC}"/>
              </a:ext>
            </a:extLst>
          </p:cNvPr>
          <p:cNvSpPr txBox="1"/>
          <p:nvPr/>
        </p:nvSpPr>
        <p:spPr>
          <a:xfrm>
            <a:off x="5201076" y="1883657"/>
            <a:ext cx="6768420" cy="2492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Формируется ИТ проекта:</a:t>
            </a:r>
            <a:b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</a:br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Текущая ситуация с продуктом (как сейчас?)</a:t>
            </a:r>
          </a:p>
          <a:p>
            <a:pPr marL="342000" lvl="1">
              <a:defRPr/>
            </a:pPr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Что станет результатом проекта (как будет?)</a:t>
            </a:r>
          </a:p>
          <a:p>
            <a:pPr marL="342000" lvl="1">
              <a:defRPr/>
            </a:pPr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Кто стейкхолдеры? Что им важно?</a:t>
            </a:r>
          </a:p>
          <a:p>
            <a:pPr marL="342000" lvl="1">
              <a:defRPr/>
            </a:pPr>
            <a:r>
              <a:rPr lang="ru-RU" dirty="0">
                <a:solidFill>
                  <a:prstClr val="white"/>
                </a:solidFill>
                <a:latin typeface="Pragmatica Light" panose="020B0403040502020204" pitchFamily="34" charset="-52"/>
              </a:rPr>
              <a:t>Ограничения по срокам, бюджетам (если они есть)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9633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48BFD81-2505-D125-3346-63E8E209B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92212">
            <a:off x="10669507" y="4287461"/>
            <a:ext cx="2188255" cy="364709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623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СТАРТ ПРОЕКТОВ В КОМАНДЕ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A9DDB9-5FAB-43D0-BDC5-63BA98A881DF}"/>
              </a:ext>
            </a:extLst>
          </p:cNvPr>
          <p:cNvSpPr txBox="1"/>
          <p:nvPr/>
        </p:nvSpPr>
        <p:spPr>
          <a:xfrm>
            <a:off x="1946986" y="2262216"/>
            <a:ext cx="32187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26921"/>
                </a:solidFill>
              </a:rPr>
              <a:t>PO</a:t>
            </a:r>
            <a:r>
              <a:rPr lang="en-US" sz="2400" dirty="0"/>
              <a:t> </a:t>
            </a:r>
            <a:r>
              <a:rPr lang="ru-RU" sz="2400" dirty="0"/>
              <a:t>ПРЕДЛАГАЕТ ПРИОРИТЕТНЫЕ ПРОЕКТЫ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0EB5BD0-7654-8142-1501-63E261D21E04}"/>
              </a:ext>
            </a:extLst>
          </p:cNvPr>
          <p:cNvSpPr/>
          <p:nvPr/>
        </p:nvSpPr>
        <p:spPr>
          <a:xfrm>
            <a:off x="763775" y="2922545"/>
            <a:ext cx="1080000" cy="1080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119DC2BD-C1DA-12F0-9D49-2670B3AA2ED8}"/>
              </a:ext>
            </a:extLst>
          </p:cNvPr>
          <p:cNvSpPr/>
          <p:nvPr/>
        </p:nvSpPr>
        <p:spPr>
          <a:xfrm>
            <a:off x="710967" y="2922545"/>
            <a:ext cx="1080000" cy="1080000"/>
          </a:xfrm>
          <a:prstGeom prst="ellipse">
            <a:avLst/>
          </a:prstGeom>
          <a:noFill/>
          <a:ln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B6A419-C526-F53E-6868-06167880D4AF}"/>
              </a:ext>
            </a:extLst>
          </p:cNvPr>
          <p:cNvSpPr txBox="1"/>
          <p:nvPr/>
        </p:nvSpPr>
        <p:spPr>
          <a:xfrm>
            <a:off x="607756" y="3001960"/>
            <a:ext cx="1325415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19B946-51EA-371E-9B48-399846842526}"/>
              </a:ext>
            </a:extLst>
          </p:cNvPr>
          <p:cNvSpPr txBox="1"/>
          <p:nvPr/>
        </p:nvSpPr>
        <p:spPr>
          <a:xfrm>
            <a:off x="7079033" y="2262216"/>
            <a:ext cx="46134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dirty="0"/>
              <a:t>КОМАНДА ОБСУЖДАЕТ ИТОГОВЫЕ ТРЕБОВАНИЯ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4C0894F9-1874-4F90-4457-5E3ED9733676}"/>
              </a:ext>
            </a:extLst>
          </p:cNvPr>
          <p:cNvSpPr/>
          <p:nvPr/>
        </p:nvSpPr>
        <p:spPr>
          <a:xfrm>
            <a:off x="5948630" y="2922545"/>
            <a:ext cx="1080000" cy="1080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B4836608-E5C8-A802-73C2-1D67BA731E66}"/>
              </a:ext>
            </a:extLst>
          </p:cNvPr>
          <p:cNvSpPr/>
          <p:nvPr/>
        </p:nvSpPr>
        <p:spPr>
          <a:xfrm>
            <a:off x="5895822" y="2922545"/>
            <a:ext cx="1080000" cy="1080000"/>
          </a:xfrm>
          <a:prstGeom prst="ellipse">
            <a:avLst/>
          </a:prstGeom>
          <a:noFill/>
          <a:ln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6A675E-A3FB-384C-2EF5-C5B1A63DD88C}"/>
              </a:ext>
            </a:extLst>
          </p:cNvPr>
          <p:cNvSpPr txBox="1"/>
          <p:nvPr/>
        </p:nvSpPr>
        <p:spPr>
          <a:xfrm>
            <a:off x="5792611" y="3001960"/>
            <a:ext cx="1325415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  <a:latin typeface="Pragmatica Light" panose="020B0403040502020204" pitchFamily="34" charset="-5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15F88-233B-78AF-61D8-D13319C25C0E}"/>
              </a:ext>
            </a:extLst>
          </p:cNvPr>
          <p:cNvSpPr txBox="1"/>
          <p:nvPr/>
        </p:nvSpPr>
        <p:spPr>
          <a:xfrm>
            <a:off x="1933171" y="3724559"/>
            <a:ext cx="3520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КОМАНДА ПРОВОДИТ ПЕРВИЧНОЕ ОБСУЖДЕНИЕ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17792A-0487-14A2-861C-5803363A055F}"/>
              </a:ext>
            </a:extLst>
          </p:cNvPr>
          <p:cNvSpPr txBox="1"/>
          <p:nvPr/>
        </p:nvSpPr>
        <p:spPr>
          <a:xfrm>
            <a:off x="7118026" y="3724559"/>
            <a:ext cx="46134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dirty="0"/>
              <a:t>МОГУТ ПРИГЛАШАТЬСЯ ЗАИНТЕРЕСОВАННЫЕ ЛИЦА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75603CD4-2CFA-4182-AE86-A6DEC1B02776}"/>
              </a:ext>
            </a:extLst>
          </p:cNvPr>
          <p:cNvSpPr/>
          <p:nvPr/>
        </p:nvSpPr>
        <p:spPr>
          <a:xfrm rot="5400000" flipV="1">
            <a:off x="3832868" y="1412006"/>
            <a:ext cx="17605" cy="4049491"/>
          </a:xfrm>
          <a:custGeom>
            <a:avLst/>
            <a:gdLst>
              <a:gd name="connsiteX0" fmla="*/ 0 w 115510"/>
              <a:gd name="connsiteY0" fmla="*/ 0 h 5118265"/>
              <a:gd name="connsiteX1" fmla="*/ 1789357 w 115510"/>
              <a:gd name="connsiteY1" fmla="*/ 2559133 h 5118265"/>
              <a:gd name="connsiteX2" fmla="*/ 115510 w 115510"/>
              <a:gd name="connsiteY2" fmla="*/ 5118265 h 5118265"/>
              <a:gd name="connsiteX0" fmla="*/ 561955 w 929641"/>
              <a:gd name="connsiteY0" fmla="*/ 0 h 5118265"/>
              <a:gd name="connsiteX1" fmla="*/ 0 w 929641"/>
              <a:gd name="connsiteY1" fmla="*/ 3057900 h 5118265"/>
              <a:gd name="connsiteX2" fmla="*/ 677465 w 929641"/>
              <a:gd name="connsiteY2" fmla="*/ 5118265 h 5118265"/>
              <a:gd name="connsiteX0" fmla="*/ 3815 w 929641"/>
              <a:gd name="connsiteY0" fmla="*/ 0 h 4690753"/>
              <a:gd name="connsiteX1" fmla="*/ 0 w 929641"/>
              <a:gd name="connsiteY1" fmla="*/ 2630388 h 4690753"/>
              <a:gd name="connsiteX2" fmla="*/ 677465 w 929641"/>
              <a:gd name="connsiteY2" fmla="*/ 4690753 h 4690753"/>
              <a:gd name="connsiteX0" fmla="*/ 38869 w 435517"/>
              <a:gd name="connsiteY0" fmla="*/ 0 h 4144488"/>
              <a:gd name="connsiteX1" fmla="*/ 35054 w 435517"/>
              <a:gd name="connsiteY1" fmla="*/ 2630388 h 4144488"/>
              <a:gd name="connsiteX2" fmla="*/ 0 w 435517"/>
              <a:gd name="connsiteY2" fmla="*/ 4144488 h 4144488"/>
              <a:gd name="connsiteX0" fmla="*/ 38869 w 435517"/>
              <a:gd name="connsiteY0" fmla="*/ 0 h 4144488"/>
              <a:gd name="connsiteX1" fmla="*/ 35054 w 435517"/>
              <a:gd name="connsiteY1" fmla="*/ 2630388 h 4144488"/>
              <a:gd name="connsiteX2" fmla="*/ 0 w 435517"/>
              <a:gd name="connsiteY2" fmla="*/ 4144488 h 4144488"/>
              <a:gd name="connsiteX0" fmla="*/ 38869 w 41951"/>
              <a:gd name="connsiteY0" fmla="*/ 0 h 4144488"/>
              <a:gd name="connsiteX1" fmla="*/ 35054 w 41951"/>
              <a:gd name="connsiteY1" fmla="*/ 2630388 h 4144488"/>
              <a:gd name="connsiteX2" fmla="*/ 0 w 41951"/>
              <a:gd name="connsiteY2" fmla="*/ 4144488 h 4144488"/>
              <a:gd name="connsiteX0" fmla="*/ 145747 w 146898"/>
              <a:gd name="connsiteY0" fmla="*/ 0 h 4239493"/>
              <a:gd name="connsiteX1" fmla="*/ 141932 w 146898"/>
              <a:gd name="connsiteY1" fmla="*/ 2630388 h 4239493"/>
              <a:gd name="connsiteX2" fmla="*/ 0 w 146898"/>
              <a:gd name="connsiteY2" fmla="*/ 4239493 h 4239493"/>
              <a:gd name="connsiteX0" fmla="*/ 145747 w 146898"/>
              <a:gd name="connsiteY0" fmla="*/ 0 h 4239493"/>
              <a:gd name="connsiteX1" fmla="*/ 141932 w 146898"/>
              <a:gd name="connsiteY1" fmla="*/ 2630388 h 4239493"/>
              <a:gd name="connsiteX2" fmla="*/ 0 w 146898"/>
              <a:gd name="connsiteY2" fmla="*/ 4239493 h 4239493"/>
              <a:gd name="connsiteX0" fmla="*/ 15119 w 42619"/>
              <a:gd name="connsiteY0" fmla="*/ 0 h 4049491"/>
              <a:gd name="connsiteX1" fmla="*/ 11304 w 42619"/>
              <a:gd name="connsiteY1" fmla="*/ 2630388 h 4049491"/>
              <a:gd name="connsiteX2" fmla="*/ 0 w 42619"/>
              <a:gd name="connsiteY2" fmla="*/ 4049491 h 4049491"/>
              <a:gd name="connsiteX0" fmla="*/ 16454 w 17605"/>
              <a:gd name="connsiteY0" fmla="*/ 0 h 4049491"/>
              <a:gd name="connsiteX1" fmla="*/ 12639 w 17605"/>
              <a:gd name="connsiteY1" fmla="*/ 2630388 h 4049491"/>
              <a:gd name="connsiteX2" fmla="*/ 1335 w 17605"/>
              <a:gd name="connsiteY2" fmla="*/ 4049491 h 4049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05" h="4049491" fill="none">
                <a:moveTo>
                  <a:pt x="16454" y="0"/>
                </a:moveTo>
                <a:cubicBezTo>
                  <a:pt x="20486" y="1745676"/>
                  <a:pt x="12639" y="1350821"/>
                  <a:pt x="12639" y="2630388"/>
                </a:cubicBezTo>
                <a:cubicBezTo>
                  <a:pt x="12639" y="3909954"/>
                  <a:pt x="-4884" y="3111345"/>
                  <a:pt x="1335" y="4049491"/>
                </a:cubicBezTo>
              </a:path>
            </a:pathLst>
          </a:custGeom>
          <a:solidFill>
            <a:srgbClr val="F26921">
              <a:alpha val="5000"/>
            </a:srgbClr>
          </a:solidFill>
          <a:ln w="9000">
            <a:solidFill>
              <a:srgbClr val="F2692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F2692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FE6211-292D-E353-6167-F503C52470D6}"/>
              </a:ext>
            </a:extLst>
          </p:cNvPr>
          <p:cNvSpPr txBox="1"/>
          <p:nvPr/>
        </p:nvSpPr>
        <p:spPr>
          <a:xfrm>
            <a:off x="3756425" y="3239247"/>
            <a:ext cx="2191597" cy="2710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schemeClr val="bg1"/>
                </a:solidFill>
              </a:rPr>
              <a:t>УТОЧНЕНИЕ ТРЕБОВАНИЙ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6990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ЭТАПЫ ПРОЕКТА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A628A93C-20C4-41B4-0BDD-9FBE7C5239E5}"/>
              </a:ext>
            </a:extLst>
          </p:cNvPr>
          <p:cNvSpPr/>
          <p:nvPr/>
        </p:nvSpPr>
        <p:spPr>
          <a:xfrm>
            <a:off x="489514" y="2575814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1892AD7-4461-5A2F-D4B3-7BDD4C3ED618}"/>
              </a:ext>
            </a:extLst>
          </p:cNvPr>
          <p:cNvGrpSpPr/>
          <p:nvPr/>
        </p:nvGrpSpPr>
        <p:grpSpPr>
          <a:xfrm>
            <a:off x="1865962" y="1643436"/>
            <a:ext cx="1800000" cy="1800000"/>
            <a:chOff x="2338959" y="1962750"/>
            <a:chExt cx="1665685" cy="1440000"/>
          </a:xfrm>
        </p:grpSpPr>
        <p:sp>
          <p:nvSpPr>
            <p:cNvPr id="10" name="Шестиугольник 9">
              <a:extLst>
                <a:ext uri="{FF2B5EF4-FFF2-40B4-BE49-F238E27FC236}">
                  <a16:creationId xmlns:a16="http://schemas.microsoft.com/office/drawing/2014/main" id="{855B9839-AC41-9BF2-C973-48007A182BBF}"/>
                </a:ext>
              </a:extLst>
            </p:cNvPr>
            <p:cNvSpPr/>
            <p:nvPr/>
          </p:nvSpPr>
          <p:spPr>
            <a:xfrm>
              <a:off x="2338959" y="1962750"/>
              <a:ext cx="1665685" cy="14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02DDA7-6A92-A782-8144-D841888CB6A3}"/>
                </a:ext>
              </a:extLst>
            </p:cNvPr>
            <p:cNvSpPr txBox="1"/>
            <p:nvPr/>
          </p:nvSpPr>
          <p:spPr>
            <a:xfrm>
              <a:off x="2338959" y="2448840"/>
              <a:ext cx="1665685" cy="4678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ИДЕЯ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sp>
        <p:nvSpPr>
          <p:cNvPr id="13" name="Шестиугольник 12">
            <a:extLst>
              <a:ext uri="{FF2B5EF4-FFF2-40B4-BE49-F238E27FC236}">
                <a16:creationId xmlns:a16="http://schemas.microsoft.com/office/drawing/2014/main" id="{73B4BAEA-1DE4-788E-41D9-631EE449E51B}"/>
              </a:ext>
            </a:extLst>
          </p:cNvPr>
          <p:cNvSpPr/>
          <p:nvPr/>
        </p:nvSpPr>
        <p:spPr>
          <a:xfrm>
            <a:off x="3256961" y="2564704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A0B376-F7DF-1E4F-2E9B-91A7DBB4CD44}"/>
              </a:ext>
            </a:extLst>
          </p:cNvPr>
          <p:cNvSpPr txBox="1"/>
          <p:nvPr/>
        </p:nvSpPr>
        <p:spPr>
          <a:xfrm>
            <a:off x="576868" y="3212994"/>
            <a:ext cx="1665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ДОБАВЛЕНИЕ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 ОЧЕРЕДЬ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5" name="Шестиугольник 24">
            <a:extLst>
              <a:ext uri="{FF2B5EF4-FFF2-40B4-BE49-F238E27FC236}">
                <a16:creationId xmlns:a16="http://schemas.microsoft.com/office/drawing/2014/main" id="{07EDB657-B5D4-A3AE-AD02-FBA35B42E8C1}"/>
              </a:ext>
            </a:extLst>
          </p:cNvPr>
          <p:cNvSpPr/>
          <p:nvPr/>
        </p:nvSpPr>
        <p:spPr>
          <a:xfrm>
            <a:off x="1877338" y="3485972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26E626-08C4-7A37-CFC4-2E63619D0B8B}"/>
              </a:ext>
            </a:extLst>
          </p:cNvPr>
          <p:cNvSpPr txBox="1"/>
          <p:nvPr/>
        </p:nvSpPr>
        <p:spPr>
          <a:xfrm>
            <a:off x="3324118" y="3110761"/>
            <a:ext cx="16656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ПЕРЕДАЧА В КОМАНДУ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BE40D0-9477-0B12-5D6A-8C1E36A567E4}"/>
              </a:ext>
            </a:extLst>
          </p:cNvPr>
          <p:cNvSpPr txBox="1"/>
          <p:nvPr/>
        </p:nvSpPr>
        <p:spPr>
          <a:xfrm>
            <a:off x="1971968" y="4223425"/>
            <a:ext cx="1665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РАЗРАБОТКА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4970FE-D851-4A53-4E0C-A20BDCC16876}"/>
              </a:ext>
            </a:extLst>
          </p:cNvPr>
          <p:cNvSpPr txBox="1"/>
          <p:nvPr/>
        </p:nvSpPr>
        <p:spPr>
          <a:xfrm>
            <a:off x="5201077" y="1407272"/>
            <a:ext cx="6414055" cy="487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Команда работает над проектом </a:t>
            </a:r>
            <a:b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</a:b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(или несколькими проектами)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Работа команды разбита на спринты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Команда может ставить задачи </a:t>
            </a:r>
            <a:b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</a:b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сервисным отделам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Команда может консультироваться </a:t>
            </a:r>
            <a:b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</a:b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с другими командами, руководителями отделов,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PO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 и др. сотрудниками</a:t>
            </a:r>
          </a:p>
        </p:txBody>
      </p:sp>
    </p:spTree>
    <p:extLst>
      <p:ext uri="{BB962C8B-B14F-4D97-AF65-F5344CB8AC3E}">
        <p14:creationId xmlns:p14="http://schemas.microsoft.com/office/powerpoint/2010/main" val="36334028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9" y="248346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ЭТАПЫ ПРОЕКТА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A628A93C-20C4-41B4-0BDD-9FBE7C5239E5}"/>
              </a:ext>
            </a:extLst>
          </p:cNvPr>
          <p:cNvSpPr/>
          <p:nvPr/>
        </p:nvSpPr>
        <p:spPr>
          <a:xfrm>
            <a:off x="489514" y="2575814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1892AD7-4461-5A2F-D4B3-7BDD4C3ED618}"/>
              </a:ext>
            </a:extLst>
          </p:cNvPr>
          <p:cNvGrpSpPr/>
          <p:nvPr/>
        </p:nvGrpSpPr>
        <p:grpSpPr>
          <a:xfrm>
            <a:off x="1865962" y="1643436"/>
            <a:ext cx="1800000" cy="1800000"/>
            <a:chOff x="2338959" y="1962750"/>
            <a:chExt cx="1665685" cy="1440000"/>
          </a:xfrm>
        </p:grpSpPr>
        <p:sp>
          <p:nvSpPr>
            <p:cNvPr id="10" name="Шестиугольник 9">
              <a:extLst>
                <a:ext uri="{FF2B5EF4-FFF2-40B4-BE49-F238E27FC236}">
                  <a16:creationId xmlns:a16="http://schemas.microsoft.com/office/drawing/2014/main" id="{855B9839-AC41-9BF2-C973-48007A182BBF}"/>
                </a:ext>
              </a:extLst>
            </p:cNvPr>
            <p:cNvSpPr/>
            <p:nvPr/>
          </p:nvSpPr>
          <p:spPr>
            <a:xfrm>
              <a:off x="2338959" y="1962750"/>
              <a:ext cx="1665685" cy="1440000"/>
            </a:xfrm>
            <a:prstGeom prst="hexagon">
              <a:avLst/>
            </a:prstGeom>
            <a:solidFill>
              <a:schemeClr val="tx1"/>
            </a:solidFill>
            <a:ln w="28575">
              <a:solidFill>
                <a:srgbClr val="F269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02DDA7-6A92-A782-8144-D841888CB6A3}"/>
                </a:ext>
              </a:extLst>
            </p:cNvPr>
            <p:cNvSpPr txBox="1"/>
            <p:nvPr/>
          </p:nvSpPr>
          <p:spPr>
            <a:xfrm>
              <a:off x="2338959" y="2444750"/>
              <a:ext cx="1665685" cy="4678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agmatica Light" panose="020B0403040502020204" pitchFamily="34" charset="-52"/>
                  <a:ea typeface="+mn-ea"/>
                  <a:cs typeface="+mn-cs"/>
                </a:rPr>
                <a:t>ИДЕЯ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endParaRPr>
            </a:p>
          </p:txBody>
        </p:sp>
      </p:grpSp>
      <p:sp>
        <p:nvSpPr>
          <p:cNvPr id="13" name="Шестиугольник 12">
            <a:extLst>
              <a:ext uri="{FF2B5EF4-FFF2-40B4-BE49-F238E27FC236}">
                <a16:creationId xmlns:a16="http://schemas.microsoft.com/office/drawing/2014/main" id="{73B4BAEA-1DE4-788E-41D9-631EE449E51B}"/>
              </a:ext>
            </a:extLst>
          </p:cNvPr>
          <p:cNvSpPr/>
          <p:nvPr/>
        </p:nvSpPr>
        <p:spPr>
          <a:xfrm>
            <a:off x="3256961" y="2564704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A0B376-F7DF-1E4F-2E9B-91A7DBB4CD44}"/>
              </a:ext>
            </a:extLst>
          </p:cNvPr>
          <p:cNvSpPr txBox="1"/>
          <p:nvPr/>
        </p:nvSpPr>
        <p:spPr>
          <a:xfrm>
            <a:off x="576868" y="3212994"/>
            <a:ext cx="1665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ДОБАВЛЕНИЕ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В ОЧЕРЕДЬ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5" name="Шестиугольник 24">
            <a:extLst>
              <a:ext uri="{FF2B5EF4-FFF2-40B4-BE49-F238E27FC236}">
                <a16:creationId xmlns:a16="http://schemas.microsoft.com/office/drawing/2014/main" id="{07EDB657-B5D4-A3AE-AD02-FBA35B42E8C1}"/>
              </a:ext>
            </a:extLst>
          </p:cNvPr>
          <p:cNvSpPr/>
          <p:nvPr/>
        </p:nvSpPr>
        <p:spPr>
          <a:xfrm>
            <a:off x="1877338" y="3485972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26E626-08C4-7A37-CFC4-2E63619D0B8B}"/>
              </a:ext>
            </a:extLst>
          </p:cNvPr>
          <p:cNvSpPr txBox="1"/>
          <p:nvPr/>
        </p:nvSpPr>
        <p:spPr>
          <a:xfrm>
            <a:off x="3324118" y="3105697"/>
            <a:ext cx="16656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ПЕРЕДАЧА В КОМАНДУ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BE40D0-9477-0B12-5D6A-8C1E36A567E4}"/>
              </a:ext>
            </a:extLst>
          </p:cNvPr>
          <p:cNvSpPr txBox="1"/>
          <p:nvPr/>
        </p:nvSpPr>
        <p:spPr>
          <a:xfrm>
            <a:off x="1971218" y="4223996"/>
            <a:ext cx="1665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РАЗРАБОТКА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8" name="Шестиугольник 27">
            <a:extLst>
              <a:ext uri="{FF2B5EF4-FFF2-40B4-BE49-F238E27FC236}">
                <a16:creationId xmlns:a16="http://schemas.microsoft.com/office/drawing/2014/main" id="{D634BBD5-2D30-358A-F378-C6AE6AB39528}"/>
              </a:ext>
            </a:extLst>
          </p:cNvPr>
          <p:cNvSpPr/>
          <p:nvPr/>
        </p:nvSpPr>
        <p:spPr>
          <a:xfrm>
            <a:off x="3256147" y="4417466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B49908-F2CC-F69B-3FDB-BAF2F5E4AC88}"/>
              </a:ext>
            </a:extLst>
          </p:cNvPr>
          <p:cNvSpPr txBox="1"/>
          <p:nvPr/>
        </p:nvSpPr>
        <p:spPr>
          <a:xfrm>
            <a:off x="3324118" y="5148189"/>
            <a:ext cx="16656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ЗАВЕРШЕНИЕ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F2A3A-22F5-7217-3489-40E4E1D309A8}"/>
              </a:ext>
            </a:extLst>
          </p:cNvPr>
          <p:cNvSpPr txBox="1"/>
          <p:nvPr/>
        </p:nvSpPr>
        <p:spPr>
          <a:xfrm>
            <a:off x="5447336" y="2186185"/>
            <a:ext cx="6414055" cy="2467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Сопровождение продукта на этапах внедрения и производства</a:t>
            </a:r>
            <a:endParaRPr lang="en-US" sz="24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Заполнение чек-листов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Пост на блог</a:t>
            </a:r>
          </a:p>
        </p:txBody>
      </p:sp>
    </p:spTree>
    <p:extLst>
      <p:ext uri="{BB962C8B-B14F-4D97-AF65-F5344CB8AC3E}">
        <p14:creationId xmlns:p14="http://schemas.microsoft.com/office/powerpoint/2010/main" val="14444630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E2E07003-8554-349D-1B37-3388B687D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19983" y="805429"/>
            <a:ext cx="3048000" cy="4572000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1329AD8-ED57-1F43-0220-2CA4B99D2932}"/>
              </a:ext>
            </a:extLst>
          </p:cNvPr>
          <p:cNvSpPr/>
          <p:nvPr/>
        </p:nvSpPr>
        <p:spPr>
          <a:xfrm>
            <a:off x="3732495" y="1458819"/>
            <a:ext cx="4630534" cy="3127695"/>
          </a:xfrm>
          <a:prstGeom prst="rect">
            <a:avLst/>
          </a:prstGeom>
          <a:solidFill>
            <a:schemeClr val="tx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359209" y="642557"/>
            <a:ext cx="56610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DEFINITION OF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31" name="Шестиугольник 30">
            <a:extLst>
              <a:ext uri="{FF2B5EF4-FFF2-40B4-BE49-F238E27FC236}">
                <a16:creationId xmlns:a16="http://schemas.microsoft.com/office/drawing/2014/main" id="{40309507-5B48-8F3E-742B-BAC77BE9DE13}"/>
              </a:ext>
            </a:extLst>
          </p:cNvPr>
          <p:cNvSpPr/>
          <p:nvPr/>
        </p:nvSpPr>
        <p:spPr>
          <a:xfrm>
            <a:off x="2023888" y="2194826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9A176-DF8A-F458-99B9-F9B540A1F8DC}"/>
              </a:ext>
            </a:extLst>
          </p:cNvPr>
          <p:cNvSpPr txBox="1"/>
          <p:nvPr/>
        </p:nvSpPr>
        <p:spPr>
          <a:xfrm>
            <a:off x="2133600" y="2716197"/>
            <a:ext cx="15988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DONE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29387-E926-E89F-AAFB-67171F78B969}"/>
              </a:ext>
            </a:extLst>
          </p:cNvPr>
          <p:cNvSpPr txBox="1"/>
          <p:nvPr/>
        </p:nvSpPr>
        <p:spPr>
          <a:xfrm>
            <a:off x="1312019" y="4130602"/>
            <a:ext cx="318378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КРИТЕРИЙ ЗАВЕРШЁННОСТИ ЗАДАЧИ</a:t>
            </a:r>
          </a:p>
        </p:txBody>
      </p:sp>
      <p:sp>
        <p:nvSpPr>
          <p:cNvPr id="14" name="Шестиугольник 13">
            <a:extLst>
              <a:ext uri="{FF2B5EF4-FFF2-40B4-BE49-F238E27FC236}">
                <a16:creationId xmlns:a16="http://schemas.microsoft.com/office/drawing/2014/main" id="{85E75709-EEF4-12C1-C097-3E205BDD0975}"/>
              </a:ext>
            </a:extLst>
          </p:cNvPr>
          <p:cNvSpPr/>
          <p:nvPr/>
        </p:nvSpPr>
        <p:spPr>
          <a:xfrm>
            <a:off x="8264078" y="2191429"/>
            <a:ext cx="1800000" cy="1800000"/>
          </a:xfrm>
          <a:prstGeom prst="hexagon">
            <a:avLst/>
          </a:prstGeom>
          <a:solidFill>
            <a:schemeClr val="tx1"/>
          </a:solidFill>
          <a:ln w="28575"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BA5D78-E1F5-916D-0AC7-5EC076ED5CF3}"/>
              </a:ext>
            </a:extLst>
          </p:cNvPr>
          <p:cNvSpPr txBox="1"/>
          <p:nvPr/>
        </p:nvSpPr>
        <p:spPr>
          <a:xfrm>
            <a:off x="8364630" y="2716197"/>
            <a:ext cx="15988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READY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FF44B6B7-14E4-E17D-EF49-23CF4525B5D5}"/>
              </a:ext>
            </a:extLst>
          </p:cNvPr>
          <p:cNvCxnSpPr>
            <a:cxnSpLocks/>
          </p:cNvCxnSpPr>
          <p:nvPr/>
        </p:nvCxnSpPr>
        <p:spPr>
          <a:xfrm>
            <a:off x="2794000" y="1300546"/>
            <a:ext cx="419600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BF167DF3-D1CA-BAB8-A3E9-ADAA68E5A2BF}"/>
              </a:ext>
            </a:extLst>
          </p:cNvPr>
          <p:cNvCxnSpPr/>
          <p:nvPr/>
        </p:nvCxnSpPr>
        <p:spPr>
          <a:xfrm flipV="1">
            <a:off x="9164078" y="1287846"/>
            <a:ext cx="0" cy="72014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AE1A8B8-1D1E-2FDA-0903-E752B9A3969F}"/>
              </a:ext>
            </a:extLst>
          </p:cNvPr>
          <p:cNvCxnSpPr>
            <a:cxnSpLocks/>
          </p:cNvCxnSpPr>
          <p:nvPr/>
        </p:nvCxnSpPr>
        <p:spPr>
          <a:xfrm>
            <a:off x="8744478" y="1300546"/>
            <a:ext cx="421200" cy="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4A3C795-41C0-17F0-49A6-D29E5223DF9C}"/>
              </a:ext>
            </a:extLst>
          </p:cNvPr>
          <p:cNvCxnSpPr/>
          <p:nvPr/>
        </p:nvCxnSpPr>
        <p:spPr>
          <a:xfrm flipV="1">
            <a:off x="2794000" y="1287846"/>
            <a:ext cx="0" cy="720140"/>
          </a:xfrm>
          <a:prstGeom prst="line">
            <a:avLst/>
          </a:prstGeom>
          <a:ln w="28575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642816-BE17-2206-C038-8F0F96EADE77}"/>
              </a:ext>
            </a:extLst>
          </p:cNvPr>
          <p:cNvSpPr txBox="1"/>
          <p:nvPr/>
        </p:nvSpPr>
        <p:spPr>
          <a:xfrm>
            <a:off x="7044757" y="4126677"/>
            <a:ext cx="447918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КРИТЕРИЙ ГОТОВНОСТИ ЗАДАЧИ К ПРИНЯТИЮ В РАБОТУ</a:t>
            </a:r>
          </a:p>
        </p:txBody>
      </p:sp>
    </p:spTree>
    <p:extLst>
      <p:ext uri="{BB962C8B-B14F-4D97-AF65-F5344CB8AC3E}">
        <p14:creationId xmlns:p14="http://schemas.microsoft.com/office/powerpoint/2010/main" val="24507763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вал 7">
            <a:extLst>
              <a:ext uri="{FF2B5EF4-FFF2-40B4-BE49-F238E27FC236}">
                <a16:creationId xmlns:a16="http://schemas.microsoft.com/office/drawing/2014/main" id="{1FEB1E7B-40F6-1A87-BACA-42E2EF71432F}"/>
              </a:ext>
            </a:extLst>
          </p:cNvPr>
          <p:cNvSpPr/>
          <p:nvPr/>
        </p:nvSpPr>
        <p:spPr>
          <a:xfrm>
            <a:off x="8649360" y="2370509"/>
            <a:ext cx="2160000" cy="2160000"/>
          </a:xfrm>
          <a:prstGeom prst="ellipse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51E57-D276-8FDE-4B0F-A171EB5A6CA0}"/>
              </a:ext>
            </a:extLst>
          </p:cNvPr>
          <p:cNvSpPr/>
          <p:nvPr/>
        </p:nvSpPr>
        <p:spPr>
          <a:xfrm>
            <a:off x="1264887" y="2398331"/>
            <a:ext cx="2160000" cy="2160000"/>
          </a:xfrm>
          <a:prstGeom prst="ellipse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623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СПРИНТ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A9DDB9-5FAB-43D0-BDC5-63BA98A881DF}"/>
              </a:ext>
            </a:extLst>
          </p:cNvPr>
          <p:cNvSpPr txBox="1"/>
          <p:nvPr/>
        </p:nvSpPr>
        <p:spPr>
          <a:xfrm>
            <a:off x="1374439" y="3219677"/>
            <a:ext cx="1948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ДЕНЬ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64EAA-22C7-A14F-02B8-4BDE4FE5B3DD}"/>
              </a:ext>
            </a:extLst>
          </p:cNvPr>
          <p:cNvSpPr txBox="1"/>
          <p:nvPr/>
        </p:nvSpPr>
        <p:spPr>
          <a:xfrm>
            <a:off x="1374440" y="3778371"/>
            <a:ext cx="1948121" cy="374571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DSM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41D521-7683-B598-6B99-17A1FCF7D896}"/>
              </a:ext>
            </a:extLst>
          </p:cNvPr>
          <p:cNvSpPr txBox="1"/>
          <p:nvPr/>
        </p:nvSpPr>
        <p:spPr>
          <a:xfrm>
            <a:off x="1374439" y="4240806"/>
            <a:ext cx="1948121" cy="374571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ПЛАНИРОВАНИЕ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8144A6-2DBE-BA7E-7A47-928397A6D229}"/>
              </a:ext>
            </a:extLst>
          </p:cNvPr>
          <p:cNvSpPr txBox="1"/>
          <p:nvPr/>
        </p:nvSpPr>
        <p:spPr>
          <a:xfrm>
            <a:off x="8755299" y="3229168"/>
            <a:ext cx="1948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ДЕНЬ 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0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452A84-F784-185C-05B5-F991EBE1EC54}"/>
              </a:ext>
            </a:extLst>
          </p:cNvPr>
          <p:cNvSpPr txBox="1"/>
          <p:nvPr/>
        </p:nvSpPr>
        <p:spPr>
          <a:xfrm>
            <a:off x="8761601" y="3801145"/>
            <a:ext cx="1948121" cy="374571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DSM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536C34-8E8B-7241-03FD-B1CE8EC4C2E5}"/>
              </a:ext>
            </a:extLst>
          </p:cNvPr>
          <p:cNvSpPr txBox="1"/>
          <p:nvPr/>
        </p:nvSpPr>
        <p:spPr>
          <a:xfrm>
            <a:off x="8761600" y="4263580"/>
            <a:ext cx="1948121" cy="374571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rgbClr val="F26921"/>
                </a:solidFill>
              </a:rPr>
              <a:t>ОБЗОР СПРИНТА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26921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4" name="Стрелка: вправо 23">
            <a:extLst>
              <a:ext uri="{FF2B5EF4-FFF2-40B4-BE49-F238E27FC236}">
                <a16:creationId xmlns:a16="http://schemas.microsoft.com/office/drawing/2014/main" id="{45A52253-7FEE-3327-873A-7579FA2F622B}"/>
              </a:ext>
            </a:extLst>
          </p:cNvPr>
          <p:cNvSpPr/>
          <p:nvPr/>
        </p:nvSpPr>
        <p:spPr>
          <a:xfrm>
            <a:off x="3696999" y="4082332"/>
            <a:ext cx="4807233" cy="461665"/>
          </a:xfrm>
          <a:prstGeom prst="rightArrow">
            <a:avLst/>
          </a:prstGeom>
          <a:noFill/>
          <a:ln>
            <a:solidFill>
              <a:srgbClr val="F26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B904FA-CDCE-D24B-E6BE-ED0F82052DC0}"/>
              </a:ext>
            </a:extLst>
          </p:cNvPr>
          <p:cNvSpPr txBox="1"/>
          <p:nvPr/>
        </p:nvSpPr>
        <p:spPr>
          <a:xfrm>
            <a:off x="4533669" y="4543997"/>
            <a:ext cx="3218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10 РАБОЧИХ ДНЕЙ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DC6878-180D-C932-5235-B9130A05A12C}"/>
              </a:ext>
            </a:extLst>
          </p:cNvPr>
          <p:cNvSpPr txBox="1"/>
          <p:nvPr/>
        </p:nvSpPr>
        <p:spPr>
          <a:xfrm>
            <a:off x="3696999" y="2063842"/>
            <a:ext cx="3218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ЕЖЕДНЕВНЫЕ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DSM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7CF896-9F02-CA53-3B68-98CF39B3B665}"/>
              </a:ext>
            </a:extLst>
          </p:cNvPr>
          <p:cNvSpPr txBox="1"/>
          <p:nvPr/>
        </p:nvSpPr>
        <p:spPr>
          <a:xfrm>
            <a:off x="3696999" y="2617783"/>
            <a:ext cx="3218789" cy="461665"/>
          </a:xfrm>
          <a:prstGeom prst="rect">
            <a:avLst/>
          </a:prstGeom>
          <a:noFill/>
          <a:ln>
            <a:solidFill>
              <a:srgbClr val="F26921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ГРУМИНГ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41A9D2-4C66-77ED-5C6A-C98F8FAABD65}"/>
              </a:ext>
            </a:extLst>
          </p:cNvPr>
          <p:cNvSpPr txBox="1"/>
          <p:nvPr/>
        </p:nvSpPr>
        <p:spPr>
          <a:xfrm>
            <a:off x="3696998" y="3402556"/>
            <a:ext cx="4055460" cy="461665"/>
          </a:xfrm>
          <a:prstGeom prst="rect">
            <a:avLst/>
          </a:prstGeom>
          <a:noFill/>
          <a:ln>
            <a:solidFill>
              <a:srgbClr val="F26921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dirty="0"/>
              <a:t>ТЕХНИЧЕСКИЕ ВСТРЕЧИ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D000CA-FCA1-40E2-A5DC-55DBDFE77E24}"/>
              </a:ext>
            </a:extLst>
          </p:cNvPr>
          <p:cNvSpPr txBox="1"/>
          <p:nvPr/>
        </p:nvSpPr>
        <p:spPr>
          <a:xfrm>
            <a:off x="8775619" y="4774829"/>
            <a:ext cx="1948121" cy="374571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РЕТРОСПЕКТИВА</a:t>
            </a:r>
          </a:p>
        </p:txBody>
      </p:sp>
    </p:spTree>
    <p:extLst>
      <p:ext uri="{BB962C8B-B14F-4D97-AF65-F5344CB8AC3E}">
        <p14:creationId xmlns:p14="http://schemas.microsoft.com/office/powerpoint/2010/main" val="9375785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623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ПЛАНИРОВАНИЕ СПРИНТА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86B90-5672-9CCF-54BC-29074712444F}"/>
              </a:ext>
            </a:extLst>
          </p:cNvPr>
          <p:cNvSpPr txBox="1"/>
          <p:nvPr/>
        </p:nvSpPr>
        <p:spPr>
          <a:xfrm>
            <a:off x="1657444" y="1904892"/>
            <a:ext cx="85493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ЭТО РЕГУЛЯРНАЯ ВСТРЕЧА, ОЗНАЧАЮЩАЯ НАЧАЛО СПРИНТА, НА КОТОРОЙ ФОРМИРУЕТСЯ ПЛАН РАБОТЫ НА СПРИНТ СОВМЕСТНЫМИ УСИЛИЯМИ КОМАНДЫ</a:t>
            </a:r>
          </a:p>
          <a:p>
            <a:endParaRPr lang="ru-RU" dirty="0"/>
          </a:p>
          <a:p>
            <a:r>
              <a:rPr lang="ru-RU" b="1" dirty="0">
                <a:solidFill>
                  <a:srgbClr val="F26921"/>
                </a:solidFill>
              </a:rPr>
              <a:t>PO</a:t>
            </a:r>
            <a:r>
              <a:rPr lang="ru-RU" dirty="0"/>
              <a:t> ПРИНОСИТ ЦЕЛИ СПРИНТА ИСХОДЯ ИЗ ПРИОРИТЕТНОСТИ ПРОЕКТОВ В РАБОТЕ И ОБСУЖДАЕТ С КОМАНДОЙ</a:t>
            </a:r>
          </a:p>
        </p:txBody>
      </p:sp>
      <p:pic>
        <p:nvPicPr>
          <p:cNvPr id="11" name="Рисунок 10" descr="Группа мужчин контур">
            <a:extLst>
              <a:ext uri="{FF2B5EF4-FFF2-40B4-BE49-F238E27FC236}">
                <a16:creationId xmlns:a16="http://schemas.microsoft.com/office/drawing/2014/main" id="{A44A9606-140D-18A3-8740-ACD76F4A5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044" y="500400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5D3FA3-11B2-B3FA-FCB7-E5B69B9F567E}"/>
              </a:ext>
            </a:extLst>
          </p:cNvPr>
          <p:cNvSpPr txBox="1"/>
          <p:nvPr/>
        </p:nvSpPr>
        <p:spPr>
          <a:xfrm>
            <a:off x="1704755" y="4861036"/>
            <a:ext cx="32187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PRODUCT OWNER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DEVTEAM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* </a:t>
            </a:r>
            <a:r>
              <a:rPr lang="en-US" sz="1800" dirty="0"/>
              <a:t>TEAMDRIVER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*</a:t>
            </a:r>
            <a:r>
              <a:rPr lang="ru-RU" sz="1800" dirty="0"/>
              <a:t>СЕРВИСЫ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8B7A5-DE07-57C8-CA7A-05DBBEF173AC}"/>
              </a:ext>
            </a:extLst>
          </p:cNvPr>
          <p:cNvSpPr txBox="1"/>
          <p:nvPr/>
        </p:nvSpPr>
        <p:spPr>
          <a:xfrm>
            <a:off x="7010400" y="5276535"/>
            <a:ext cx="3218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/>
              <a:t>ДО 4-Х ЧАСОВ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pic>
        <p:nvPicPr>
          <p:cNvPr id="20" name="Рисунок 19" descr="Часы контур">
            <a:extLst>
              <a:ext uri="{FF2B5EF4-FFF2-40B4-BE49-F238E27FC236}">
                <a16:creationId xmlns:a16="http://schemas.microsoft.com/office/drawing/2014/main" id="{15B45FED-B367-64AC-535A-A78D7FA84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500400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965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623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DAILY SCRUM MEETING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86B90-5672-9CCF-54BC-29074712444F}"/>
              </a:ext>
            </a:extLst>
          </p:cNvPr>
          <p:cNvSpPr txBox="1"/>
          <p:nvPr/>
        </p:nvSpPr>
        <p:spPr>
          <a:xfrm>
            <a:off x="1296628" y="1768521"/>
            <a:ext cx="959569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ЭТО РЕГУЛЯРНАЯ ЕЖЕДНЕВНАЯ ВСТРЕЧА UNISCRUM-КОМАНДЫ,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РАМКАХ КОТОРОЙ ПРОИСХОДИТ СВЕРКА ПРОГРЕССА В ДОСТИЖЕНИИ ЦЕЛЕЙ СПРИНТА И КОРРЕКТИРОВКА ЗАПЛАНИРОВАННОЙ ПРЕДСТОЯЩЕЙ РАБОТЫ ПРИ НЕОБХОДИМОСТИ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/>
              <a:t>DSM ПРОВОДИТСЯ В ОДНО И ТО ЖЕ ВРЕМЯ. ДЛЯ СВЕРКИ ИСПОЛЬЗУЕТСЯ AGILE ДОСКА ПРОЕКТОВ КОМАНДЫ НА SPACE</a:t>
            </a:r>
          </a:p>
        </p:txBody>
      </p:sp>
      <p:pic>
        <p:nvPicPr>
          <p:cNvPr id="11" name="Рисунок 10" descr="Группа мужчин контур">
            <a:extLst>
              <a:ext uri="{FF2B5EF4-FFF2-40B4-BE49-F238E27FC236}">
                <a16:creationId xmlns:a16="http://schemas.microsoft.com/office/drawing/2014/main" id="{A44A9606-140D-18A3-8740-ACD76F4A5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044" y="502379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5D3FA3-11B2-B3FA-FCB7-E5B69B9F567E}"/>
              </a:ext>
            </a:extLst>
          </p:cNvPr>
          <p:cNvSpPr txBox="1"/>
          <p:nvPr/>
        </p:nvSpPr>
        <p:spPr>
          <a:xfrm>
            <a:off x="1737322" y="4859007"/>
            <a:ext cx="32187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DEVTEAM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algn="l"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*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PRODUCT OWNER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*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TEAMDRIVER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*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СЕРВИСЫ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8B7A5-DE07-57C8-CA7A-05DBBEF173AC}"/>
              </a:ext>
            </a:extLst>
          </p:cNvPr>
          <p:cNvSpPr txBox="1"/>
          <p:nvPr/>
        </p:nvSpPr>
        <p:spPr>
          <a:xfrm>
            <a:off x="7010400" y="5296325"/>
            <a:ext cx="3218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ДО 15-ТИ МИНУТ</a:t>
            </a:r>
          </a:p>
        </p:txBody>
      </p:sp>
      <p:pic>
        <p:nvPicPr>
          <p:cNvPr id="20" name="Рисунок 19" descr="Часы контур">
            <a:extLst>
              <a:ext uri="{FF2B5EF4-FFF2-40B4-BE49-F238E27FC236}">
                <a16:creationId xmlns:a16="http://schemas.microsoft.com/office/drawing/2014/main" id="{15B45FED-B367-64AC-535A-A78D7FA84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50237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859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623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ОБЗОР СПРИНТА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pic>
        <p:nvPicPr>
          <p:cNvPr id="11" name="Рисунок 10" descr="Группа мужчин контур">
            <a:extLst>
              <a:ext uri="{FF2B5EF4-FFF2-40B4-BE49-F238E27FC236}">
                <a16:creationId xmlns:a16="http://schemas.microsoft.com/office/drawing/2014/main" id="{A44A9606-140D-18A3-8740-ACD76F4A5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044" y="5026387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5D3FA3-11B2-B3FA-FCB7-E5B69B9F567E}"/>
              </a:ext>
            </a:extLst>
          </p:cNvPr>
          <p:cNvSpPr txBox="1"/>
          <p:nvPr/>
        </p:nvSpPr>
        <p:spPr>
          <a:xfrm>
            <a:off x="1768666" y="4744020"/>
            <a:ext cx="52383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PRODUCT OWNER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DEVTEAM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/>
              <a:t>СТЕЙКХОЛДЕРЫ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TEAMDRIVER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*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СЕРВИСЫ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8B7A5-DE07-57C8-CA7A-05DBBEF173AC}"/>
              </a:ext>
            </a:extLst>
          </p:cNvPr>
          <p:cNvSpPr txBox="1"/>
          <p:nvPr/>
        </p:nvSpPr>
        <p:spPr>
          <a:xfrm>
            <a:off x="7006971" y="5298018"/>
            <a:ext cx="3218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~ 30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МИНУТ</a:t>
            </a:r>
          </a:p>
        </p:txBody>
      </p:sp>
      <p:pic>
        <p:nvPicPr>
          <p:cNvPr id="20" name="Рисунок 19" descr="Часы контур">
            <a:extLst>
              <a:ext uri="{FF2B5EF4-FFF2-40B4-BE49-F238E27FC236}">
                <a16:creationId xmlns:a16="http://schemas.microsoft.com/office/drawing/2014/main" id="{15B45FED-B367-64AC-535A-A78D7FA84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2571" y="5026387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D4CA98-B2E3-C1DD-BF58-0E6C74E787C7}"/>
              </a:ext>
            </a:extLst>
          </p:cNvPr>
          <p:cNvSpPr txBox="1"/>
          <p:nvPr/>
        </p:nvSpPr>
        <p:spPr>
          <a:xfrm>
            <a:off x="1768666" y="2012882"/>
            <a:ext cx="80960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ЭТО РЕГУЛЯРНАЯ ВСТРЕЧА В КОНЦЕ СПРИНТА, НА КОТОРОЙ UNISCRUM-КОМАНДА ПРЕДСТАВЛЯЕТ ЗАИНТЕРЕСОВАННЫМ ЛИЦАМ РЕЗУЛЬТАТ РАБОТЫ</a:t>
            </a:r>
          </a:p>
        </p:txBody>
      </p:sp>
    </p:spTree>
    <p:extLst>
      <p:ext uri="{BB962C8B-B14F-4D97-AF65-F5344CB8AC3E}">
        <p14:creationId xmlns:p14="http://schemas.microsoft.com/office/powerpoint/2010/main" val="41943529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623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РЕТРОСПЕКТИВА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pic>
        <p:nvPicPr>
          <p:cNvPr id="11" name="Рисунок 10" descr="Группа мужчин контур">
            <a:extLst>
              <a:ext uri="{FF2B5EF4-FFF2-40B4-BE49-F238E27FC236}">
                <a16:creationId xmlns:a16="http://schemas.microsoft.com/office/drawing/2014/main" id="{A44A9606-140D-18A3-8740-ACD76F4A5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044" y="5031175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5D3FA3-11B2-B3FA-FCB7-E5B69B9F567E}"/>
              </a:ext>
            </a:extLst>
          </p:cNvPr>
          <p:cNvSpPr txBox="1"/>
          <p:nvPr/>
        </p:nvSpPr>
        <p:spPr>
          <a:xfrm>
            <a:off x="1657444" y="4749711"/>
            <a:ext cx="52383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PRODUCT OWNER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DEVTEAM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TEAMDRIVER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*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СТЕЙКХОЛДЕРЫ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*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СЕРВИСЫ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8B7A5-DE07-57C8-CA7A-05DBBEF173AC}"/>
              </a:ext>
            </a:extLst>
          </p:cNvPr>
          <p:cNvSpPr txBox="1"/>
          <p:nvPr/>
        </p:nvSpPr>
        <p:spPr>
          <a:xfrm>
            <a:off x="7010400" y="5306710"/>
            <a:ext cx="3218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~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2 ЧАСА</a:t>
            </a:r>
          </a:p>
        </p:txBody>
      </p:sp>
      <p:pic>
        <p:nvPicPr>
          <p:cNvPr id="20" name="Рисунок 19" descr="Часы контур">
            <a:extLst>
              <a:ext uri="{FF2B5EF4-FFF2-40B4-BE49-F238E27FC236}">
                <a16:creationId xmlns:a16="http://schemas.microsoft.com/office/drawing/2014/main" id="{15B45FED-B367-64AC-535A-A78D7FA84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5031175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53E82-5A31-CD18-43CD-B4A95F0278CC}"/>
              </a:ext>
            </a:extLst>
          </p:cNvPr>
          <p:cNvSpPr txBox="1"/>
          <p:nvPr/>
        </p:nvSpPr>
        <p:spPr>
          <a:xfrm>
            <a:off x="1657444" y="1643713"/>
            <a:ext cx="99963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ЭТО КОМАНДНАЯ ВСТРЕЧА, В РАМКАХ КОТОРОЙ ОБСУЖДАЕТСЯ СЛОЖИВШИЙСЯ РАБОЧИЙ ПРОЦЕСС И РАЗЛИЧНЫЕ ЗАПРОСЫ, С ЦЕЛЬЮ АНАЛИЗА ОГРАНИЧЕНИЙ, ОШИБОК ИЛИ ВЫДЕЛЕНИЯ УСПЕШНЫХ ПРАКТИК, ДЛЯ ДАЛЬНЕЙШЕГО УЛУЧШЕНИЯ ПРОЦЕССА РАЗРАБОТКИ ИЛИ ВЗАИМОДЕЙСТВИЯ ВНУТРИ И ВОВНЕ КОМАНДЫ</a:t>
            </a:r>
          </a:p>
          <a:p>
            <a:endParaRPr lang="ru-RU" sz="1600" dirty="0"/>
          </a:p>
          <a:p>
            <a:r>
              <a:rPr lang="ru-RU" sz="1800" dirty="0"/>
              <a:t>РЕТРОСПЕКТИВА ПРОВОДИТСЯ В ПОСЛЕДНИЙ ДЕНЬ СПРИНТА</a:t>
            </a:r>
          </a:p>
        </p:txBody>
      </p:sp>
    </p:spTree>
    <p:extLst>
      <p:ext uri="{BB962C8B-B14F-4D97-AF65-F5344CB8AC3E}">
        <p14:creationId xmlns:p14="http://schemas.microsoft.com/office/powerpoint/2010/main" val="21897746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623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ГРУМИНГ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pic>
        <p:nvPicPr>
          <p:cNvPr id="11" name="Рисунок 10" descr="Группа мужчин контур">
            <a:extLst>
              <a:ext uri="{FF2B5EF4-FFF2-40B4-BE49-F238E27FC236}">
                <a16:creationId xmlns:a16="http://schemas.microsoft.com/office/drawing/2014/main" id="{A44A9606-140D-18A3-8740-ACD76F4A5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044" y="502940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5D3FA3-11B2-B3FA-FCB7-E5B69B9F567E}"/>
              </a:ext>
            </a:extLst>
          </p:cNvPr>
          <p:cNvSpPr txBox="1"/>
          <p:nvPr/>
        </p:nvSpPr>
        <p:spPr>
          <a:xfrm>
            <a:off x="1704755" y="5071102"/>
            <a:ext cx="32187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PRODUCT OWNER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DEVTEAM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26921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*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TEAMDRIVER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8B7A5-DE07-57C8-CA7A-05DBBEF173AC}"/>
              </a:ext>
            </a:extLst>
          </p:cNvPr>
          <p:cNvSpPr txBox="1"/>
          <p:nvPr/>
        </p:nvSpPr>
        <p:spPr>
          <a:xfrm>
            <a:off x="7057711" y="5317323"/>
            <a:ext cx="3218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~ </a:t>
            </a:r>
            <a:r>
              <a:rPr lang="ru-RU" sz="1600" dirty="0"/>
              <a:t>1 ЧАС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pic>
        <p:nvPicPr>
          <p:cNvPr id="20" name="Рисунок 19" descr="Часы контур">
            <a:extLst>
              <a:ext uri="{FF2B5EF4-FFF2-40B4-BE49-F238E27FC236}">
                <a16:creationId xmlns:a16="http://schemas.microsoft.com/office/drawing/2014/main" id="{15B45FED-B367-64AC-535A-A78D7FA84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5029401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58C1BA-00A9-A05E-7BAD-3F4C0F8B846A}"/>
              </a:ext>
            </a:extLst>
          </p:cNvPr>
          <p:cNvSpPr txBox="1"/>
          <p:nvPr/>
        </p:nvSpPr>
        <p:spPr>
          <a:xfrm>
            <a:off x="1704755" y="2011290"/>
            <a:ext cx="95220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ЭТО ВСТРЕЧА, ВЛАДЕЛЬЦА ПРОДУКТА С КОМАНДОЙ РАЗРАБОТЧИКОВ. ВСТРЕЧА ПОЗВОЛЯЕТ ПРОЯСНИТЬ И УТОЧНИТЬ ЭЛЕМЕНТЫ БЭКЛОГА ПРОДУКТА, КОТОРЫЕ ПРЕДСТОИТ ВЗЯТЬ В РАБОТУ В СЛЕДУЮЩИХ СПРИНТАХ </a:t>
            </a:r>
          </a:p>
        </p:txBody>
      </p:sp>
    </p:spTree>
    <p:extLst>
      <p:ext uri="{BB962C8B-B14F-4D97-AF65-F5344CB8AC3E}">
        <p14:creationId xmlns:p14="http://schemas.microsoft.com/office/powerpoint/2010/main" val="13278904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623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7200" dirty="0">
                <a:solidFill>
                  <a:prstClr val="white"/>
                </a:solidFill>
                <a:latin typeface="Impact" panose="020B0806030902050204" pitchFamily="34" charset="0"/>
              </a:rPr>
              <a:t>ОЦЕНКА ЭЛЕМЕНТОВ БЭКЛОГА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FFD5B-3458-6D10-A989-CC416ABA34E2}"/>
              </a:ext>
            </a:extLst>
          </p:cNvPr>
          <p:cNvSpPr txBox="1"/>
          <p:nvPr/>
        </p:nvSpPr>
        <p:spPr>
          <a:xfrm>
            <a:off x="1990469" y="2461921"/>
            <a:ext cx="9979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ПРОИСХОДИТ НА ГРУМИНГЕ (ИНОГДА НА ПЛАНИРОВАНИИ)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17FC7-926A-04A2-E328-874EE3C1C7F6}"/>
              </a:ext>
            </a:extLst>
          </p:cNvPr>
          <p:cNvSpPr txBox="1"/>
          <p:nvPr/>
        </p:nvSpPr>
        <p:spPr>
          <a:xfrm>
            <a:off x="1990470" y="3313414"/>
            <a:ext cx="9979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ОЦЕНКИ В ВИДЕ ОТНОСИТЕЛЬНЫХ ЕДИНИЦ – НАПРИМЕР, </a:t>
            </a:r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STORY POINT</a:t>
            </a:r>
            <a:endParaRPr lang="ru-RU" sz="24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158E7-EDD0-8EA8-B9F0-D38540F142A3}"/>
              </a:ext>
            </a:extLst>
          </p:cNvPr>
          <p:cNvSpPr txBox="1"/>
          <p:nvPr/>
        </p:nvSpPr>
        <p:spPr>
          <a:xfrm>
            <a:off x="1990469" y="4165246"/>
            <a:ext cx="9979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ОЦЕНИВАЕТСЯ СЛОЖНОСТЬ РЕАЛИЗАЦИИ ЭЛЕМЕНТА БЭКЛОГА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18CBAB80-1BA9-18D9-97D1-9BAE72F4706D}"/>
              </a:ext>
            </a:extLst>
          </p:cNvPr>
          <p:cNvCxnSpPr>
            <a:cxnSpLocks/>
          </p:cNvCxnSpPr>
          <p:nvPr/>
        </p:nvCxnSpPr>
        <p:spPr>
          <a:xfrm flipV="1">
            <a:off x="1713137" y="2218996"/>
            <a:ext cx="0" cy="260350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685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346068" y="199708"/>
            <a:ext cx="11623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7200" dirty="0">
                <a:solidFill>
                  <a:prstClr val="white"/>
                </a:solidFill>
                <a:latin typeface="Impact" panose="020B0806030902050204" pitchFamily="34" charset="0"/>
              </a:rPr>
              <a:t>ОЦЕНКА ЭЛЕМЕНТОВ БЭКЛОГА</a:t>
            </a:r>
            <a:endParaRPr lang="ru-RU" sz="1200" dirty="0">
              <a:solidFill>
                <a:prstClr val="white"/>
              </a:solidFill>
              <a:latin typeface="Impact" panose="020B080603090205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3E8057-5F69-87EF-5944-43F5FE9C041D}"/>
              </a:ext>
            </a:extLst>
          </p:cNvPr>
          <p:cNvSpPr txBox="1"/>
          <p:nvPr/>
        </p:nvSpPr>
        <p:spPr>
          <a:xfrm>
            <a:off x="520700" y="1919555"/>
            <a:ext cx="11448795" cy="37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2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ЗАДАЧА ПОНЯТНА И ПРОСТА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4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ЗАДАЧА ЧУТЬ СЛОЖНЕЕ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8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ТРЕБУЕТСЯ ВНЕДРЕНИЕ ДЛЯ ПРОСТОЙ ИЛИ ЧУТЬ СЛОЖНОЙ ЗАДАЧИ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16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ЗАДАЧА СЛОЖНАЯ, ТРЕБУЕТ ПРОРАБОТКИ, А ТАК ЖЕ ВНЕДРЕНИЯ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32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ЗАДАЧА УРОВНЯ НОВОГО УСТРОЙСТВА СО ВСЕМ ПАКЕТОМ УСЛУГ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64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ЗАДАЧА ПОНЯТНАЯ, НО СЛОЖНАЯ И ЭТО НОВОЕ УСТРОЙСТВО С ДОЛГИМ ВНЕДРЕНИЕМ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F26921"/>
                </a:solidFill>
                <a:latin typeface="Pragmatica Light" panose="020B0403040502020204" pitchFamily="34" charset="-52"/>
              </a:rPr>
              <a:t>128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 – ЗАДАЧА НЕ ПОНЯТНА И ТРУДНО ОТВЕТИТЬ</a:t>
            </a:r>
          </a:p>
        </p:txBody>
      </p:sp>
    </p:spTree>
    <p:extLst>
      <p:ext uri="{BB962C8B-B14F-4D97-AF65-F5344CB8AC3E}">
        <p14:creationId xmlns:p14="http://schemas.microsoft.com/office/powerpoint/2010/main" val="14889101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вал 11">
            <a:extLst>
              <a:ext uri="{FF2B5EF4-FFF2-40B4-BE49-F238E27FC236}">
                <a16:creationId xmlns:a16="http://schemas.microsoft.com/office/drawing/2014/main" id="{CCF3B33D-03C2-0A8E-A899-901CAEE59314}"/>
              </a:ext>
            </a:extLst>
          </p:cNvPr>
          <p:cNvSpPr/>
          <p:nvPr/>
        </p:nvSpPr>
        <p:spPr>
          <a:xfrm>
            <a:off x="-2201550" y="899856"/>
            <a:ext cx="5040000" cy="5040000"/>
          </a:xfrm>
          <a:prstGeom prst="ellipse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FB1DA2-B703-7204-63CE-57EB3DECB9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74" t="10556" r="7063" b="6111"/>
          <a:stretch/>
        </p:blipFill>
        <p:spPr>
          <a:xfrm>
            <a:off x="2838450" y="723900"/>
            <a:ext cx="9229725" cy="5715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2D24B8-7CCC-1748-4B73-CBBA817C2229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E1D08-8F5F-9476-384F-603A6467C875}"/>
              </a:ext>
            </a:extLst>
          </p:cNvPr>
          <p:cNvSpPr txBox="1"/>
          <p:nvPr/>
        </p:nvSpPr>
        <p:spPr>
          <a:xfrm>
            <a:off x="0" y="2127194"/>
            <a:ext cx="29945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RnD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UNISCAN</a:t>
            </a:r>
            <a:endParaRPr kumimoji="0" lang="ru-RU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18100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66421</TotalTime>
  <Words>6104</Words>
  <Application>Microsoft Office PowerPoint</Application>
  <PresentationFormat>Широкоэкранный</PresentationFormat>
  <Paragraphs>874</Paragraphs>
  <Slides>62</Slides>
  <Notes>62</Notes>
  <HiddenSlides>4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62</vt:i4>
      </vt:variant>
    </vt:vector>
  </HeadingPairs>
  <TitlesOfParts>
    <vt:vector size="76" baseType="lpstr">
      <vt:lpstr>-apple-system</vt:lpstr>
      <vt:lpstr>Arial</vt:lpstr>
      <vt:lpstr>Calibri</vt:lpstr>
      <vt:lpstr>Calibri Light</vt:lpstr>
      <vt:lpstr>docs-Calibri</vt:lpstr>
      <vt:lpstr>Impact</vt:lpstr>
      <vt:lpstr>inherit</vt:lpstr>
      <vt:lpstr>Pragmatica Book</vt:lpstr>
      <vt:lpstr>Pragmatica Extra Light</vt:lpstr>
      <vt:lpstr>Pragmatica Light</vt:lpstr>
      <vt:lpstr>Roboto</vt:lpstr>
      <vt:lpstr>Segoe UI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Червяков</dc:creator>
  <cp:lastModifiedBy>Тимошок Антон Игоревич</cp:lastModifiedBy>
  <cp:revision>585</cp:revision>
  <cp:lastPrinted>2023-06-28T03:22:40Z</cp:lastPrinted>
  <dcterms:created xsi:type="dcterms:W3CDTF">2023-04-20T00:58:27Z</dcterms:created>
  <dcterms:modified xsi:type="dcterms:W3CDTF">2026-06-23T05:58:41Z</dcterms:modified>
</cp:coreProperties>
</file>