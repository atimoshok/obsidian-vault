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57" r:id="rId3"/>
    <p:sldId id="435" r:id="rId4"/>
    <p:sldId id="425" r:id="rId5"/>
    <p:sldId id="456" r:id="rId6"/>
    <p:sldId id="429" r:id="rId7"/>
    <p:sldId id="426" r:id="rId8"/>
    <p:sldId id="450" r:id="rId9"/>
    <p:sldId id="455" r:id="rId10"/>
    <p:sldId id="436" r:id="rId11"/>
    <p:sldId id="446" r:id="rId12"/>
    <p:sldId id="448" r:id="rId13"/>
    <p:sldId id="443" r:id="rId14"/>
    <p:sldId id="457" r:id="rId15"/>
    <p:sldId id="444" r:id="rId16"/>
    <p:sldId id="447" r:id="rId17"/>
    <p:sldId id="451" r:id="rId18"/>
    <p:sldId id="454" r:id="rId19"/>
    <p:sldId id="445" r:id="rId20"/>
  </p:sldIdLst>
  <p:sldSz cx="12192000" cy="6858000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7D250B3-3A3E-7034-5410-AE1CD2732C08}" name="Червяков Александр Владимирович" initials="ЧАВ" userId="S::chervyakov@uniscan.onmicrosoft.com::979c6278-ec77-4907-998b-a8b906efa2d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921"/>
    <a:srgbClr val="C549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5947" autoAdjust="0"/>
  </p:normalViewPr>
  <p:slideViewPr>
    <p:cSldViewPr snapToGrid="0">
      <p:cViewPr varScale="1">
        <p:scale>
          <a:sx n="42" d="100"/>
          <a:sy n="42" d="100"/>
        </p:scale>
        <p:origin x="1800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8/10/relationships/authors" Target="author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889AC-346D-417C-AECC-3B4758C1DAA0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EEE9D-F55D-4E0C-B1C6-D8EDA2017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184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eb.archive.org/web/20160318002949/http:/www.cs.umd.edu/class/spring2003/cmsc838p/Process/waterfall.pdf?roistat_visit=385199" TargetMode="External"/><Relationship Id="rId7" Type="http://schemas.openxmlformats.org/officeDocument/2006/relationships/hyperlink" Target="https://vitalitychicago.com/blog/agile-projects-are-more-successful-traditional-projects/?roistat_visit=385199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insights.stackoverflow.com/survey/2018?roistat_visit=385199#development-practices" TargetMode="External"/><Relationship Id="rId5" Type="http://schemas.openxmlformats.org/officeDocument/2006/relationships/hyperlink" Target="http://agilemanifesto.org/?roistat_visit=385199" TargetMode="External"/><Relationship Id="rId4" Type="http://schemas.openxmlformats.org/officeDocument/2006/relationships/hyperlink" Target="https://www.agilepractice.eu/wp-content/uploads/2016/09/Product-Development-Scrum-1986.pdf?roistat_visit=385199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3%D0%B8%D0%B1%D0%BA%D0%B0%D1%8F_%D0%BC%D0%B5%D1%82%D0%BE%D0%B4%D0%BE%D0%BB%D0%BE%D0%B3%D0%B8%D1%8F_%D1%80%D0%B0%D0%B7%D1%80%D0%B0%D0%B1%D0%BE%D1%82%D0%BA%D0%B8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EEE9D-F55D-4E0C-B1C6-D8EDA201779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2539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EEE9D-F55D-4E0C-B1C6-D8EDA201779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656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 err="1">
                <a:latin typeface="Pragmatica Light" panose="020B0403040502020204" pitchFamily="34" charset="-52"/>
              </a:rPr>
              <a:t>Agile</a:t>
            </a:r>
            <a:r>
              <a:rPr lang="ru-RU" sz="1200" dirty="0">
                <a:latin typeface="Pragmatica Light" panose="020B0403040502020204" pitchFamily="34" charset="-52"/>
              </a:rPr>
              <a:t> – набор методов и практик для гибкого управления проектами в разных прикладных областях, от разработки ПО до реализации маркетинговых стратегий, с целью повышения скорости создания готовых продуктов и минимизации рисков за счет итерационного выполнения, оперативного взаимодействия членов команды и быстрой реакцией на изменения. </a:t>
            </a:r>
            <a:r>
              <a:rPr lang="ru-RU" sz="1200" dirty="0" err="1">
                <a:latin typeface="Pragmatica Light" panose="020B0403040502020204" pitchFamily="34" charset="-52"/>
              </a:rPr>
              <a:t>Agile</a:t>
            </a:r>
            <a:r>
              <a:rPr lang="ru-RU" sz="1200" dirty="0">
                <a:latin typeface="Pragmatica Light" panose="020B0403040502020204" pitchFamily="34" charset="-52"/>
              </a:rPr>
              <a:t> объединяет семейство методологий с общими принципами, но инструменты и подходы к работе у каждой методологии из этого семейства свои.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EEE9D-F55D-4E0C-B1C6-D8EDA201779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419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71B43-F938-52DD-95DF-D4551B3CA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775641D-F08F-673B-357B-EA6620CBD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2F5E706-2861-BBDC-B6E8-0DDAA3C4A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1957-й: кубинская революция, хрущёвская оттепель, запуск первого искусственного спутника Земли.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Начало массовой разработке ПО было положено в 1957 году, когда компания IBM презентовала первый язык программирования высокого уровня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Fortran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(Formula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Translator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). Он предоставлял возможность создавать программы на понятном для обычного человека языке (английском), а не переключая тумблеры или пробивая дырки в перфокарте.</a:t>
            </a:r>
          </a:p>
          <a:p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 то время еще не существовало каких-либо правил или стандартов разработки программ. Каждый писал программы так, как “Бог на душу положит”.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Зачастую разработка новой программы выглядела так: Заказчик и Программист садились рядом, обсуждали чего хочет Заказчик, и Программист говорил — “я все понял” и уходил на полгода в разработку. В меру своего понимания Программист, делал “нечто”, что, как он думал, нужно Заказчику. Заказчик получал это “нечто”, и пытался его использовать, но либо с ходу натыкался на ошибку, либо не мог нормально работать, т.к. было неудобно. Приходилось переделывать. За деньги Заказчика опять же.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Понимания между ними было мало и постоянно приходилось переделывать часть работ. Такой подход к разработке программ назвали “Code &amp;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Fix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”, и к сожалению, он встречается и сейчас.</a:t>
            </a:r>
          </a:p>
          <a:p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 60-80х годах XX века, отсутствие такого рода стандартов и правил привело к полноценному мировому кризису разработки программного обеспечения 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software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crisis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).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Во всем мире в проектах по разработке ПО наблюдались одни и те же нерешаемые проблемы: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Проекты </a:t>
            </a:r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всегда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превышали бюджеты;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Реализация проекта </a:t>
            </a:r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всегда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превышала оговоренные сроки;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Итоговое ПО неэффективно решало возложенную на него задачу (тормозило, нестабильно работало и т.д.);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Итоговый результат был низкого качества;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Проекты были неуправляемыми, а код было сложно поддерживать;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 1970 году </a:t>
            </a:r>
            <a:r>
              <a:rPr lang="ru-RU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Уинстон Уокер Ройс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(</a:t>
            </a:r>
            <a:r>
              <a:rPr lang="ru-RU" b="0" i="1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Winston Walker Royce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), американский ученый, директор центра Lockheed Software Technology Center опубликовал статью, под заголовком</a:t>
            </a:r>
            <a:r>
              <a:rPr lang="ru-RU" b="0" i="0" u="none" strike="noStrike" dirty="0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3"/>
              </a:rPr>
              <a:t> “</a:t>
            </a:r>
            <a:r>
              <a:rPr lang="ru-RU" b="0" i="0" u="none" strike="noStrike" dirty="0" err="1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3"/>
              </a:rPr>
              <a:t>Managing</a:t>
            </a:r>
            <a:r>
              <a:rPr lang="ru-RU" b="0" i="0" u="none" strike="noStrike" dirty="0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3"/>
              </a:rPr>
              <a:t> </a:t>
            </a:r>
            <a:r>
              <a:rPr lang="ru-RU" b="0" i="0" u="none" strike="noStrike" dirty="0" err="1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3"/>
              </a:rPr>
              <a:t>the</a:t>
            </a:r>
            <a:r>
              <a:rPr lang="ru-RU" b="0" i="0" u="none" strike="noStrike" dirty="0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3"/>
              </a:rPr>
              <a:t> Development </a:t>
            </a:r>
            <a:r>
              <a:rPr lang="ru-RU" b="0" i="0" u="none" strike="noStrike" dirty="0" err="1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3"/>
              </a:rPr>
              <a:t>of</a:t>
            </a:r>
            <a:r>
              <a:rPr lang="ru-RU" b="0" i="0" u="none" strike="noStrike" dirty="0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3"/>
              </a:rPr>
              <a:t> </a:t>
            </a:r>
            <a:r>
              <a:rPr lang="ru-RU" b="0" i="0" u="none" strike="noStrike" dirty="0" err="1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3"/>
              </a:rPr>
              <a:t>Large</a:t>
            </a:r>
            <a:r>
              <a:rPr lang="ru-RU" b="0" i="0" u="none" strike="noStrike" dirty="0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3"/>
              </a:rPr>
              <a:t> Software Systems”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в которой описал концепцию “каскадной модели”  разработки программного обеспечения. Описал он его, как иллюстрацию наиболее распространенного подхода к разработке ПО, а вовсе не предлагая как единственно верное решение.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 процессе разработки все стадии проходятся строго последовательно, один за другим. Тем самым “каскадная модель” подразумевает, что переход от одной стадии разработки к другой происходит только после полного и успешного завершения предыдущей стадии, и что переходов назад либо вперед или перекрытия стадий не происходит.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Это был прорыв, но так можно было реализовать только простые проекты, для которых не будут меняться требования и документация.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Мир разработки ПО ринулся воплощать в жизнь “каскадную модель” и почти сразу наткнулся на неприятные последствия. Хотя алгоритм разработки ПО стал более понятным, это не дало желаемой предсказуемости в плане сроков и оценки бюджетов. 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Это повлекло создание различных подходов к разработке. И уже тогда, некоторые компании использовали итеративно-инкрементальный подход.</a:t>
            </a:r>
          </a:p>
          <a:p>
            <a:pPr algn="l">
              <a:buFont typeface="Arial" panose="020B0604020202020204" pitchFamily="34" charset="0"/>
              <a:buNone/>
            </a:pP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70-е годы XX века стали временем экспериментов с ИИР в проектах разного масштаба. Первый из известных нам крупных программных проектов, разработанных с применением ИИР, был осуществлен в 1972 году подразделением IBM Federal Systems Division (IBM FSD), которое специализировалось на крупных государственных проектах для NASA, Министерства обороны США или Агентства Национальной Безопасности.</a:t>
            </a:r>
          </a:p>
          <a:p>
            <a:pPr algn="l">
              <a:buFont typeface="Arial" panose="020B0604020202020204" pitchFamily="34" charset="0"/>
              <a:buNone/>
            </a:pP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Все 80-е годы среди специалистов было много дискуссий о том, каким должен быть ИИР. Появлялись новые модели, например, Спиральная модель Барри Боэма.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Итого: к началу 80-х годов XX века идея итеративно-инкрементальной разработки была уже хорошо известна и воспринималась как передовая. Оставалось добавить человеческое, командное измерение, чтобы появился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Agile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 Кто-то должен был сделать этот шаг, и он не заставил себя ждать.</a:t>
            </a:r>
          </a:p>
          <a:p>
            <a:pPr algn="l">
              <a:buFont typeface="Arial" panose="020B0604020202020204" pitchFamily="34" charset="0"/>
              <a:buNone/>
            </a:pP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 1986 году вышла статья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Хиротака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Такеучи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Икуджиро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Нонака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</a:t>
            </a:r>
            <a:r>
              <a:rPr lang="ru-RU" b="0" i="0" u="none" strike="noStrike" dirty="0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4"/>
              </a:rPr>
              <a:t>”The New </a:t>
            </a:r>
            <a:r>
              <a:rPr lang="ru-RU" b="0" i="0" u="none" strike="noStrike" dirty="0" err="1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4"/>
              </a:rPr>
              <a:t>New</a:t>
            </a:r>
            <a:r>
              <a:rPr lang="ru-RU" b="0" i="0" u="none" strike="noStrike" dirty="0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4"/>
              </a:rPr>
              <a:t> Product Development Game”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в которой были представлены результаты исследований успешного опыта быстрого создания принципиально новых продуктов, на примере таких компаний как 3M, Fujitsu-Xerox, Honda, Xerox, Canon, Epson, NEC, Brother и других.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А самое главное, эти компании сделали ставку на «командный подход к разработке. Они собрали кросс-функциональные команды специалистов, обозначили им амбициозную бизнес-цель, поставили сроки запуска, а дальше – предоставили командам большую степень свободы в планировании работ, выборе способов достижения цели, организации своего рабочего процесса и пространства где они работали, управления бюджетом 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тд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 По итогам, оценивался результат  команды в целом, а не вклад отдельного специалиста.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Авторы статьи проводили аналогию с игрой в регби (американский футбол), когда у команды есть общая цель – донести мяч до другого конца поля, на половину противника.</a:t>
            </a:r>
          </a:p>
          <a:p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Таким образом, к началу 90-х годов XX века были изучены и опробованы два ключевых аспекта, которые лягут в основу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Agile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итеративно-инкрементальный подход;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командная работа;</a:t>
            </a:r>
          </a:p>
          <a:p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Подходы к разработке разделились на легковесные (адаптивные, командные, с регулярной обратной связью, прозрачные) и тяжеловесные (каскадные). Легковесных стало так много, что представители этих подходов решили объединить усилия и выступить единым фронтом против тяжеловесных методов. Да ещё и описать это в каком-то документе, который позже станет известным как манифест-</a:t>
            </a:r>
            <a:r>
              <a:rPr lang="en-US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agile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 феврале 2001 года, 17 клёвых ребят, любящих разработку ПО и по всей видимости горнолыжные виды спорта, собрались на горнолыжном курорте близ Солт-Лейк-Сити.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После встречи между участниками была активная переписка для выработки 12 принципов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Agile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которые уточняли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Agile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-манифест. Уорд Каннингем вызвался сделать сайт </a:t>
            </a:r>
            <a:r>
              <a:rPr lang="ru-RU" b="0" i="0" u="none" strike="noStrike" dirty="0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5"/>
              </a:rPr>
              <a:t>http://agilemanifesto.org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и опубликовал на нем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Agile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-манифест и 12 принципов.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На сегодняшний день, по </a:t>
            </a:r>
            <a:r>
              <a:rPr lang="ru-RU" b="0" i="0" u="none" strike="noStrike" dirty="0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6"/>
              </a:rPr>
              <a:t>данным сайта </a:t>
            </a:r>
            <a:r>
              <a:rPr lang="ru-RU" b="0" i="0" u="none" strike="noStrike" dirty="0" err="1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6"/>
              </a:rPr>
              <a:t>StackOverflow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85% разработчиков используют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Agile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-подходы при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разработкие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программных продуктов.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А по </a:t>
            </a:r>
            <a:r>
              <a:rPr lang="ru-RU" b="0" i="0" u="none" strike="noStrike" dirty="0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7"/>
              </a:rPr>
              <a:t>данным </a:t>
            </a:r>
            <a:r>
              <a:rPr lang="ru-RU" b="0" i="0" u="none" strike="noStrike" dirty="0" err="1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7"/>
              </a:rPr>
              <a:t>Standish</a:t>
            </a:r>
            <a:r>
              <a:rPr lang="ru-RU" b="0" i="0" u="none" strike="noStrike" dirty="0">
                <a:solidFill>
                  <a:srgbClr val="35AFF2"/>
                </a:solidFill>
                <a:effectLst/>
                <a:latin typeface="Roboto" panose="02000000000000000000" pitchFamily="2" charset="0"/>
                <a:hlinkClick r:id="rId7"/>
              </a:rPr>
              <a:t> Group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количество успешно реализованных проектов, сделанных по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Agile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в два раза превышает количество успешных проектов сделанных по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Waterafall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</a:t>
            </a:r>
            <a:endParaRPr lang="en-US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Google, Amazon, Microsoft, Adobe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 Сбер, Тинькофф.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716C49-7452-7E95-EC0D-A71A1B41FF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EEE9D-F55D-4E0C-B1C6-D8EDA201779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380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Манифест - основной документ, содержащий описание ценностей и принципов </a:t>
            </a:r>
            <a:r>
              <a:rPr lang="ru-RU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3" tooltip="Гибкая методология разработки"/>
              </a:rPr>
              <a:t>гибкой разработки программного обеспечения</a:t>
            </a:r>
            <a:r>
              <a:rPr lang="ru-RU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Текст манифеста доступен на более чем 50 языках (в т. ч. на русском), и включает в себя 4 ценности и 12 принципов.</a:t>
            </a:r>
            <a:endParaRPr lang="ru-RU" b="0" i="0" u="none" strike="noStrike" dirty="0">
              <a:solidFill>
                <a:srgbClr val="0645AD"/>
              </a:solidFill>
              <a:effectLst/>
              <a:latin typeface="Arial" panose="020B0604020202020204" pitchFamily="34" charset="0"/>
            </a:endParaRPr>
          </a:p>
          <a:p>
            <a:r>
              <a:rPr lang="ru-RU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</a:rPr>
              <a:t>Ценность 1: здесь говориться о том, что 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процессы и инструменты должны помогать взаимодействию между людьми, а не мешать им.</a:t>
            </a:r>
          </a:p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Ценность 2: 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приверженцы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Agile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не отказываются от ведения документов вообще, но определяют приоритет между этими двумя аспектами.</a:t>
            </a:r>
          </a:p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Ценность 3: предполагает, что разобраться в запросе заказчика, понять его потребности и регулярно обмениваться с ним обратной связью, </a:t>
            </a:r>
            <a:r>
              <a:rPr lang="ru-RU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первичнее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, чем условия контракта.</a:t>
            </a:r>
          </a:p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Ценность 4: эта ценность говорит о том, что сторонники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Agile 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готовы адаптироваться под меняющиеся условия и оперативно реагировать на них, а не слепо следовать плану, который мог устареть в процессе разработки.</a:t>
            </a:r>
            <a:endParaRPr lang="ru-RU" b="0" i="0" u="none" strike="noStrike" dirty="0">
              <a:solidFill>
                <a:srgbClr val="0645AD"/>
              </a:solidFill>
              <a:effectLst/>
              <a:latin typeface="Arial" panose="020B0604020202020204" pitchFamily="34" charset="0"/>
            </a:endParaRPr>
          </a:p>
          <a:p>
            <a:endParaRPr lang="ru-RU" b="0" i="0" u="none" strike="noStrike" dirty="0">
              <a:solidFill>
                <a:srgbClr val="0645AD"/>
              </a:solidFill>
              <a:effectLst/>
              <a:latin typeface="Arial" panose="020B0604020202020204" pitchFamily="34" charset="0"/>
            </a:endParaRPr>
          </a:p>
          <a:p>
            <a:r>
              <a:rPr lang="ru-RU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</a:rPr>
              <a:t>Принципы </a:t>
            </a:r>
            <a:r>
              <a:rPr lang="ru-RU" sz="1200" b="1" i="0" u="none" strike="noStrike" kern="1200" dirty="0">
                <a:solidFill>
                  <a:srgbClr val="0645AD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lang="ru-RU" b="1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</a:rPr>
              <a:t>разбирать не требуется, может пригодиться для примеров):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Наивысшим приоритетом для нас является удовлетворение потребностей заказчика, благодаря регулярной и ранней поставке ценного программного обеспечения.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Изменение требований приветствуется даже на поздних стадиях разработки.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Agile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-процессы позволяют использовать изменения для обеспечения заказчику конкурентного преимущества.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Работающий продукт следует выпускать как можно чаще, с периодичностью от пары недель до пары месяцев.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На протяжении всего проекта разработчики и представители бизнеса должны ежедневно работать вместе.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Над проектом должны работать мотивированные профессионалы. Чтобы работа была сделана, создайте условия, обеспечьте поддержку и полностью доверьтесь им.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Непосредственное общение является наиболее практичным и эффективным способом обмена информацией как с самой командой, так и внутри команды.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Работающий продукт — основной показатель прогресса.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Инвесторы, разработчики и пользователи должны иметь возможность поддерживать текущий темп бесконечно.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Agile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помогает наладить такой устойчивый процесс разработки.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Постоянное внимание к техническому совершенству и качеству проектирования повышает гибкость проекта.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Простота — искусство минимизации лишней работы — крайне необходима.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Самые лучшие требования, архитектурные и технические решения рождаются у самоорганизующихся команд.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Команда должна систематически анализировать возможные способы улучшения эффективности и соответственно корректировать стиль своей работы.</a:t>
            </a:r>
          </a:p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EEE9D-F55D-4E0C-B1C6-D8EDA201779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035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EEE9D-F55D-4E0C-B1C6-D8EDA201779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851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ru-RU" sz="1200" dirty="0"/>
              <a:t>Команды в </a:t>
            </a:r>
            <a:r>
              <a:rPr lang="en-US" sz="1200" dirty="0"/>
              <a:t>Agile</a:t>
            </a:r>
            <a:r>
              <a:rPr lang="ru-RU" sz="1200" dirty="0"/>
              <a:t> состоят из специалистов разных профессий, работают самостоятельно, без начальников, часто - в одном помещении. Вот как это ускоряет разработку: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0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1200" dirty="0"/>
              <a:t>Команда сама берет задачи в работу и контролирует их выполнение. Нет затрат времени на ожидание пока руководитель даст задачи каждому и примет задачи у каждого.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1200" dirty="0"/>
              <a:t>Команда берет в работу столько задач, сколько может выполнить в оптимальном темпе. 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1200" dirty="0"/>
              <a:t>У команды общие цели, задачи, приоритеты и ответственность за них. Разработчики помогают друг другу, если кто-то застрял или перегружен. 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1200" dirty="0"/>
              <a:t>Работа в одном помещении и частые встречи обеспечивают быстрый обмен информацией и одинаковую информированность всех Разработчиков.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1200" dirty="0"/>
              <a:t>Разработчики разных специальностей проектируют совместно – не нужно лишний раз переделывать. 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ru-RU" sz="12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EEE9D-F55D-4E0C-B1C6-D8EDA201779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575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prstClr val="white"/>
                </a:solidFill>
                <a:latin typeface="Pragmatica Light" panose="020B0403040502020204" pitchFamily="34" charset="-52"/>
              </a:rPr>
              <a:t>*Экстремальное программирование (</a:t>
            </a:r>
            <a:r>
              <a:rPr lang="en-US" sz="1200" dirty="0">
                <a:solidFill>
                  <a:prstClr val="white"/>
                </a:solidFill>
                <a:latin typeface="Pragmatica Light" panose="020B0403040502020204" pitchFamily="34" charset="-52"/>
              </a:rPr>
              <a:t>XP)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prstClr val="white"/>
                </a:solidFill>
                <a:latin typeface="Pragmatica Light" panose="020B0403040502020204" pitchFamily="34" charset="-52"/>
              </a:rPr>
              <a:t>Функционально-ориентированная разработка (</a:t>
            </a:r>
            <a:r>
              <a:rPr lang="en-US" sz="1200" dirty="0">
                <a:solidFill>
                  <a:prstClr val="white"/>
                </a:solidFill>
                <a:latin typeface="Pragmatica Light" panose="020B0403040502020204" pitchFamily="34" charset="-52"/>
              </a:rPr>
              <a:t>FDD)</a:t>
            </a:r>
            <a:endParaRPr lang="ru-RU" sz="12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prstClr val="white"/>
                </a:solidFill>
                <a:latin typeface="Pragmatica Light" panose="020B0403040502020204" pitchFamily="34" charset="-52"/>
              </a:rPr>
              <a:t>На слайде вы можете увидеть примеры фреймворков отпочковавшихся от </a:t>
            </a:r>
            <a:r>
              <a:rPr lang="ru-RU" sz="1200" dirty="0" err="1">
                <a:solidFill>
                  <a:prstClr val="white"/>
                </a:solidFill>
                <a:latin typeface="Pragmatica Light" panose="020B0403040502020204" pitchFamily="34" charset="-52"/>
              </a:rPr>
              <a:t>Аджаил</a:t>
            </a:r>
            <a:r>
              <a:rPr lang="ru-RU" sz="1200" dirty="0">
                <a:solidFill>
                  <a:prstClr val="white"/>
                </a:solidFill>
                <a:latin typeface="Pragmatica Light" panose="020B0403040502020204" pitchFamily="34" charset="-52"/>
              </a:rPr>
              <a:t>. Мы не будем разбирать, вы можете сделать это самостоятельно, если такая потребность возникнет. Но подробнее мы остановимся на двух первых, поскольку именно они получили наибольшее распространение в мире и являются наиболее универсальными.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prstClr val="white"/>
                </a:solidFill>
                <a:latin typeface="Pragmatica Light" panose="020B0403040502020204" pitchFamily="34" charset="-52"/>
              </a:rPr>
              <a:t>Если говорить о трендах, то в виде какого бы то ни было фреймворка, но </a:t>
            </a:r>
            <a:r>
              <a:rPr lang="ru-RU" sz="1200" dirty="0" err="1">
                <a:solidFill>
                  <a:prstClr val="white"/>
                </a:solidFill>
                <a:latin typeface="Pragmatica Light" panose="020B0403040502020204" pitchFamily="34" charset="-52"/>
              </a:rPr>
              <a:t>Аджаил</a:t>
            </a:r>
            <a:r>
              <a:rPr lang="ru-RU" sz="1200" dirty="0">
                <a:solidFill>
                  <a:prstClr val="white"/>
                </a:solidFill>
                <a:latin typeface="Pragmatica Light" panose="020B0403040502020204" pitchFamily="34" charset="-52"/>
              </a:rPr>
              <a:t> проникает во всё большее количество сфер не связанных с </a:t>
            </a:r>
            <a:r>
              <a:rPr lang="en-US" sz="1200" dirty="0">
                <a:solidFill>
                  <a:prstClr val="white"/>
                </a:solidFill>
                <a:latin typeface="Pragmatica Light" panose="020B0403040502020204" pitchFamily="34" charset="-52"/>
              </a:rPr>
              <a:t>IT</a:t>
            </a:r>
            <a:r>
              <a:rPr lang="ru-RU" sz="1200" dirty="0">
                <a:solidFill>
                  <a:prstClr val="white"/>
                </a:solidFill>
                <a:latin typeface="Pragmatica Light" panose="020B0403040502020204" pitchFamily="34" charset="-52"/>
              </a:rPr>
              <a:t>-продуктом, компании адаптируют фреймворки под свои нужды и пользуются фундаментальными принципами.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9551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u="none" strike="noStrike" dirty="0">
                <a:solidFill>
                  <a:srgbClr val="000000"/>
                </a:solidFill>
                <a:effectLst/>
                <a:latin typeface="docs-Calibri"/>
              </a:rPr>
              <a:t>Это метод улучшения рабочих процессов путём визуализации и активной работы над незавершёнными задачами </a:t>
            </a:r>
            <a:r>
              <a:rPr lang="ru-RU" b="0" i="0" u="none" strike="noStrike" dirty="0">
                <a:solidFill>
                  <a:srgbClr val="FF0000"/>
                </a:solidFill>
                <a:effectLst/>
                <a:latin typeface="docs-Calibri"/>
              </a:rPr>
              <a:t>для оптимизации временных затрат и выявления проблемных мест в потоке.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docs-Calibri"/>
              </a:rPr>
              <a:t> В </a:t>
            </a:r>
            <a:r>
              <a:rPr lang="ru-RU" b="0" i="0" u="none" strike="noStrike" dirty="0" err="1">
                <a:solidFill>
                  <a:srgbClr val="000000"/>
                </a:solidFill>
                <a:effectLst/>
                <a:latin typeface="docs-Calibri"/>
              </a:rPr>
              <a:t>канбане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docs-Calibri"/>
              </a:rPr>
              <a:t> нет спринтов. Задачи движутся по доске в общем потоке по приоритету. Для </a:t>
            </a:r>
            <a:r>
              <a:rPr lang="ru-RU" b="0" i="0" u="none" strike="noStrike" dirty="0" err="1">
                <a:solidFill>
                  <a:srgbClr val="000000"/>
                </a:solidFill>
                <a:effectLst/>
                <a:latin typeface="docs-Calibri"/>
              </a:rPr>
              <a:t>Канбана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docs-Calibri"/>
              </a:rPr>
              <a:t> характерно ограничение одновременно выполняемых задач.</a:t>
            </a:r>
            <a:endParaRPr lang="ru-RU" dirty="0"/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Pragmatica Light" panose="020B0403040502020204" pitchFamily="34" charset="-52"/>
              </a:rPr>
              <a:t>Канбан — это метод </a:t>
            </a:r>
            <a:r>
              <a:rPr lang="ru-RU" sz="1200" dirty="0" err="1">
                <a:latin typeface="Pragmatica Light" panose="020B0403040502020204" pitchFamily="34" charset="-52"/>
              </a:rPr>
              <a:t>agile</a:t>
            </a:r>
            <a:r>
              <a:rPr lang="ru-RU" sz="1200" dirty="0">
                <a:latin typeface="Pragmatica Light" panose="020B0403040502020204" pitchFamily="34" charset="-52"/>
              </a:rPr>
              <a:t>-философии для разработки продуктов и производства, который помогает наладить текущие процессы и не перегрузить команду. Незавершенные задачи не простаивают и потоком движутся по цепочке создания продукта или его поддержки. Основа </a:t>
            </a:r>
            <a:r>
              <a:rPr lang="ru-RU" sz="1200" dirty="0" err="1">
                <a:latin typeface="Pragmatica Light" panose="020B0403040502020204" pitchFamily="34" charset="-52"/>
              </a:rPr>
              <a:t>канбан</a:t>
            </a:r>
            <a:r>
              <a:rPr lang="ru-RU" sz="1200" dirty="0">
                <a:latin typeface="Pragmatica Light" panose="020B0403040502020204" pitchFamily="34" charset="-52"/>
              </a:rPr>
              <a:t> метода — визуализация и ограничение количества работы в процессе с помощью карточек, сигнализирующих о наступлении и завершении определенных этапов.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EEE9D-F55D-4E0C-B1C6-D8EDA201779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581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ru-RU" sz="1200" dirty="0">
                <a:latin typeface="Pragmatica Light" panose="020B0403040502020204" pitchFamily="34" charset="-52"/>
              </a:rPr>
              <a:t>Визуализация рабочего потока – использование </a:t>
            </a:r>
            <a:r>
              <a:rPr lang="ru-RU" sz="1200" dirty="0" err="1">
                <a:latin typeface="Pragmatica Light" panose="020B0403040502020204" pitchFamily="34" charset="-52"/>
              </a:rPr>
              <a:t>канбан</a:t>
            </a:r>
            <a:r>
              <a:rPr lang="ru-RU" sz="1200" dirty="0">
                <a:latin typeface="Pragmatica Light" panose="020B0403040502020204" pitchFamily="34" charset="-52"/>
              </a:rPr>
              <a:t>-доски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Pragmatica Light" panose="020B0403040502020204" pitchFamily="34" charset="-52"/>
              </a:rPr>
              <a:t>Ограничение количества незавершённых задач – установление </a:t>
            </a:r>
            <a:r>
              <a:rPr lang="en-US" sz="1200" dirty="0">
                <a:latin typeface="Pragmatica Light" panose="020B0403040502020204" pitchFamily="34" charset="-52"/>
              </a:rPr>
              <a:t>WIP</a:t>
            </a:r>
            <a:r>
              <a:rPr lang="ru-RU" sz="1200" dirty="0">
                <a:latin typeface="Pragmatica Light" panose="020B0403040502020204" pitchFamily="34" charset="-52"/>
              </a:rPr>
              <a:t>*. </a:t>
            </a:r>
            <a:r>
              <a:rPr lang="ru-RU" sz="1200" i="1" dirty="0"/>
              <a:t>*</a:t>
            </a:r>
            <a:r>
              <a:rPr lang="en-US" sz="1200" i="1" dirty="0"/>
              <a:t>work in progress (</a:t>
            </a:r>
            <a:r>
              <a:rPr lang="en-US" sz="1200" i="1" dirty="0" err="1"/>
              <a:t>wip</a:t>
            </a:r>
            <a:r>
              <a:rPr lang="en-US" sz="1200" i="1" dirty="0"/>
              <a:t>)</a:t>
            </a:r>
            <a:r>
              <a:rPr lang="ru-RU" sz="1200" i="1" dirty="0"/>
              <a:t> </a:t>
            </a:r>
            <a:r>
              <a:rPr lang="en-US" sz="1200" i="1" dirty="0"/>
              <a:t>limit</a:t>
            </a:r>
            <a:r>
              <a:rPr lang="ru-RU" sz="1200" i="1" dirty="0"/>
              <a:t> – число на доске, размещаемое над колонкой, обозначающее максимальное количество задач в колонке.</a:t>
            </a:r>
            <a:endParaRPr lang="ru-RU" sz="1200" i="1" dirty="0">
              <a:latin typeface="Pragmatica Light" panose="020B0403040502020204" pitchFamily="34" charset="-5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Pragmatica Light" panose="020B0403040502020204" pitchFamily="34" charset="-52"/>
              </a:rPr>
              <a:t>Управление потоком - </a:t>
            </a:r>
            <a:r>
              <a:rPr lang="ru-RU" sz="1200" dirty="0"/>
              <a:t>Договоритесь о правилах использования доски. Разместите правила на доске и возле нее. На Ежедневном </a:t>
            </a:r>
            <a:r>
              <a:rPr lang="ru-RU" sz="1200" dirty="0" err="1"/>
              <a:t>Канбан</a:t>
            </a:r>
            <a:r>
              <a:rPr lang="ru-RU" sz="1200" dirty="0"/>
              <a:t>-митинге</a:t>
            </a:r>
            <a:r>
              <a:rPr lang="en-US" sz="1200" dirty="0"/>
              <a:t> </a:t>
            </a:r>
            <a:r>
              <a:rPr lang="ru-RU" sz="1200" dirty="0"/>
              <a:t>обсуждайте задачи на доске справа налево, отвечая на вопрос: как нам быстрее переместить эту задачу в «готово»?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Pragmatica Light" panose="020B0403040502020204" pitchFamily="34" charset="-52"/>
              </a:rPr>
              <a:t>Пошаговое улучшение процессов, благодаря выявлению проблем - </a:t>
            </a:r>
            <a:r>
              <a:rPr lang="ru-RU" sz="1200" dirty="0"/>
              <a:t>Регулярно обсуждайте насколько доска полезна и удобна. Улучшайте доску.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/>
              <a:t>Проводите регулярные ретроспективы вашего процесса. Улучшайте скорость и качество.</a:t>
            </a:r>
          </a:p>
          <a:p>
            <a:pPr marL="0" indent="0">
              <a:lnSpc>
                <a:spcPct val="150000"/>
              </a:lnSpc>
              <a:buNone/>
            </a:pPr>
            <a:endParaRPr lang="ru-RU" sz="1200" dirty="0">
              <a:latin typeface="Pragmatica Light" panose="020B0403040502020204" pitchFamily="34" charset="-5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EEE9D-F55D-4E0C-B1C6-D8EDA201779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737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Раньше эта доска использовалась в работе, на ней есть только </a:t>
            </a:r>
            <a:r>
              <a:rPr lang="en-US" dirty="0"/>
              <a:t>US</a:t>
            </a:r>
            <a:r>
              <a:rPr lang="ru-RU" dirty="0"/>
              <a:t>, т.к. эта доска была для всей компании и завести на ней </a:t>
            </a:r>
            <a:r>
              <a:rPr lang="en-US" dirty="0"/>
              <a:t>Task</a:t>
            </a:r>
            <a:r>
              <a:rPr lang="ru-RU" dirty="0"/>
              <a:t> было бы нецелесообразно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59785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 нас не всегда готовый инкремент, у нас цель – снизить неопределённость</a:t>
            </a:r>
          </a:p>
          <a:p>
            <a:r>
              <a:rPr lang="ru-RU" dirty="0"/>
              <a:t>Прозрачность, Инспекция, Адаптация – 3 принципа </a:t>
            </a:r>
            <a:r>
              <a:rPr lang="en-US" dirty="0"/>
              <a:t>Scrum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EEE9D-F55D-4E0C-B1C6-D8EDA201779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9941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57A67-C665-5E9A-4970-8908718A3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1F20B7E-4C51-15CA-8669-42C52A05B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328DFF2-6117-3D76-735E-54DF13B3B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Вопрос группе: </a:t>
            </a:r>
            <a:r>
              <a:rPr lang="ru-RU" b="0" dirty="0"/>
              <a:t>В чём, на ваш взгляд, может проявляться Прозрачность, Инспекция, Адаптация? </a:t>
            </a:r>
            <a:r>
              <a:rPr lang="ru-RU" b="1" dirty="0"/>
              <a:t>(Поочерёдно)</a:t>
            </a:r>
          </a:p>
          <a:p>
            <a:endParaRPr lang="ru-RU" b="1" dirty="0"/>
          </a:p>
          <a:p>
            <a:r>
              <a:rPr lang="ru-RU" b="0" dirty="0"/>
              <a:t>Примеры: 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ru-RU" b="0" dirty="0"/>
              <a:t>Прозрачность –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 аспекты процесса должны быть видны тем, кто отвечает за результат. Это включает общий язык для всех участников, единое понимание критериев готовности и открытость данных.</a:t>
            </a:r>
            <a:endParaRPr lang="en-US" b="0" dirty="0"/>
          </a:p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- доверие к своим коллегам и смелости сказать как хорошие, так и плохие факты;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- в фиксации всех основных процессов в базе знаний и открытый доступ к ней у всех участников;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- постоянная коллаборация;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- выделение цели у всех событий, встреч и метрик, чтобы все могли понять, для чего что-либо делается.</a:t>
            </a:r>
          </a:p>
          <a:p>
            <a:endParaRPr lang="ru-RU" b="0" dirty="0"/>
          </a:p>
          <a:p>
            <a:r>
              <a:rPr lang="ru-RU" b="0" dirty="0"/>
              <a:t>Инспекция -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регулярная проверка прогресса и артефактов для выявления отклонений от плана.</a:t>
            </a:r>
            <a:endParaRPr lang="ru-RU" b="0" dirty="0"/>
          </a:p>
          <a:p>
            <a:r>
              <a:rPr lang="ru-RU" b="0" dirty="0"/>
              <a:t> - тестирования</a:t>
            </a:r>
          </a:p>
          <a:p>
            <a:r>
              <a:rPr lang="ru-RU" b="0" dirty="0"/>
              <a:t> - сбор обратной связи</a:t>
            </a:r>
          </a:p>
          <a:p>
            <a:r>
              <a:rPr lang="ru-RU" b="0" dirty="0"/>
              <a:t> - поиск проблем/ретроспективы</a:t>
            </a:r>
          </a:p>
          <a:p>
            <a:endParaRPr lang="ru-RU" b="0" dirty="0"/>
          </a:p>
          <a:p>
            <a:r>
              <a:rPr lang="ru-RU" b="0" dirty="0"/>
              <a:t>Адаптация -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обнаружении отклонений процесс или продукт должны быть скорректированы как можно скорее.</a:t>
            </a:r>
            <a:endParaRPr lang="ru-RU" b="0" dirty="0"/>
          </a:p>
          <a:p>
            <a:r>
              <a:rPr lang="ru-RU" b="0" dirty="0"/>
              <a:t> - внедрение изменений</a:t>
            </a:r>
          </a:p>
          <a:p>
            <a:r>
              <a:rPr lang="ru-RU" b="0" dirty="0"/>
              <a:t> - оперативная реакция на обратную связь</a:t>
            </a:r>
          </a:p>
          <a:p>
            <a:endParaRPr lang="ru-RU" b="0" dirty="0"/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Также в основе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лежат пять ценностей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которые должны разделять все члены команды: обязательность, смелость, фокус, уважение и открытость. </a:t>
            </a:r>
            <a:endParaRPr lang="ru-RU" b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BA682B-6DDF-7317-8832-56BE17C0B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EEE9D-F55D-4E0C-B1C6-D8EDA201779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607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Основная единица </a:t>
            </a:r>
            <a:r>
              <a:rPr lang="ru-RU" dirty="0" err="1"/>
              <a:t>Scrum</a:t>
            </a:r>
            <a:r>
              <a:rPr lang="ru-RU" dirty="0"/>
              <a:t> — небольшая команда людей, </a:t>
            </a:r>
            <a:r>
              <a:rPr lang="ru-RU" dirty="0" err="1"/>
              <a:t>Scrum</a:t>
            </a:r>
            <a:r>
              <a:rPr lang="ru-RU" dirty="0"/>
              <a:t> Team. </a:t>
            </a:r>
            <a:r>
              <a:rPr lang="ru-RU" dirty="0" err="1"/>
              <a:t>Scrum</a:t>
            </a:r>
            <a:r>
              <a:rPr lang="ru-RU" dirty="0"/>
              <a:t> Team состоит из одного </a:t>
            </a:r>
            <a:r>
              <a:rPr lang="ru-RU" dirty="0" err="1"/>
              <a:t>Scrum</a:t>
            </a:r>
            <a:r>
              <a:rPr lang="ru-RU" dirty="0"/>
              <a:t> Master, одного Product </a:t>
            </a:r>
            <a:r>
              <a:rPr lang="ru-RU" dirty="0" err="1"/>
              <a:t>Owner</a:t>
            </a:r>
            <a:r>
              <a:rPr lang="ru-RU" dirty="0"/>
              <a:t> и </a:t>
            </a:r>
            <a:r>
              <a:rPr lang="ru-RU" dirty="0" err="1"/>
              <a:t>Developers</a:t>
            </a:r>
            <a:r>
              <a:rPr lang="ru-RU" dirty="0"/>
              <a:t>. Внутри </a:t>
            </a:r>
            <a:r>
              <a:rPr lang="ru-RU" dirty="0" err="1"/>
              <a:t>Scrum</a:t>
            </a:r>
            <a:r>
              <a:rPr lang="ru-RU" dirty="0"/>
              <a:t> Team нет подкоманд и иерархий. Это сплоченное объединение профессионалов, в любой момент времени сфокусированных на одной цели — Product </a:t>
            </a:r>
            <a:r>
              <a:rPr lang="ru-RU" dirty="0" err="1"/>
              <a:t>Goal</a:t>
            </a:r>
            <a:r>
              <a:rPr lang="ru-RU" dirty="0"/>
              <a:t>.</a:t>
            </a:r>
          </a:p>
          <a:p>
            <a:endParaRPr lang="ru-RU" sz="1200" dirty="0"/>
          </a:p>
          <a:p>
            <a:r>
              <a:rPr lang="en-US" sz="1200" dirty="0" err="1"/>
              <a:t>DevTeam</a:t>
            </a:r>
            <a:endParaRPr lang="en-US" sz="1200" dirty="0"/>
          </a:p>
          <a:p>
            <a:r>
              <a:rPr lang="ru-RU" dirty="0"/>
              <a:t>Конкретные навыки, необходимые </a:t>
            </a:r>
            <a:r>
              <a:rPr lang="ru-RU" dirty="0" err="1"/>
              <a:t>Developers</a:t>
            </a:r>
            <a:r>
              <a:rPr lang="ru-RU" dirty="0"/>
              <a:t>, зависят от предметной области выполняемой работы и могут быть очень разными. Однако </a:t>
            </a:r>
            <a:r>
              <a:rPr lang="ru-RU" dirty="0" err="1"/>
              <a:t>Developers</a:t>
            </a:r>
            <a:r>
              <a:rPr lang="ru-RU" dirty="0"/>
              <a:t> всегда несут ответственность за: </a:t>
            </a:r>
          </a:p>
          <a:p>
            <a:r>
              <a:rPr lang="ru-RU" dirty="0"/>
              <a:t>• создание плана на Sprint — Sprint </a:t>
            </a:r>
            <a:r>
              <a:rPr lang="ru-RU" dirty="0" err="1"/>
              <a:t>Backlog</a:t>
            </a:r>
            <a:r>
              <a:rPr lang="ru-RU" dirty="0"/>
              <a:t>; </a:t>
            </a:r>
          </a:p>
          <a:p>
            <a:r>
              <a:rPr lang="ru-RU" dirty="0"/>
              <a:t>• стремление к качеству посредством соблюдения определения готовности (</a:t>
            </a:r>
            <a:r>
              <a:rPr lang="en-US" dirty="0"/>
              <a:t>DoD)</a:t>
            </a:r>
            <a:r>
              <a:rPr lang="ru-RU" dirty="0"/>
              <a:t>; </a:t>
            </a:r>
          </a:p>
          <a:p>
            <a:r>
              <a:rPr lang="ru-RU" dirty="0"/>
              <a:t>• ежедневную адаптацию своего плана для достижения Sprint </a:t>
            </a:r>
            <a:r>
              <a:rPr lang="ru-RU" dirty="0" err="1"/>
              <a:t>Goal</a:t>
            </a:r>
            <a:r>
              <a:rPr lang="ru-RU" dirty="0"/>
              <a:t>; а также, </a:t>
            </a:r>
          </a:p>
          <a:p>
            <a:r>
              <a:rPr lang="ru-RU" dirty="0"/>
              <a:t>• взаимную подотчетность друг перед другом как профессионалами.</a:t>
            </a:r>
            <a:endParaRPr lang="en-US" dirty="0"/>
          </a:p>
          <a:p>
            <a:endParaRPr lang="en-US" sz="1200" dirty="0"/>
          </a:p>
          <a:p>
            <a:r>
              <a:rPr lang="ru-RU" dirty="0"/>
              <a:t>Product </a:t>
            </a:r>
            <a:r>
              <a:rPr lang="ru-RU" dirty="0" err="1"/>
              <a:t>Owner</a:t>
            </a:r>
            <a:r>
              <a:rPr lang="ru-RU" dirty="0"/>
              <a:t> несет ответственность за максимизацию ценности продукта, получаемого в результате работы </a:t>
            </a:r>
            <a:r>
              <a:rPr lang="ru-RU" dirty="0" err="1"/>
              <a:t>Scrum</a:t>
            </a:r>
            <a:r>
              <a:rPr lang="ru-RU" dirty="0"/>
              <a:t> Team.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Определяет направление развития продукта, расставляет приоритеты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бэклоге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продукта</a:t>
            </a:r>
            <a:endParaRPr lang="en-US" dirty="0"/>
          </a:p>
          <a:p>
            <a:endParaRPr lang="en-US" dirty="0"/>
          </a:p>
          <a:p>
            <a:r>
              <a:rPr lang="ru-RU" dirty="0" err="1"/>
              <a:t>Scrum</a:t>
            </a:r>
            <a:r>
              <a:rPr lang="ru-RU" dirty="0"/>
              <a:t> Master отвечает за эффективность </a:t>
            </a:r>
            <a:r>
              <a:rPr lang="ru-RU" dirty="0" err="1"/>
              <a:t>Scrum</a:t>
            </a:r>
            <a:r>
              <a:rPr lang="ru-RU" dirty="0"/>
              <a:t> Team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Организует процесс, устраняет препятствия, которые тормозят работу, и помогает команде работать по методологии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Scrum.</a:t>
            </a:r>
            <a:endParaRPr lang="en-US" dirty="0"/>
          </a:p>
          <a:p>
            <a:endParaRPr lang="ru-RU" dirty="0"/>
          </a:p>
          <a:p>
            <a:r>
              <a:rPr lang="ru-RU" dirty="0"/>
              <a:t>Product </a:t>
            </a:r>
            <a:r>
              <a:rPr lang="ru-RU" dirty="0" err="1"/>
              <a:t>Backlog</a:t>
            </a:r>
            <a:r>
              <a:rPr lang="ru-RU" dirty="0"/>
              <a:t> — это упорядоченный и постоянно обновляемый список того, что необходимо для улучшения продукта. Это единственный источник работы, выполняемой </a:t>
            </a:r>
            <a:r>
              <a:rPr lang="ru-RU" dirty="0" err="1"/>
              <a:t>Scrum</a:t>
            </a:r>
            <a:r>
              <a:rPr lang="ru-RU" dirty="0"/>
              <a:t> Team</a:t>
            </a:r>
          </a:p>
          <a:p>
            <a:r>
              <a:rPr lang="ru-RU" dirty="0"/>
              <a:t>Sprint </a:t>
            </a:r>
            <a:r>
              <a:rPr lang="ru-RU" dirty="0" err="1"/>
              <a:t>Backlog</a:t>
            </a:r>
            <a:r>
              <a:rPr lang="ru-RU" dirty="0"/>
              <a:t> состоит из Sprint </a:t>
            </a:r>
            <a:r>
              <a:rPr lang="ru-RU" dirty="0" err="1"/>
              <a:t>Goal</a:t>
            </a:r>
            <a:r>
              <a:rPr lang="ru-RU" dirty="0"/>
              <a:t> (почему), набора выбранных на Sprint элементов Product </a:t>
            </a:r>
            <a:r>
              <a:rPr lang="ru-RU" dirty="0" err="1"/>
              <a:t>Backlog</a:t>
            </a:r>
            <a:r>
              <a:rPr lang="ru-RU" dirty="0"/>
              <a:t> (что), а также осуществимого плана действий по поставке </a:t>
            </a:r>
            <a:r>
              <a:rPr lang="ru-RU" dirty="0" err="1"/>
              <a:t>Increment</a:t>
            </a:r>
            <a:r>
              <a:rPr lang="ru-RU" dirty="0"/>
              <a:t> (как)</a:t>
            </a:r>
          </a:p>
          <a:p>
            <a:r>
              <a:rPr lang="ru-RU" dirty="0" err="1"/>
              <a:t>Increment</a:t>
            </a:r>
            <a:r>
              <a:rPr lang="ru-RU" dirty="0"/>
              <a:t> — это конкретная ступенька к достижению Product </a:t>
            </a:r>
            <a:r>
              <a:rPr lang="ru-RU" dirty="0" err="1"/>
              <a:t>Goal</a:t>
            </a:r>
            <a:r>
              <a:rPr lang="ru-RU" dirty="0"/>
              <a:t>. Каждый </a:t>
            </a:r>
            <a:r>
              <a:rPr lang="ru-RU" dirty="0" err="1"/>
              <a:t>Increment</a:t>
            </a:r>
            <a:r>
              <a:rPr lang="ru-RU" dirty="0"/>
              <a:t> является дополнением ко всем предыдущим. Они тщательно проверяются для обеспечения совместной работы всех </a:t>
            </a:r>
            <a:r>
              <a:rPr lang="ru-RU" dirty="0" err="1"/>
              <a:t>Increments</a:t>
            </a:r>
            <a:r>
              <a:rPr lang="ru-RU" dirty="0"/>
              <a:t>. Чтобы предоставить ценность, </a:t>
            </a:r>
            <a:r>
              <a:rPr lang="ru-RU" dirty="0" err="1"/>
              <a:t>Increment</a:t>
            </a:r>
            <a:r>
              <a:rPr lang="ru-RU" dirty="0"/>
              <a:t> должен быть пригодным для использования.</a:t>
            </a:r>
          </a:p>
          <a:p>
            <a:endParaRPr lang="ru-RU" dirty="0"/>
          </a:p>
          <a:p>
            <a:r>
              <a:rPr lang="ru-RU" dirty="0"/>
              <a:t>Sprint Planning инициирует Sprint, планируя работу, которую необходимо выполнить в этом Sprint. Результатом события становится план, созданный совместными усилиями всей </a:t>
            </a:r>
            <a:r>
              <a:rPr lang="ru-RU" dirty="0" err="1"/>
              <a:t>Scrum</a:t>
            </a:r>
            <a:r>
              <a:rPr lang="ru-RU" dirty="0"/>
              <a:t> Team.</a:t>
            </a:r>
          </a:p>
          <a:p>
            <a:r>
              <a:rPr lang="ru-RU" dirty="0"/>
              <a:t>Цель Daily </a:t>
            </a:r>
            <a:r>
              <a:rPr lang="ru-RU" dirty="0" err="1"/>
              <a:t>Scrum</a:t>
            </a:r>
            <a:r>
              <a:rPr lang="ru-RU" dirty="0"/>
              <a:t> — инспекция прогресса в достижении Sprint </a:t>
            </a:r>
            <a:r>
              <a:rPr lang="ru-RU" dirty="0" err="1"/>
              <a:t>Goal</a:t>
            </a:r>
            <a:r>
              <a:rPr lang="ru-RU" dirty="0"/>
              <a:t>, адаптация Sprint </a:t>
            </a:r>
            <a:r>
              <a:rPr lang="ru-RU" dirty="0" err="1"/>
              <a:t>Backlog</a:t>
            </a:r>
            <a:r>
              <a:rPr lang="ru-RU" dirty="0"/>
              <a:t> по мере необходимости, корректировка запланированной предстоящей работы.</a:t>
            </a:r>
          </a:p>
          <a:p>
            <a:r>
              <a:rPr lang="ru-RU" dirty="0"/>
              <a:t>Цель Sprint Review — инспекция результата Sprint и выявление возможностей для адаптации. </a:t>
            </a:r>
            <a:r>
              <a:rPr lang="ru-RU" dirty="0" err="1"/>
              <a:t>Scrum</a:t>
            </a:r>
            <a:r>
              <a:rPr lang="ru-RU" dirty="0"/>
              <a:t> Team представляет результаты своей работы ключевым заинтересованным лицам, и обсуждает прогресс в достижении Product </a:t>
            </a:r>
            <a:r>
              <a:rPr lang="ru-RU" dirty="0" err="1"/>
              <a:t>Goal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Цель Sprint </a:t>
            </a:r>
            <a:r>
              <a:rPr lang="ru-RU" dirty="0" err="1"/>
              <a:t>Retrospective</a:t>
            </a:r>
            <a:r>
              <a:rPr lang="ru-RU" dirty="0"/>
              <a:t> — повышение качества и эффективности работы команды.</a:t>
            </a:r>
            <a:endParaRPr lang="en-US" dirty="0"/>
          </a:p>
          <a:p>
            <a:endParaRPr lang="ru-RU" sz="1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0351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Чего не хватает на предыдущем слайде? </a:t>
            </a:r>
          </a:p>
          <a:p>
            <a:r>
              <a:rPr lang="ru-RU" dirty="0"/>
              <a:t>Верно, понятия Спринт, который </a:t>
            </a:r>
            <a:r>
              <a:rPr lang="ru-RU" dirty="0" err="1"/>
              <a:t>вляется</a:t>
            </a:r>
            <a:r>
              <a:rPr lang="ru-RU" dirty="0"/>
              <a:t> контейнером для всех перечисленных событий. 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Спринт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короткий временной цикл (обычно 1–4 недели), в течение которого команда создаёт инкремент (рабочую часть продукта). Перед началом спринта определяется его цель, которая не меняется до конца цикла.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1759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latin typeface="Pragmatica Light" panose="020B0403040502020204" pitchFamily="34" charset="-52"/>
              </a:rPr>
              <a:t>Продукт выпускается не целиком, а маленькими порциями работающих функций (инкрементами). Они демонстрируются заказчикам. Вот как это увеличивает точность попадания в ожидания заказчиков:</a:t>
            </a:r>
          </a:p>
          <a:p>
            <a:pPr marL="342900" indent="-342900">
              <a:lnSpc>
                <a:spcPct val="200000"/>
              </a:lnSpc>
            </a:pPr>
            <a:r>
              <a:rPr lang="ru-RU" sz="1200" dirty="0">
                <a:latin typeface="Pragmatica Light" panose="020B0403040502020204" pitchFamily="34" charset="-52"/>
              </a:rPr>
              <a:t>- Требования заказчиков часто уточняются – в конце каждой итерации при демонстрации инкремента. Они всегда актуальны. </a:t>
            </a:r>
          </a:p>
          <a:p>
            <a:pPr marL="342900" indent="-342900">
              <a:lnSpc>
                <a:spcPct val="200000"/>
              </a:lnSpc>
            </a:pPr>
            <a:r>
              <a:rPr lang="ru-RU" sz="1200" dirty="0">
                <a:latin typeface="Pragmatica Light" panose="020B0403040502020204" pitchFamily="34" charset="-52"/>
              </a:rPr>
              <a:t>- Все функции продукта работают так, как нужно заказчикам. Нет лишних функций.</a:t>
            </a:r>
          </a:p>
          <a:p>
            <a:pPr marL="342900" indent="-342900">
              <a:lnSpc>
                <a:spcPct val="200000"/>
              </a:lnSpc>
            </a:pPr>
            <a:r>
              <a:rPr lang="ru-RU" sz="1200" dirty="0">
                <a:latin typeface="Pragmatica Light" panose="020B0403040502020204" pitchFamily="34" charset="-52"/>
              </a:rPr>
              <a:t>- Разработчики, а не менеджеры, решают, каким способом реализовать требования, чтобы заказчик получил максимальную пользу. Разработчики точно смогут реализовать то, что сами придумали.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latin typeface="Pragmatica Light" panose="020B0403040502020204" pitchFamily="34" charset="-52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EEE9D-F55D-4E0C-B1C6-D8EDA201779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8288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Скрам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требует изменения структуры на старте и создания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кроссфункциональных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команд, что не обязательно для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канбана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Канбан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может использоваться для управления работой, которая проходит через разные команды, не обязательно находящиеся вместе.</a:t>
            </a:r>
          </a:p>
          <a:p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r>
              <a:rPr lang="ru-RU" b="0" i="0" dirty="0" err="1">
                <a:solidFill>
                  <a:srgbClr val="202124"/>
                </a:solidFill>
                <a:effectLst/>
                <a:latin typeface="Google Sans"/>
              </a:rPr>
              <a:t>Cycle</a:t>
            </a:r>
            <a:r>
              <a:rPr lang="ru-RU" b="0" i="0" dirty="0">
                <a:solidFill>
                  <a:srgbClr val="202124"/>
                </a:solidFill>
                <a:effectLst/>
                <a:latin typeface="Google Sans"/>
              </a:rPr>
              <a:t> </a:t>
            </a:r>
            <a:r>
              <a:rPr lang="ru-RU" b="0" i="0" dirty="0" err="1">
                <a:solidFill>
                  <a:srgbClr val="202124"/>
                </a:solidFill>
                <a:effectLst/>
                <a:latin typeface="Google Sans"/>
              </a:rPr>
              <a:t>time</a:t>
            </a:r>
            <a:r>
              <a:rPr lang="ru-RU" b="0" i="0" dirty="0">
                <a:solidFill>
                  <a:srgbClr val="202124"/>
                </a:solidFill>
                <a:effectLst/>
                <a:latin typeface="Google Sans"/>
              </a:rPr>
              <a:t> (время цикла) - </a:t>
            </a:r>
            <a:r>
              <a:rPr lang="ru-RU" b="0" i="0" dirty="0">
                <a:solidFill>
                  <a:srgbClr val="040C28"/>
                </a:solidFill>
                <a:effectLst/>
                <a:latin typeface="Google Sans"/>
              </a:rPr>
              <a:t>время, в течение которого рабочий элемент проходит через часть процесса, например, через анализ и разработку, но без тестирования</a:t>
            </a:r>
            <a:r>
              <a:rPr lang="ru-RU" b="0" i="0" dirty="0">
                <a:solidFill>
                  <a:srgbClr val="202124"/>
                </a:solidFill>
                <a:effectLst/>
                <a:latin typeface="Google Sans"/>
              </a:rPr>
              <a:t>.</a:t>
            </a:r>
            <a:endParaRPr lang="ru-RU" sz="1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7EEE9D-F55D-4E0C-B1C6-D8EDA2017796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1267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Сказать о том, что ряд книг можно скачать с нашего хранилища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EEE9D-F55D-4E0C-B1C6-D8EDA201779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9492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F576A9-1974-350D-29B6-B5D326E02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BE6849B-B864-6A35-07E7-B27EC0FED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150B11-EADF-7D82-25FC-AE8867B15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E7B6-1E5A-47BA-9493-3C94EEF620F3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B653B9-D21D-10E5-5220-1D8A3E982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887020-EBD5-2624-D3EA-577C2B49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54EA-7CEA-43DC-8403-2E1E19D2B9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93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E3B890-0DE3-41FC-E5F5-A08920CC6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283BE3-B306-B657-9514-549B1B3A7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121AB9-180F-44D6-1945-378D02174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E7B6-1E5A-47BA-9493-3C94EEF620F3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2D2AAE-DCF8-928D-C554-CC2303017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C54315-9B69-97ED-DC64-43495F65A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54EA-7CEA-43DC-8403-2E1E19D2B9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543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DB35F-8F2A-6750-3188-F4BB7A4E1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9533AF-D965-2D27-6E0D-5D103E8B1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9BE0E5-C5A9-F0D3-8C1E-41A3CE085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E7B6-1E5A-47BA-9493-3C94EEF620F3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3543D3-E49A-8F3B-D5BA-C5566B9D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0ADF42-88D8-89DF-F729-5360324F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54EA-7CEA-43DC-8403-2E1E19D2B9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540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AC679-55E9-4654-DCE7-F0DBE119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BB2298-9A03-0761-93E1-3B48A5E252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1CD4D0-7694-88C2-11CA-FA31AC529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504063-1EE0-91E3-3B45-DF359826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E7B6-1E5A-47BA-9493-3C94EEF620F3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E1FF6F-6AEB-5A55-ED72-D6CF7F647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B6280C-998F-BF05-9F65-BBC2974DC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54EA-7CEA-43DC-8403-2E1E19D2B9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0016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FAE4C-476A-590F-E0EC-82B7E513E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AF580C-2FF7-B844-AD88-EA34C0A15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8C7A23-441D-325F-2FF7-911D587D2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784734-FC04-E7D4-F148-6B48E8330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D6FCF85-978F-87D2-9642-9AE61D55B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D5E6A09-1EA3-1838-E402-90B614FD0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E7B6-1E5A-47BA-9493-3C94EEF620F3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A3A0886-FCC1-8E57-FA03-968E3436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3D8DB95-0BE5-67E7-A53C-AC4E8889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54EA-7CEA-43DC-8403-2E1E19D2B9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109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852CE-FBF6-92A6-5824-497C5AF3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B31474F-0793-8DC4-AC0E-1429456B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E7B6-1E5A-47BA-9493-3C94EEF620F3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A89AA6E-05A4-5759-C2DF-4A5B2A573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930F086-7D49-009A-63BB-D675EAC20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54EA-7CEA-43DC-8403-2E1E19D2B9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4522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9BEBD99-9FDD-81EB-8330-A542F4521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E7B6-1E5A-47BA-9493-3C94EEF620F3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1A05850-E6E6-0E18-C8B8-0307A24A2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DE2DCB-27DE-7303-1B09-C65D106F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54EA-7CEA-43DC-8403-2E1E19D2B9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7993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9B496-B558-022C-71E0-816A10BA7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A5A4D3-A6FC-56EF-6FF7-C1DB8377C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01366A-8FE4-C7B7-785B-CAA1ECAEB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000FD1-11C0-E0BE-33CD-3DE13799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E7B6-1E5A-47BA-9493-3C94EEF620F3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748F4D-409D-0BBE-25D9-6F114B3CC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12C41F-667C-12C4-EA15-D7A028B73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54EA-7CEA-43DC-8403-2E1E19D2B9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30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3931A-AD94-5865-5C50-2DD545BD0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1BCBCD3-725B-D994-7A70-DFEDA21C9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0AC8F9-28FA-1976-A757-76AFEB43C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83D1DF-C231-FF17-F8EF-78C26540A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E7B6-1E5A-47BA-9493-3C94EEF620F3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D175C4-0018-09CF-8663-1853C941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B1B213-528D-F03E-71D5-BBD0A260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54EA-7CEA-43DC-8403-2E1E19D2B9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04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8F2A7-601C-005A-2F41-9DB383300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657D955-03F3-57D9-532D-68CB1FA13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0802CE-3155-BB16-66BC-A3265C8B9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E7B6-1E5A-47BA-9493-3C94EEF620F3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7E9F0E-1F51-F7ED-EC0B-6B1B8931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99874E-A61C-778B-ED0E-03E53B894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54EA-7CEA-43DC-8403-2E1E19D2B9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487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F13DFBD-0E26-E135-70B0-599978FF4B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74018F6-7F72-0CF8-5745-B1BBF2267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95D15E-B600-18CE-EEFA-DE13C4A0A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E7B6-1E5A-47BA-9493-3C94EEF620F3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7A003B-E2B8-B423-A386-ED9EFE6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7183B3-4A52-ACCE-FD27-EBC370ED5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54EA-7CEA-43DC-8403-2E1E19D2B9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122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CA6FE-FFFD-41D1-8C2B-96E1287E0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470E7F5-5B56-42F5-8B78-0749CA45E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ACB4D9-5A9D-4814-9B17-F22213ED7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8D487-FA86-468A-B6B0-FD169C48BD66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BB6BB3-2EB9-44B9-ADA1-FF42FAA4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C10443-906E-490A-9E44-72B64D8C6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4660" y="6492875"/>
            <a:ext cx="657340" cy="3651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A8CB0B48-D86A-48B5-BA7D-FC3DE2772F7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3383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D500E9-F426-4B27-8E4D-BB39BF637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1600"/>
          </a:xfrm>
        </p:spPr>
        <p:txBody>
          <a:bodyPr/>
          <a:lstStyle>
            <a:lvl1pPr marL="720000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4D7A61-D4BF-43FF-8E17-88FB70248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11600"/>
            <a:ext cx="12191999" cy="5478100"/>
          </a:xfrm>
        </p:spPr>
        <p:txBody>
          <a:bodyPr/>
          <a:lstStyle>
            <a:lvl1pPr marL="720000">
              <a:spcBef>
                <a:spcPts val="0"/>
              </a:spcBef>
              <a:defRPr/>
            </a:lvl1pPr>
            <a:lvl2pPr marL="720000">
              <a:spcBef>
                <a:spcPts val="0"/>
              </a:spcBef>
              <a:defRPr/>
            </a:lvl2pPr>
            <a:lvl3pPr marL="720000">
              <a:spcBef>
                <a:spcPts val="0"/>
              </a:spcBef>
              <a:defRPr/>
            </a:lvl3pPr>
            <a:lvl4pPr marL="720000">
              <a:spcBef>
                <a:spcPts val="0"/>
              </a:spcBef>
              <a:defRPr/>
            </a:lvl4pPr>
            <a:lvl5pPr marL="720000">
              <a:spcBef>
                <a:spcPts val="0"/>
              </a:spcBef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39803D-6AB8-494C-946B-FA319561F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C7A1-239F-40A4-884C-90ED6E1169ED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5B72AC-42CD-4651-A9B7-92E708860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8A1ED5-3B49-4600-9495-504C51BEC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0266" y="6492493"/>
            <a:ext cx="2221734" cy="3651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A8CB0B48-D86A-48B5-BA7D-FC3DE2772F7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2864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E28E66-661C-4631-9716-46D2B392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A4175D-9DFA-408F-A21D-6D205D98B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34CE8B-2885-4E2B-9E51-AA3B8F173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87703-2BFD-490F-8EB8-AEB7ED304A60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336FA5-3812-4EDA-A21B-8A1C61EE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FD6ABC-5D9C-445C-9C58-D941C8D7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0B48-D86A-48B5-BA7D-FC3DE2772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195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9013A-5604-41F5-AC38-21078D31E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164A70-345C-49EB-8AD9-530265D2B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92C608-470D-420D-91A5-16B417B43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D523B0-8148-4E0B-8733-3D84337B4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E4351-F5A1-462C-86AB-D39F5E85E9BB}" type="datetime1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FEB60B-A9F6-4F66-80EE-21AECF7E6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994399-B6B9-4A3F-BCDA-99A722CF3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0B48-D86A-48B5-BA7D-FC3DE2772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849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88F889-EB38-4F83-B981-29F214AAE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803722-B6DD-44E4-8DF7-6890F6F06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EC04BB-095C-4EB1-B89B-053FC1AFC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2F7FCA2-E2D1-4AC4-B3F2-0E5E3AF99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56A605-04C5-4DEF-AFCF-048CCCBDA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DE4C682-D71F-498C-8E22-7834CBC1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16DB2-854A-402D-8F9F-3DADCC021FCC}" type="datetime1">
              <a:rPr lang="ru-RU" smtClean="0"/>
              <a:t>23.06.2026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56DB1E7-6D2B-4525-8D19-C9DD9440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6BACE8F-C291-4FF2-A5FC-E71CC2253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0B48-D86A-48B5-BA7D-FC3DE2772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749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90DB6-75D5-4294-BB83-A2277B3B2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2AC097F-D42E-497D-95ED-AC450A0CE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9EBE0-4349-4729-9AD4-03F39D9BE2B2}" type="datetime1">
              <a:rPr lang="ru-RU" smtClean="0"/>
              <a:t>23.06.2026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BEA627D-E397-4060-9B2C-69256A4D7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C0AA8D-45AA-44B1-A60F-91A2D2BF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0B48-D86A-48B5-BA7D-FC3DE2772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3464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6021927-9E41-4707-B8CA-69576F144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EA5-BC6F-4C02-942F-39330ED9AA54}" type="datetime1">
              <a:rPr lang="ru-RU" smtClean="0"/>
              <a:t>23.06.2026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F46A6E2-E4BB-4D71-973C-86C76F434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CD275E-C64D-435D-A3F2-C1213031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0B48-D86A-48B5-BA7D-FC3DE2772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5961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2CE5D-84F4-4678-925F-121348F32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717208-8A64-46BF-89B4-82EBE91BB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092D62-9DE5-4EEF-B9AC-220FF2713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7A2D050-A071-4CAF-B42D-B20FF068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C30B-4026-49CA-BC1C-43ED5CF812D8}" type="datetime1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05ABC2-258B-4A7C-92EC-5E291F6B2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FF5844-17E7-4016-ABF0-FA35ABDD2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0B48-D86A-48B5-BA7D-FC3DE2772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9211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36FB0-AB1B-417D-A359-9A5A1B9C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8A80D24-CAAE-41BF-88E9-1E63D3F4B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61CBF9-1540-4DA8-839D-A3763DF25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79B815-70FF-40C6-811E-6537898AA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B96A1-4212-4CE1-ABDD-434FC1781886}" type="datetime1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C3B1D2-3F8B-4276-8AEB-0A5A71A7A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12DBE3-B8F3-46E9-87E4-B74F1FA2C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0B48-D86A-48B5-BA7D-FC3DE2772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8458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2D72BC-D8E2-4B97-953F-FADA33AF9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191026-3C11-4CF7-9B75-2DCDD6D2A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6BEA50-9700-41E9-BDD6-06EFEE72D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EAF55-7D68-4FC5-B3FA-7044B47BC29F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FBF1EB-81BB-4114-B508-C91AB4BDF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A14458-E112-4585-9CA1-4BEC1E54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0B48-D86A-48B5-BA7D-FC3DE2772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25257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041E628-F620-42D0-9420-5C55F3312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A78F87-DCDC-44F3-9A6C-CB3239D2C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EF1947-4335-4008-A1DB-F7B42E741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5E5B-9E68-468C-8681-23EB5429B2C4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98DCBB-DFA6-419A-AB0B-D9E7D8767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C0E07A-075C-40E2-810B-6593B474D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B0B48-D86A-48B5-BA7D-FC3DE2772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276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38223F-45E5-CB95-0BCB-E6F904311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82176E-961F-7FA6-8F4A-F79DB4A7D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291E5F-4EFE-114E-373F-1E01666E9C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3E7B6-1E5A-47BA-9493-3C94EEF620F3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9ABED2-7503-8D3E-B57F-91F58CEA6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7DFB50-BFD5-8998-74A9-0961BB7D35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354EA-7CEA-43DC-8403-2E1E19D2B9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79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76AF35-2044-45ED-9EF3-F38AACC0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2"/>
            <a:ext cx="12192000" cy="101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9DDB17-FB1E-4B8F-B35F-9BB3A7669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006838"/>
            <a:ext cx="12191998" cy="5474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2BBB80-291E-4B7F-8BA8-8BEF2F42B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EA7B0-22C3-4C33-9FAF-C1CB4A3B2B19}" type="datetime1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F7A844-ED50-48C9-97FB-8D1DE6BF9A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598" y="64897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8583C0-B281-4CDE-BFE3-52843F146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814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A8CB0B48-D86A-48B5-BA7D-FC3DE2772F7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4320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720000"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7E95E8-C887-D1DE-E9FA-B2F689DB559B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4DBFCE99-B6D9-845D-F63C-9084C1D591FA}"/>
              </a:ext>
            </a:extLst>
          </p:cNvPr>
          <p:cNvSpPr/>
          <p:nvPr/>
        </p:nvSpPr>
        <p:spPr>
          <a:xfrm>
            <a:off x="590651" y="909000"/>
            <a:ext cx="5040000" cy="5040000"/>
          </a:xfrm>
          <a:prstGeom prst="ellipse">
            <a:avLst/>
          </a:prstGeom>
          <a:solidFill>
            <a:srgbClr val="F26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9D3482-3BFA-C4D1-4CDF-CC90A29358CC}"/>
              </a:ext>
            </a:extLst>
          </p:cNvPr>
          <p:cNvSpPr txBox="1"/>
          <p:nvPr/>
        </p:nvSpPr>
        <p:spPr>
          <a:xfrm>
            <a:off x="3977196" y="1401574"/>
            <a:ext cx="8117998" cy="4901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В НАЧАЛЕ БЫЛ </a:t>
            </a:r>
            <a:r>
              <a:rPr kumimoji="0" lang="en-US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AGILE</a:t>
            </a:r>
          </a:p>
        </p:txBody>
      </p:sp>
      <p:pic>
        <p:nvPicPr>
          <p:cNvPr id="2" name="Picture 2" descr="Железный человек PNG">
            <a:extLst>
              <a:ext uri="{FF2B5EF4-FFF2-40B4-BE49-F238E27FC236}">
                <a16:creationId xmlns:a16="http://schemas.microsoft.com/office/drawing/2014/main" id="{9CA3D201-6859-2783-6E6D-628A2589D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849" y="1784412"/>
            <a:ext cx="4043603" cy="5073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410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>
            <a:extLst>
              <a:ext uri="{FF2B5EF4-FFF2-40B4-BE49-F238E27FC236}">
                <a16:creationId xmlns:a16="http://schemas.microsoft.com/office/drawing/2014/main" id="{CCFF452F-D542-2FFC-F3A7-FED7E8B0E834}"/>
              </a:ext>
            </a:extLst>
          </p:cNvPr>
          <p:cNvSpPr/>
          <p:nvPr/>
        </p:nvSpPr>
        <p:spPr>
          <a:xfrm>
            <a:off x="-1673214" y="909000"/>
            <a:ext cx="5040000" cy="5040000"/>
          </a:xfrm>
          <a:prstGeom prst="ellipse">
            <a:avLst/>
          </a:prstGeom>
          <a:solidFill>
            <a:srgbClr val="F26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5" name="Рисунок 24" descr="Изображение выглядит как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57E35ABC-77FC-95C1-10B3-282D4BFD2C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12" t="56468" b="26954"/>
          <a:stretch/>
        </p:blipFill>
        <p:spPr>
          <a:xfrm>
            <a:off x="8031758" y="4978969"/>
            <a:ext cx="4441005" cy="244591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-51761" y="2275021"/>
            <a:ext cx="414839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0" dirty="0">
                <a:solidFill>
                  <a:schemeClr val="bg1"/>
                </a:solidFill>
                <a:latin typeface="Impact" panose="020B0806030902050204" pitchFamily="34" charset="0"/>
              </a:rPr>
              <a:t>2 ЧАСТИ ОБУЧЕНИЯ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1DDE96-0E0A-C2CC-6C28-DFDB139896C0}"/>
              </a:ext>
            </a:extLst>
          </p:cNvPr>
          <p:cNvSpPr txBox="1"/>
          <p:nvPr/>
        </p:nvSpPr>
        <p:spPr>
          <a:xfrm>
            <a:off x="3594879" y="540034"/>
            <a:ext cx="37848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latin typeface="Impact" panose="020B0806030902050204" pitchFamily="34" charset="0"/>
              </a:rPr>
              <a:t>ЧАСТЬ 1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01A41981-F062-452D-D29C-D6396C5D2488}"/>
              </a:ext>
            </a:extLst>
          </p:cNvPr>
          <p:cNvCxnSpPr>
            <a:cxnSpLocks/>
          </p:cNvCxnSpPr>
          <p:nvPr/>
        </p:nvCxnSpPr>
        <p:spPr>
          <a:xfrm>
            <a:off x="7187304" y="1227782"/>
            <a:ext cx="0" cy="4402436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9FF196B-9E6F-2EAE-C1B4-4EB618E70F13}"/>
              </a:ext>
            </a:extLst>
          </p:cNvPr>
          <p:cNvSpPr txBox="1"/>
          <p:nvPr/>
        </p:nvSpPr>
        <p:spPr>
          <a:xfrm>
            <a:off x="8071348" y="540033"/>
            <a:ext cx="37848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latin typeface="Impact" panose="020B0806030902050204" pitchFamily="34" charset="0"/>
              </a:rPr>
              <a:t>ЧАСТЬ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7E9321-4111-3E8F-4C8C-7CF9C1AE22F4}"/>
              </a:ext>
            </a:extLst>
          </p:cNvPr>
          <p:cNvSpPr txBox="1"/>
          <p:nvPr/>
        </p:nvSpPr>
        <p:spPr>
          <a:xfrm>
            <a:off x="3821835" y="2275021"/>
            <a:ext cx="3442087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Pragmatica Light" panose="020B0403040502020204" pitchFamily="34" charset="-52"/>
              </a:rPr>
              <a:t>AGILE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Pragmatica Light" panose="020B0403040502020204" pitchFamily="34" charset="-52"/>
              </a:rPr>
              <a:t>KANBAN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Pragmatica Light" panose="020B0403040502020204" pitchFamily="34" charset="-52"/>
              </a:rPr>
              <a:t>SCRUM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Pragmatica Light" panose="020B0403040502020204" pitchFamily="34" charset="-52"/>
              </a:rPr>
              <a:t>И ИХ ОСОБЕННОСТИ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102FDD-31FE-9D73-B1CA-1A63DE10040C}"/>
              </a:ext>
            </a:extLst>
          </p:cNvPr>
          <p:cNvSpPr txBox="1"/>
          <p:nvPr/>
        </p:nvSpPr>
        <p:spPr>
          <a:xfrm>
            <a:off x="7396940" y="1998022"/>
            <a:ext cx="4514634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Pragmatica Light" panose="020B0403040502020204" pitchFamily="34" charset="-52"/>
              </a:rPr>
              <a:t>ПРИНЦИПЫ </a:t>
            </a:r>
            <a:r>
              <a:rPr lang="en-US" sz="2400" dirty="0">
                <a:latin typeface="Pragmatica Light" panose="020B0403040502020204" pitchFamily="34" charset="-52"/>
              </a:rPr>
              <a:t>UNISCAN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Pragmatica Light" panose="020B0403040502020204" pitchFamily="34" charset="-52"/>
              </a:rPr>
              <a:t>ФРЕЙМВОРК</a:t>
            </a:r>
            <a:endParaRPr lang="en-US" sz="2400" dirty="0">
              <a:latin typeface="Pragmatica Light" panose="020B0403040502020204" pitchFamily="34" charset="-52"/>
            </a:endParaRPr>
          </a:p>
          <a:p>
            <a:pPr>
              <a:lnSpc>
                <a:spcPct val="150000"/>
              </a:lnSpc>
            </a:pPr>
            <a:r>
              <a:rPr lang="ru-RU" sz="2400" dirty="0">
                <a:latin typeface="Pragmatica Light" panose="020B0403040502020204" pitchFamily="34" charset="-52"/>
              </a:rPr>
              <a:t>КОМАНДЫ И ОТДЕЛЫ</a:t>
            </a:r>
            <a:endParaRPr lang="en-US" sz="2400" dirty="0">
              <a:latin typeface="Pragmatica Light" panose="020B0403040502020204" pitchFamily="34" charset="-52"/>
            </a:endParaRPr>
          </a:p>
          <a:p>
            <a:pPr>
              <a:lnSpc>
                <a:spcPct val="150000"/>
              </a:lnSpc>
            </a:pPr>
            <a:r>
              <a:rPr lang="ru-RU" sz="2400" dirty="0">
                <a:latin typeface="Pragmatica Light" panose="020B0403040502020204" pitchFamily="34" charset="-52"/>
              </a:rPr>
              <a:t>СОБЫТИЯ И АКТИВНОСТИ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Pragmatica Light" panose="020B0403040502020204" pitchFamily="34" charset="-52"/>
              </a:rPr>
              <a:t>ПРОЕКТ И ПРОДУКТ</a:t>
            </a:r>
          </a:p>
        </p:txBody>
      </p:sp>
    </p:spTree>
    <p:extLst>
      <p:ext uri="{BB962C8B-B14F-4D97-AF65-F5344CB8AC3E}">
        <p14:creationId xmlns:p14="http://schemas.microsoft.com/office/powerpoint/2010/main" val="2846903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 descr="Изображение выглядит как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57E35ABC-77FC-95C1-10B3-282D4BFD2C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12" t="56468" b="26954"/>
          <a:stretch/>
        </p:blipFill>
        <p:spPr>
          <a:xfrm>
            <a:off x="8031758" y="4978969"/>
            <a:ext cx="4441005" cy="244591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996518" y="201168"/>
            <a:ext cx="5099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mpact" panose="020B0806030902050204" pitchFamily="34" charset="0"/>
              </a:rPr>
              <a:t>AGILE</a:t>
            </a:r>
            <a:endParaRPr lang="ru-RU" sz="1200" dirty="0">
              <a:latin typeface="Impact" panose="020B080603090205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5D385-52BA-AE85-D4AB-13A648956F98}"/>
              </a:ext>
            </a:extLst>
          </p:cNvPr>
          <p:cNvSpPr txBox="1"/>
          <p:nvPr/>
        </p:nvSpPr>
        <p:spPr>
          <a:xfrm>
            <a:off x="996518" y="2090172"/>
            <a:ext cx="100067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Pragmatica Light" panose="020B0403040502020204" pitchFamily="34" charset="-52"/>
              </a:rPr>
              <a:t>Набор методов и практик для гибкого управления проектами, с целью повышения скорости создания готовых продуктов и минимизации рисков за счет итерационного выполнения, оперативного взаимодействия членов команды и быстрой реакции на изменения</a:t>
            </a:r>
          </a:p>
        </p:txBody>
      </p:sp>
    </p:spTree>
    <p:extLst>
      <p:ext uri="{BB962C8B-B14F-4D97-AF65-F5344CB8AC3E}">
        <p14:creationId xmlns:p14="http://schemas.microsoft.com/office/powerpoint/2010/main" val="2803718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78EC1-049E-33CD-C256-213BA4ADD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 descr="Изображение выглядит как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F28D16C9-74C3-DAD4-8B53-3DCD71653D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12" t="56468" b="26954"/>
          <a:stretch/>
        </p:blipFill>
        <p:spPr>
          <a:xfrm>
            <a:off x="8031758" y="4978969"/>
            <a:ext cx="4441005" cy="244591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683983-ABAF-CEDA-1997-ADE0957C15DA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DCA686-8ED7-21C0-4D72-38F590E54D75}"/>
              </a:ext>
            </a:extLst>
          </p:cNvPr>
          <p:cNvSpPr txBox="1"/>
          <p:nvPr/>
        </p:nvSpPr>
        <p:spPr>
          <a:xfrm>
            <a:off x="996518" y="201168"/>
            <a:ext cx="5099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mpact" panose="020B0806030902050204" pitchFamily="34" charset="0"/>
              </a:rPr>
              <a:t>AGILE</a:t>
            </a:r>
            <a:endParaRPr lang="ru-RU" sz="1200" dirty="0">
              <a:latin typeface="Impact" panose="020B0806030902050204" pitchFamily="34" charset="0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7EF31945-829D-D232-AEC8-724CE0877CDE}"/>
              </a:ext>
            </a:extLst>
          </p:cNvPr>
          <p:cNvCxnSpPr/>
          <p:nvPr/>
        </p:nvCxnSpPr>
        <p:spPr>
          <a:xfrm>
            <a:off x="1581150" y="3957451"/>
            <a:ext cx="9029700" cy="0"/>
          </a:xfrm>
          <a:prstGeom prst="straightConnector1">
            <a:avLst/>
          </a:prstGeom>
          <a:ln w="57150">
            <a:solidFill>
              <a:srgbClr val="F269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125B540-5B25-7D15-9CBC-873868DA2D34}"/>
              </a:ext>
            </a:extLst>
          </p:cNvPr>
          <p:cNvSpPr txBox="1"/>
          <p:nvPr/>
        </p:nvSpPr>
        <p:spPr>
          <a:xfrm>
            <a:off x="1624965" y="4168709"/>
            <a:ext cx="1257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rgbClr val="000000"/>
                </a:solidFill>
                <a:latin typeface="Roboto" panose="02000000000000000000" pitchFamily="2" charset="0"/>
              </a:rPr>
              <a:t>1957</a:t>
            </a:r>
            <a:endParaRPr lang="ru-RU" sz="32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1ADE08-CE7E-1B43-9552-E765D6369D4E}"/>
              </a:ext>
            </a:extLst>
          </p:cNvPr>
          <p:cNvSpPr txBox="1"/>
          <p:nvPr/>
        </p:nvSpPr>
        <p:spPr>
          <a:xfrm>
            <a:off x="3859720" y="4168709"/>
            <a:ext cx="1257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rgbClr val="000000"/>
                </a:solidFill>
                <a:latin typeface="Roboto" panose="02000000000000000000" pitchFamily="2" charset="0"/>
              </a:rPr>
              <a:t>1970</a:t>
            </a:r>
            <a:endParaRPr lang="ru-RU" sz="3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CB5DEC-640B-4456-7C77-E0B2822A73E2}"/>
              </a:ext>
            </a:extLst>
          </p:cNvPr>
          <p:cNvSpPr txBox="1"/>
          <p:nvPr/>
        </p:nvSpPr>
        <p:spPr>
          <a:xfrm>
            <a:off x="6094476" y="4168711"/>
            <a:ext cx="1257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rgbClr val="000000"/>
                </a:solidFill>
                <a:latin typeface="Roboto" panose="02000000000000000000" pitchFamily="2" charset="0"/>
              </a:rPr>
              <a:t>1986</a:t>
            </a:r>
            <a:endParaRPr lang="ru-RU" sz="3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131848-75AE-EC09-0279-5DE68D8B4CFE}"/>
              </a:ext>
            </a:extLst>
          </p:cNvPr>
          <p:cNvSpPr txBox="1"/>
          <p:nvPr/>
        </p:nvSpPr>
        <p:spPr>
          <a:xfrm>
            <a:off x="8235949" y="4168711"/>
            <a:ext cx="1257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rgbClr val="000000"/>
                </a:solidFill>
                <a:latin typeface="Roboto" panose="02000000000000000000" pitchFamily="2" charset="0"/>
              </a:rPr>
              <a:t>2001</a:t>
            </a:r>
            <a:endParaRPr lang="ru-RU" sz="3200" b="1" dirty="0"/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1D4CE3C8-F3E2-55EE-9DDF-2DB3FFD2D916}"/>
              </a:ext>
            </a:extLst>
          </p:cNvPr>
          <p:cNvCxnSpPr>
            <a:cxnSpLocks/>
          </p:cNvCxnSpPr>
          <p:nvPr/>
        </p:nvCxnSpPr>
        <p:spPr>
          <a:xfrm>
            <a:off x="2246630" y="3665351"/>
            <a:ext cx="0" cy="503358"/>
          </a:xfrm>
          <a:prstGeom prst="line">
            <a:avLst/>
          </a:prstGeom>
          <a:ln w="571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C2167A4D-5797-0669-9B64-84A626BF4098}"/>
              </a:ext>
            </a:extLst>
          </p:cNvPr>
          <p:cNvCxnSpPr>
            <a:cxnSpLocks/>
          </p:cNvCxnSpPr>
          <p:nvPr/>
        </p:nvCxnSpPr>
        <p:spPr>
          <a:xfrm>
            <a:off x="4512500" y="3665351"/>
            <a:ext cx="0" cy="503358"/>
          </a:xfrm>
          <a:prstGeom prst="line">
            <a:avLst/>
          </a:prstGeom>
          <a:ln w="571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C9DDED13-5AAE-201E-37B6-413170823EEE}"/>
              </a:ext>
            </a:extLst>
          </p:cNvPr>
          <p:cNvCxnSpPr>
            <a:cxnSpLocks/>
          </p:cNvCxnSpPr>
          <p:nvPr/>
        </p:nvCxnSpPr>
        <p:spPr>
          <a:xfrm>
            <a:off x="6739825" y="3665351"/>
            <a:ext cx="0" cy="503358"/>
          </a:xfrm>
          <a:prstGeom prst="line">
            <a:avLst/>
          </a:prstGeom>
          <a:ln w="571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95E576E8-2CF1-DB06-8A4C-A5110DEBC2E9}"/>
              </a:ext>
            </a:extLst>
          </p:cNvPr>
          <p:cNvCxnSpPr>
            <a:cxnSpLocks/>
          </p:cNvCxnSpPr>
          <p:nvPr/>
        </p:nvCxnSpPr>
        <p:spPr>
          <a:xfrm>
            <a:off x="8864598" y="3665351"/>
            <a:ext cx="0" cy="503358"/>
          </a:xfrm>
          <a:prstGeom prst="line">
            <a:avLst/>
          </a:prstGeom>
          <a:ln w="571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551B8F-D333-2B6E-DD01-C7A0A9700811}"/>
              </a:ext>
            </a:extLst>
          </p:cNvPr>
          <p:cNvSpPr txBox="1"/>
          <p:nvPr/>
        </p:nvSpPr>
        <p:spPr>
          <a:xfrm>
            <a:off x="1440180" y="2482440"/>
            <a:ext cx="1612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IBM </a:t>
            </a:r>
            <a:r>
              <a:rPr lang="ru-RU" dirty="0"/>
              <a:t>презентовала </a:t>
            </a:r>
            <a:r>
              <a:rPr lang="en-US" dirty="0"/>
              <a:t>Fortran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81EC67-4A92-73AA-9668-A36EF8C36CD5}"/>
              </a:ext>
            </a:extLst>
          </p:cNvPr>
          <p:cNvSpPr txBox="1"/>
          <p:nvPr/>
        </p:nvSpPr>
        <p:spPr>
          <a:xfrm>
            <a:off x="3706050" y="2482440"/>
            <a:ext cx="1612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Появление “каскадной модели”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BDBA2F-ED5A-4F97-B074-E6E9DCB400A8}"/>
              </a:ext>
            </a:extLst>
          </p:cNvPr>
          <p:cNvSpPr txBox="1"/>
          <p:nvPr/>
        </p:nvSpPr>
        <p:spPr>
          <a:xfrm>
            <a:off x="5916675" y="2342782"/>
            <a:ext cx="1612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”The New </a:t>
            </a:r>
          </a:p>
          <a:p>
            <a:pPr algn="ctr"/>
            <a:r>
              <a:rPr lang="en-US" dirty="0"/>
              <a:t>New Product Development Game”</a:t>
            </a:r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4D1AF5-70FC-EC16-93A2-530CDA731109}"/>
              </a:ext>
            </a:extLst>
          </p:cNvPr>
          <p:cNvSpPr txBox="1"/>
          <p:nvPr/>
        </p:nvSpPr>
        <p:spPr>
          <a:xfrm>
            <a:off x="8071373" y="2619779"/>
            <a:ext cx="161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Agile-</a:t>
            </a:r>
            <a:r>
              <a:rPr lang="ru-RU" dirty="0"/>
              <a:t>манифест </a:t>
            </a:r>
          </a:p>
        </p:txBody>
      </p:sp>
      <p:sp>
        <p:nvSpPr>
          <p:cNvPr id="32" name="Дуга 31">
            <a:extLst>
              <a:ext uri="{FF2B5EF4-FFF2-40B4-BE49-F238E27FC236}">
                <a16:creationId xmlns:a16="http://schemas.microsoft.com/office/drawing/2014/main" id="{DBB04654-B323-760A-0117-780B38277A7F}"/>
              </a:ext>
            </a:extLst>
          </p:cNvPr>
          <p:cNvSpPr/>
          <p:nvPr/>
        </p:nvSpPr>
        <p:spPr>
          <a:xfrm rot="8164062">
            <a:off x="2421728" y="1009389"/>
            <a:ext cx="4012873" cy="4042115"/>
          </a:xfrm>
          <a:prstGeom prst="arc">
            <a:avLst/>
          </a:prstGeom>
          <a:ln w="571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D9F6211A-059C-6437-0D37-2D6423B8FBC8}"/>
              </a:ext>
            </a:extLst>
          </p:cNvPr>
          <p:cNvCxnSpPr>
            <a:cxnSpLocks/>
          </p:cNvCxnSpPr>
          <p:nvPr/>
        </p:nvCxnSpPr>
        <p:spPr>
          <a:xfrm>
            <a:off x="2994180" y="3944751"/>
            <a:ext cx="0" cy="503358"/>
          </a:xfrm>
          <a:prstGeom prst="line">
            <a:avLst/>
          </a:prstGeom>
          <a:ln w="571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71904DD-33F2-E2A4-C749-7F7784B95D53}"/>
              </a:ext>
            </a:extLst>
          </p:cNvPr>
          <p:cNvCxnSpPr>
            <a:cxnSpLocks/>
          </p:cNvCxnSpPr>
          <p:nvPr/>
        </p:nvCxnSpPr>
        <p:spPr>
          <a:xfrm>
            <a:off x="5812055" y="3970151"/>
            <a:ext cx="0" cy="503358"/>
          </a:xfrm>
          <a:prstGeom prst="line">
            <a:avLst/>
          </a:prstGeom>
          <a:ln w="571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203C15E-F2D8-6AC4-3938-477FBEFA3DFA}"/>
              </a:ext>
            </a:extLst>
          </p:cNvPr>
          <p:cNvSpPr txBox="1"/>
          <p:nvPr/>
        </p:nvSpPr>
        <p:spPr>
          <a:xfrm>
            <a:off x="2972236" y="5075551"/>
            <a:ext cx="2863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26921"/>
                </a:solidFill>
              </a:rPr>
              <a:t>Software crisis</a:t>
            </a:r>
            <a:endParaRPr lang="ru-RU" dirty="0">
              <a:solidFill>
                <a:srgbClr val="F2692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B669F0-79BE-2B99-9F39-9AB96932A707}"/>
              </a:ext>
            </a:extLst>
          </p:cNvPr>
          <p:cNvSpPr txBox="1"/>
          <p:nvPr/>
        </p:nvSpPr>
        <p:spPr>
          <a:xfrm>
            <a:off x="2699837" y="3541025"/>
            <a:ext cx="593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26921"/>
                </a:solidFill>
              </a:rPr>
              <a:t>‘60</a:t>
            </a:r>
            <a:endParaRPr lang="ru-RU" dirty="0">
              <a:solidFill>
                <a:srgbClr val="F2692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D980B6-6A59-6317-F529-4935FB96017D}"/>
              </a:ext>
            </a:extLst>
          </p:cNvPr>
          <p:cNvSpPr txBox="1"/>
          <p:nvPr/>
        </p:nvSpPr>
        <p:spPr>
          <a:xfrm>
            <a:off x="5515525" y="3541025"/>
            <a:ext cx="593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26921"/>
                </a:solidFill>
              </a:rPr>
              <a:t>‘80</a:t>
            </a:r>
            <a:endParaRPr lang="ru-RU" dirty="0">
              <a:solidFill>
                <a:srgbClr val="F26921"/>
              </a:solidFill>
            </a:endParaRP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997F901E-C04A-0661-FDB7-93CA3AD98D54}"/>
              </a:ext>
            </a:extLst>
          </p:cNvPr>
          <p:cNvSpPr/>
          <p:nvPr/>
        </p:nvSpPr>
        <p:spPr>
          <a:xfrm>
            <a:off x="8147590" y="2247595"/>
            <a:ext cx="1434015" cy="1434015"/>
          </a:xfrm>
          <a:prstGeom prst="ellipse">
            <a:avLst/>
          </a:prstGeom>
          <a:noFill/>
          <a:ln w="57150">
            <a:solidFill>
              <a:srgbClr val="F269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759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Рисунок 31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0394932E-B879-0DB6-0963-01827EC54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991288" y="1145585"/>
            <a:ext cx="1734948" cy="260242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7E95E8-C887-D1DE-E9FA-B2F689DB559B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E7D64-5C18-ADA3-2D19-7DE26FFDBCFC}"/>
              </a:ext>
            </a:extLst>
          </p:cNvPr>
          <p:cNvSpPr txBox="1"/>
          <p:nvPr/>
        </p:nvSpPr>
        <p:spPr>
          <a:xfrm>
            <a:off x="470916" y="3334186"/>
            <a:ext cx="31560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Люди</a:t>
            </a: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 и взаимодействие</a:t>
            </a: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 </a:t>
            </a:r>
            <a:r>
              <a:rPr lang="ru-RU" sz="2000" b="1" dirty="0">
                <a:solidFill>
                  <a:srgbClr val="F26921"/>
                </a:solidFill>
                <a:latin typeface="Pragmatica Light" panose="020B0403040502020204" pitchFamily="34" charset="-52"/>
              </a:rPr>
              <a:t>важнее</a:t>
            </a: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 процессов и инструментов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182C07-CC9E-50B3-4862-B284B2C7700D}"/>
              </a:ext>
            </a:extLst>
          </p:cNvPr>
          <p:cNvSpPr txBox="1"/>
          <p:nvPr/>
        </p:nvSpPr>
        <p:spPr>
          <a:xfrm>
            <a:off x="3605669" y="3314269"/>
            <a:ext cx="26024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Работающий продукт</a:t>
            </a: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 </a:t>
            </a:r>
            <a:r>
              <a:rPr lang="ru-RU" sz="2000" b="1" dirty="0">
                <a:solidFill>
                  <a:srgbClr val="F26921"/>
                </a:solidFill>
                <a:latin typeface="Pragmatica Light" panose="020B0403040502020204" pitchFamily="34" charset="-52"/>
              </a:rPr>
              <a:t>важнее</a:t>
            </a:r>
            <a:r>
              <a:rPr lang="ru-RU" sz="2000" b="1" dirty="0">
                <a:solidFill>
                  <a:schemeClr val="bg1"/>
                </a:solidFill>
                <a:latin typeface="Pragmatica Light" panose="020B0403040502020204" pitchFamily="34" charset="-52"/>
              </a:rPr>
              <a:t> </a:t>
            </a: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исчерпывающей документации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22D456-C149-970E-E67A-455F0099A8AD}"/>
              </a:ext>
            </a:extLst>
          </p:cNvPr>
          <p:cNvSpPr txBox="1"/>
          <p:nvPr/>
        </p:nvSpPr>
        <p:spPr>
          <a:xfrm>
            <a:off x="6148323" y="3334186"/>
            <a:ext cx="26024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Сотрудничество с заказчиком</a:t>
            </a:r>
          </a:p>
          <a:p>
            <a:pPr algn="ctr">
              <a:spcBef>
                <a:spcPts val="0"/>
              </a:spcBef>
            </a:pPr>
            <a:r>
              <a:rPr lang="ru-RU" sz="2000" b="1" dirty="0">
                <a:solidFill>
                  <a:srgbClr val="F26921"/>
                </a:solidFill>
                <a:latin typeface="Pragmatica Light" panose="020B0403040502020204" pitchFamily="34" charset="-52"/>
              </a:rPr>
              <a:t>важнее </a:t>
            </a:r>
          </a:p>
          <a:p>
            <a:pPr algn="ctr">
              <a:spcBef>
                <a:spcPts val="0"/>
              </a:spcBef>
            </a:pP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согласования условий контракта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EC4FAB-C48D-DC2B-6BDC-51E3ACE009F9}"/>
              </a:ext>
            </a:extLst>
          </p:cNvPr>
          <p:cNvSpPr txBox="1"/>
          <p:nvPr/>
        </p:nvSpPr>
        <p:spPr>
          <a:xfrm>
            <a:off x="8569345" y="3324337"/>
            <a:ext cx="31620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Готовность к изменениям </a:t>
            </a:r>
          </a:p>
          <a:p>
            <a:pPr algn="ctr">
              <a:spcBef>
                <a:spcPts val="0"/>
              </a:spcBef>
            </a:pPr>
            <a:r>
              <a:rPr lang="ru-RU" sz="2000" b="1" dirty="0">
                <a:solidFill>
                  <a:srgbClr val="F26921"/>
                </a:solidFill>
                <a:latin typeface="Pragmatica Light" panose="020B0403040502020204" pitchFamily="34" charset="-52"/>
              </a:rPr>
              <a:t>важнее</a:t>
            </a:r>
            <a:r>
              <a:rPr lang="ru-RU" sz="2000" b="1" dirty="0">
                <a:solidFill>
                  <a:schemeClr val="bg1"/>
                </a:solidFill>
                <a:latin typeface="Pragmatica Light" panose="020B0403040502020204" pitchFamily="34" charset="-52"/>
              </a:rPr>
              <a:t> </a:t>
            </a:r>
          </a:p>
          <a:p>
            <a:pPr algn="ctr">
              <a:spcBef>
                <a:spcPts val="0"/>
              </a:spcBef>
            </a:pP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следования первоначальному плану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C5E578-019F-81D5-0DDA-64D58989E722}"/>
              </a:ext>
            </a:extLst>
          </p:cNvPr>
          <p:cNvSpPr txBox="1"/>
          <p:nvPr/>
        </p:nvSpPr>
        <p:spPr>
          <a:xfrm>
            <a:off x="320679" y="312978"/>
            <a:ext cx="11528421" cy="1571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2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ЦЕННОСТИ </a:t>
            </a:r>
            <a:r>
              <a:rPr kumimoji="0" lang="en-US" sz="10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AGILE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80A32F-D55A-5AB4-850C-640011479B46}"/>
              </a:ext>
            </a:extLst>
          </p:cNvPr>
          <p:cNvSpPr txBox="1"/>
          <p:nvPr/>
        </p:nvSpPr>
        <p:spPr>
          <a:xfrm>
            <a:off x="1248663" y="5524206"/>
            <a:ext cx="9220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0" algn="ctr"/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Не отрицая важности того, что ниже,</a:t>
            </a:r>
            <a:b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</a:br>
            <a:r>
              <a:rPr lang="ru-RU" sz="2000" dirty="0">
                <a:solidFill>
                  <a:schemeClr val="bg1"/>
                </a:solidFill>
                <a:latin typeface="Pragmatica Light" panose="020B0403040502020204" pitchFamily="34" charset="-52"/>
              </a:rPr>
              <a:t>мы всё-таки больше ценим то, что выше.</a:t>
            </a:r>
          </a:p>
        </p:txBody>
      </p:sp>
    </p:spTree>
    <p:extLst>
      <p:ext uri="{BB962C8B-B14F-4D97-AF65-F5344CB8AC3E}">
        <p14:creationId xmlns:p14="http://schemas.microsoft.com/office/powerpoint/2010/main" val="1633228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DA614EA6-AE4B-3792-8B0F-EC62BE6CEAF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12" t="56468" b="26954"/>
          <a:stretch/>
        </p:blipFill>
        <p:spPr>
          <a:xfrm>
            <a:off x="8299624" y="-528966"/>
            <a:ext cx="4441005" cy="244591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996518" y="201168"/>
            <a:ext cx="5099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mpact" panose="020B0806030902050204" pitchFamily="34" charset="0"/>
              </a:rPr>
              <a:t>AGILE</a:t>
            </a:r>
            <a:endParaRPr lang="ru-RU" sz="1200" dirty="0">
              <a:latin typeface="Impact" panose="020B080603090205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8FD9FF-A2F5-7778-51FA-2AD234D2412B}"/>
              </a:ext>
            </a:extLst>
          </p:cNvPr>
          <p:cNvSpPr txBox="1"/>
          <p:nvPr/>
        </p:nvSpPr>
        <p:spPr>
          <a:xfrm>
            <a:off x="996517" y="1497111"/>
            <a:ext cx="952361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Pragmatica Light" panose="020B0403040502020204" pitchFamily="34" charset="-52"/>
              </a:rPr>
              <a:t>Преимущества: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Pragmatica Light" panose="020B0403040502020204" pitchFamily="34" charset="-52"/>
              </a:rPr>
              <a:t>продукт выпускается на рынок быстро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Pragmatica Light" panose="020B0403040502020204" pitchFamily="34" charset="-52"/>
              </a:rPr>
              <a:t>заказчики получают максимальное удовлетворение ожиданий</a:t>
            </a:r>
            <a:endParaRPr lang="en-US" sz="2400" dirty="0">
              <a:latin typeface="Pragmatica Light" panose="020B0403040502020204" pitchFamily="34" charset="-5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9D19FF-A757-B17B-C18B-2BE04B811774}"/>
              </a:ext>
            </a:extLst>
          </p:cNvPr>
          <p:cNvSpPr txBox="1"/>
          <p:nvPr/>
        </p:nvSpPr>
        <p:spPr>
          <a:xfrm>
            <a:off x="996517" y="3854883"/>
            <a:ext cx="1079302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Pragmatica Light" panose="020B0403040502020204" pitchFamily="34" charset="-52"/>
              </a:rPr>
              <a:t>Agile</a:t>
            </a:r>
            <a:r>
              <a:rPr lang="ru-RU" sz="2400" dirty="0">
                <a:latin typeface="Pragmatica Light" panose="020B0403040502020204" pitchFamily="34" charset="-52"/>
              </a:rPr>
              <a:t>-подходы увеличивают ценность продукта для заказчиков и скорость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>
                <a:latin typeface="Pragmatica Light" panose="020B0403040502020204" pitchFamily="34" charset="-52"/>
              </a:rPr>
              <a:t>его выпуска за счет: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latin typeface="Pragmatica Light" panose="020B0403040502020204" pitchFamily="34" charset="-52"/>
              </a:rPr>
              <a:t>работы в командах, а не в отделах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latin typeface="Pragmatica Light" panose="020B0403040502020204" pitchFamily="34" charset="-52"/>
              </a:rPr>
              <a:t>коротких рабочих циклов с частым сбором обратной связи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44506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5462FFD2-E9EB-6CB3-7122-14CFB123D5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22" t="17994" b="7525"/>
          <a:stretch/>
        </p:blipFill>
        <p:spPr>
          <a:xfrm rot="7634789">
            <a:off x="11040670" y="-923512"/>
            <a:ext cx="2620208" cy="1738349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6FF8F75-5F59-E2DB-9045-D18CC25CD5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22" t="17994" b="7525"/>
          <a:stretch/>
        </p:blipFill>
        <p:spPr>
          <a:xfrm rot="2373598">
            <a:off x="-235744" y="5164189"/>
            <a:ext cx="2620208" cy="173834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996517" y="201168"/>
            <a:ext cx="76998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ОСОБЕННОСТИ 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AGILE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8FD9FF-A2F5-7778-51FA-2AD234D2412B}"/>
              </a:ext>
            </a:extLst>
          </p:cNvPr>
          <p:cNvSpPr txBox="1"/>
          <p:nvPr/>
        </p:nvSpPr>
        <p:spPr>
          <a:xfrm>
            <a:off x="3097210" y="5402421"/>
            <a:ext cx="886951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prstClr val="black"/>
                </a:solidFill>
                <a:latin typeface="Pragmatica Light" panose="020B0403040502020204" pitchFamily="34" charset="-52"/>
              </a:rPr>
              <a:t>У команды общие цели, задачи, приоритеты и ответственность за них</a:t>
            </a:r>
            <a:endParaRPr lang="en-US" sz="2000" dirty="0">
              <a:solidFill>
                <a:prstClr val="black"/>
              </a:solidFill>
              <a:latin typeface="Pragmatica Light" panose="020B0403040502020204" pitchFamily="34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03037F-CC4C-31FC-9D7B-49B1BFAE434F}"/>
              </a:ext>
            </a:extLst>
          </p:cNvPr>
          <p:cNvSpPr txBox="1"/>
          <p:nvPr/>
        </p:nvSpPr>
        <p:spPr>
          <a:xfrm>
            <a:off x="3101974" y="1490095"/>
            <a:ext cx="8340726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prstClr val="black"/>
                </a:solidFill>
                <a:latin typeface="Pragmatica Light" panose="020B0403040502020204" pitchFamily="34" charset="-52"/>
              </a:rPr>
              <a:t>Специалисты разных профессий работают самостоятельно, 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prstClr val="black"/>
                </a:solidFill>
                <a:latin typeface="Pragmatica Light" panose="020B0403040502020204" pitchFamily="34" charset="-52"/>
              </a:rPr>
              <a:t>без начальников, часто - в одном помещении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7CAAED-F95E-0525-7EC3-F75DC3869BBE}"/>
              </a:ext>
            </a:extLst>
          </p:cNvPr>
          <p:cNvSpPr txBox="1"/>
          <p:nvPr/>
        </p:nvSpPr>
        <p:spPr>
          <a:xfrm>
            <a:off x="3101974" y="2780836"/>
            <a:ext cx="8569326" cy="123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prstClr val="black"/>
                </a:solidFill>
                <a:latin typeface="Pragmatica Light" panose="020B0403040502020204" pitchFamily="34" charset="-52"/>
              </a:rPr>
              <a:t>Команда сама берет задачи в работу и контролирует 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prstClr val="black"/>
                </a:solidFill>
                <a:latin typeface="Pragmatica Light" panose="020B0403040502020204" pitchFamily="34" charset="-52"/>
              </a:rPr>
              <a:t>их выполнение и свою нагрузку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A37FC6-3711-85C6-9101-60AEE716E6F8}"/>
              </a:ext>
            </a:extLst>
          </p:cNvPr>
          <p:cNvSpPr txBox="1"/>
          <p:nvPr/>
        </p:nvSpPr>
        <p:spPr>
          <a:xfrm>
            <a:off x="3097210" y="4124391"/>
            <a:ext cx="8569325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prstClr val="black"/>
                </a:solidFill>
                <a:latin typeface="Pragmatica Light" panose="020B0403040502020204" pitchFamily="34" charset="-52"/>
              </a:rPr>
              <a:t>Команда берет в работу столько задач, 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prstClr val="black"/>
                </a:solidFill>
                <a:latin typeface="Pragmatica Light" panose="020B0403040502020204" pitchFamily="34" charset="-52"/>
              </a:rPr>
              <a:t>сколько может выполнить в оптимальном темпе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08C33F5D-C9F7-0EEB-9C0B-2BA504A5592B}"/>
              </a:ext>
            </a:extLst>
          </p:cNvPr>
          <p:cNvCxnSpPr>
            <a:cxnSpLocks/>
          </p:cNvCxnSpPr>
          <p:nvPr/>
        </p:nvCxnSpPr>
        <p:spPr>
          <a:xfrm flipH="1">
            <a:off x="3201971" y="2879004"/>
            <a:ext cx="1980000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D91391C6-31E4-BF3F-FE6A-FCFD49D73E97}"/>
              </a:ext>
            </a:extLst>
          </p:cNvPr>
          <p:cNvCxnSpPr>
            <a:cxnSpLocks/>
          </p:cNvCxnSpPr>
          <p:nvPr/>
        </p:nvCxnSpPr>
        <p:spPr>
          <a:xfrm flipH="1">
            <a:off x="3201971" y="4201836"/>
            <a:ext cx="1980000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650A9447-84D1-D980-865A-9E6B4219AF97}"/>
              </a:ext>
            </a:extLst>
          </p:cNvPr>
          <p:cNvCxnSpPr>
            <a:cxnSpLocks/>
          </p:cNvCxnSpPr>
          <p:nvPr/>
        </p:nvCxnSpPr>
        <p:spPr>
          <a:xfrm flipH="1">
            <a:off x="3201971" y="5509428"/>
            <a:ext cx="1980000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094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Овал 18">
            <a:extLst>
              <a:ext uri="{FF2B5EF4-FFF2-40B4-BE49-F238E27FC236}">
                <a16:creationId xmlns:a16="http://schemas.microsoft.com/office/drawing/2014/main" id="{7BA99596-F5B1-4D9B-7DA8-0190691BED68}"/>
              </a:ext>
            </a:extLst>
          </p:cNvPr>
          <p:cNvSpPr/>
          <p:nvPr/>
        </p:nvSpPr>
        <p:spPr>
          <a:xfrm>
            <a:off x="-2827198" y="-1692550"/>
            <a:ext cx="9936000" cy="9936000"/>
          </a:xfrm>
          <a:prstGeom prst="ellipse">
            <a:avLst/>
          </a:prstGeom>
          <a:solidFill>
            <a:srgbClr val="F26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E7D64-5C18-ADA3-2D19-7DE26FFDBCFC}"/>
              </a:ext>
            </a:extLst>
          </p:cNvPr>
          <p:cNvSpPr txBox="1"/>
          <p:nvPr/>
        </p:nvSpPr>
        <p:spPr>
          <a:xfrm>
            <a:off x="6510649" y="340652"/>
            <a:ext cx="2602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SCRUM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182C07-CC9E-50B3-4862-B284B2C7700D}"/>
              </a:ext>
            </a:extLst>
          </p:cNvPr>
          <p:cNvSpPr txBox="1"/>
          <p:nvPr/>
        </p:nvSpPr>
        <p:spPr>
          <a:xfrm>
            <a:off x="6775374" y="857410"/>
            <a:ext cx="2602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KANBAN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22D456-C149-970E-E67A-455F0099A8AD}"/>
              </a:ext>
            </a:extLst>
          </p:cNvPr>
          <p:cNvSpPr txBox="1"/>
          <p:nvPr/>
        </p:nvSpPr>
        <p:spPr>
          <a:xfrm>
            <a:off x="7295818" y="2605789"/>
            <a:ext cx="2602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SAFe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EC4FAB-C48D-DC2B-6BDC-51E3ACE009F9}"/>
              </a:ext>
            </a:extLst>
          </p:cNvPr>
          <p:cNvSpPr txBox="1"/>
          <p:nvPr/>
        </p:nvSpPr>
        <p:spPr>
          <a:xfrm>
            <a:off x="7016015" y="1439246"/>
            <a:ext cx="31620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white"/>
                </a:solidFill>
                <a:latin typeface="Pragmatica Light" panose="020B0403040502020204" pitchFamily="34" charset="-52"/>
              </a:rPr>
              <a:t>LeSS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1EA65A-E5CC-D5EB-7339-0F1582827E99}"/>
              </a:ext>
            </a:extLst>
          </p:cNvPr>
          <p:cNvSpPr txBox="1"/>
          <p:nvPr/>
        </p:nvSpPr>
        <p:spPr>
          <a:xfrm>
            <a:off x="7182228" y="3765963"/>
            <a:ext cx="31620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white"/>
                </a:solidFill>
                <a:latin typeface="Pragmatica Light" panose="020B0403040502020204" pitchFamily="34" charset="-52"/>
              </a:rPr>
              <a:t>Nexus Scrum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0A9DA5-B0E8-A250-75D8-5528C3715137}"/>
              </a:ext>
            </a:extLst>
          </p:cNvPr>
          <p:cNvSpPr txBox="1"/>
          <p:nvPr/>
        </p:nvSpPr>
        <p:spPr>
          <a:xfrm>
            <a:off x="7108802" y="4348560"/>
            <a:ext cx="31620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white"/>
                </a:solidFill>
                <a:latin typeface="Pragmatica Light" panose="020B0403040502020204" pitchFamily="34" charset="-52"/>
              </a:rPr>
              <a:t>Scrum of Scrum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322832-4682-3AC1-069D-6EA4975B3F45}"/>
              </a:ext>
            </a:extLst>
          </p:cNvPr>
          <p:cNvSpPr txBox="1"/>
          <p:nvPr/>
        </p:nvSpPr>
        <p:spPr>
          <a:xfrm>
            <a:off x="6847729" y="4932506"/>
            <a:ext cx="3861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prstClr val="white"/>
                </a:solidFill>
                <a:latin typeface="Pragmatica Light" panose="020B0403040502020204" pitchFamily="34" charset="-52"/>
              </a:defRPr>
            </a:lvl1pPr>
          </a:lstStyle>
          <a:p>
            <a:pPr algn="l"/>
            <a:r>
              <a:rPr lang="en-US" sz="2800" dirty="0"/>
              <a:t>Enterprise Scrum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11E17C-58CD-3DA6-89B8-F915C0471D0A}"/>
              </a:ext>
            </a:extLst>
          </p:cNvPr>
          <p:cNvSpPr txBox="1"/>
          <p:nvPr/>
        </p:nvSpPr>
        <p:spPr>
          <a:xfrm>
            <a:off x="7295818" y="3182692"/>
            <a:ext cx="1299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prstClr val="white"/>
                </a:solidFill>
                <a:latin typeface="Pragmatica Light" panose="020B0403040502020204" pitchFamily="34" charset="-52"/>
              </a:rPr>
              <a:t>XP</a:t>
            </a:r>
            <a:endParaRPr lang="ru-RU" sz="28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A415FF-95E5-0CCD-ECE6-92E5B704125E}"/>
              </a:ext>
            </a:extLst>
          </p:cNvPr>
          <p:cNvSpPr txBox="1"/>
          <p:nvPr/>
        </p:nvSpPr>
        <p:spPr>
          <a:xfrm>
            <a:off x="6344368" y="5974724"/>
            <a:ext cx="2170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prstClr val="white"/>
                </a:solidFill>
                <a:latin typeface="Pragmatica Light" panose="020B0403040502020204" pitchFamily="34" charset="-52"/>
              </a:rPr>
              <a:t>DSDM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A98F69-413F-A085-D75F-5E9D935E8DD3}"/>
              </a:ext>
            </a:extLst>
          </p:cNvPr>
          <p:cNvSpPr txBox="1"/>
          <p:nvPr/>
        </p:nvSpPr>
        <p:spPr>
          <a:xfrm>
            <a:off x="7182228" y="2023192"/>
            <a:ext cx="13556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prstClr val="white"/>
                </a:solidFill>
                <a:latin typeface="Pragmatica Light" panose="020B0403040502020204" pitchFamily="34" charset="-52"/>
              </a:rPr>
              <a:t>FDD</a:t>
            </a:r>
            <a:endParaRPr lang="ru-RU" sz="28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2BDCBA-4BDB-C207-5D4B-1BD1CDE56EA1}"/>
              </a:ext>
            </a:extLst>
          </p:cNvPr>
          <p:cNvSpPr txBox="1"/>
          <p:nvPr/>
        </p:nvSpPr>
        <p:spPr>
          <a:xfrm>
            <a:off x="6639668" y="5451504"/>
            <a:ext cx="14369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prstClr val="white"/>
                </a:solidFill>
                <a:latin typeface="Pragmatica Light" panose="020B0403040502020204" pitchFamily="34" charset="-52"/>
              </a:defRPr>
            </a:lvl1pPr>
          </a:lstStyle>
          <a:p>
            <a:pPr algn="l"/>
            <a:r>
              <a:rPr lang="en-US" sz="2800" dirty="0"/>
              <a:t>Crystal</a:t>
            </a:r>
            <a:endParaRPr lang="ru-RU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FD1E05-1AE4-A397-0619-24218FBC04B2}"/>
              </a:ext>
            </a:extLst>
          </p:cNvPr>
          <p:cNvSpPr txBox="1"/>
          <p:nvPr/>
        </p:nvSpPr>
        <p:spPr>
          <a:xfrm>
            <a:off x="905154" y="2082874"/>
            <a:ext cx="5190846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AGILE</a:t>
            </a:r>
            <a:endParaRPr lang="ru-RU" sz="16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C732B5-0920-863E-CCD7-00073AE15FD7}"/>
              </a:ext>
            </a:extLst>
          </p:cNvPr>
          <p:cNvSpPr txBox="1"/>
          <p:nvPr/>
        </p:nvSpPr>
        <p:spPr>
          <a:xfrm>
            <a:off x="1094130" y="1527543"/>
            <a:ext cx="4498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0" dirty="0">
                <a:solidFill>
                  <a:schemeClr val="bg1"/>
                </a:solidFill>
                <a:latin typeface="Impact" panose="020B0806030902050204" pitchFamily="34" charset="0"/>
              </a:rPr>
              <a:t>ФРЕЙМВОРКИ</a:t>
            </a:r>
            <a:endParaRPr lang="ru-RU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303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 descr="Изображение выглядит как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57E35ABC-77FC-95C1-10B3-282D4BFD2C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12" t="56468" b="26954"/>
          <a:stretch/>
        </p:blipFill>
        <p:spPr>
          <a:xfrm>
            <a:off x="8031758" y="4978969"/>
            <a:ext cx="4441005" cy="244591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996518" y="201168"/>
            <a:ext cx="5099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mpact" panose="020B0806030902050204" pitchFamily="34" charset="0"/>
              </a:rPr>
              <a:t>KANBAN</a:t>
            </a:r>
            <a:endParaRPr lang="ru-RU" sz="1200" dirty="0">
              <a:latin typeface="Impact" panose="020B080603090205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A2E5CA-27F2-AC66-3A37-6B48327C8E61}"/>
              </a:ext>
            </a:extLst>
          </p:cNvPr>
          <p:cNvSpPr txBox="1"/>
          <p:nvPr/>
        </p:nvSpPr>
        <p:spPr>
          <a:xfrm>
            <a:off x="979335" y="2141821"/>
            <a:ext cx="1023028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Pragmatica Light" panose="020B0403040502020204" pitchFamily="34" charset="-52"/>
              </a:rPr>
              <a:t>Это метод </a:t>
            </a:r>
            <a:r>
              <a:rPr lang="en-US" sz="2400" dirty="0">
                <a:latin typeface="Pragmatica Light" panose="020B0403040502020204" pitchFamily="34" charset="-52"/>
              </a:rPr>
              <a:t>A</a:t>
            </a:r>
            <a:r>
              <a:rPr lang="ru-RU" sz="2400" dirty="0" err="1">
                <a:latin typeface="Pragmatica Light" panose="020B0403040502020204" pitchFamily="34" charset="-52"/>
              </a:rPr>
              <a:t>gile</a:t>
            </a:r>
            <a:r>
              <a:rPr lang="ru-RU" sz="2400" dirty="0">
                <a:latin typeface="Pragmatica Light" panose="020B0403040502020204" pitchFamily="34" charset="-52"/>
              </a:rPr>
              <a:t>-философии для разработки продуктов и производства, который помогает наладить текущие процессы и не перегрузить команду. Незавершенные задачи не простаивают и потоком движутся по цепочке создания продукта или его поддержки </a:t>
            </a:r>
          </a:p>
        </p:txBody>
      </p:sp>
    </p:spTree>
    <p:extLst>
      <p:ext uri="{BB962C8B-B14F-4D97-AF65-F5344CB8AC3E}">
        <p14:creationId xmlns:p14="http://schemas.microsoft.com/office/powerpoint/2010/main" val="373041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 descr="Изображение выглядит как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57E35ABC-77FC-95C1-10B3-282D4BFD2C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12" t="56468" b="26954"/>
          <a:stretch/>
        </p:blipFill>
        <p:spPr>
          <a:xfrm>
            <a:off x="8031758" y="4978969"/>
            <a:ext cx="4441005" cy="244591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996518" y="201168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mpact" panose="020B0806030902050204" pitchFamily="34" charset="0"/>
              </a:rPr>
              <a:t>ОСОБЕННОСТИ 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mpact" panose="020B0806030902050204" pitchFamily="34" charset="0"/>
              </a:rPr>
              <a:t>KANBAN</a:t>
            </a:r>
            <a:endParaRPr lang="ru-RU" sz="1200" dirty="0">
              <a:latin typeface="Impact" panose="020B080603090205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F5947E-388E-39DE-69DE-7DD68DC607C9}"/>
              </a:ext>
            </a:extLst>
          </p:cNvPr>
          <p:cNvSpPr txBox="1"/>
          <p:nvPr/>
        </p:nvSpPr>
        <p:spPr>
          <a:xfrm>
            <a:off x="1994871" y="4312926"/>
            <a:ext cx="8795552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latin typeface="Pragmatica Light" panose="020B0403040502020204" pitchFamily="34" charset="-52"/>
              </a:rPr>
              <a:t>Пошаговое улучшение процессов, благодаря выявлению проблем</a:t>
            </a: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52CB04B-760C-FC10-F447-22CB823A3313}"/>
              </a:ext>
            </a:extLst>
          </p:cNvPr>
          <p:cNvCxnSpPr>
            <a:cxnSpLocks/>
          </p:cNvCxnSpPr>
          <p:nvPr/>
        </p:nvCxnSpPr>
        <p:spPr>
          <a:xfrm flipH="1">
            <a:off x="2098042" y="2528996"/>
            <a:ext cx="1980000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2D3C80F-EE5C-DE6E-80BA-BDB6DD02450E}"/>
              </a:ext>
            </a:extLst>
          </p:cNvPr>
          <p:cNvSpPr txBox="1"/>
          <p:nvPr/>
        </p:nvSpPr>
        <p:spPr>
          <a:xfrm>
            <a:off x="1994871" y="1642051"/>
            <a:ext cx="62357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latin typeface="Pragmatica Light" panose="020B0403040502020204" pitchFamily="34" charset="-52"/>
              </a:rPr>
              <a:t>Визуализация рабочего потока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565468-E496-A549-A417-7D5175DEFF68}"/>
              </a:ext>
            </a:extLst>
          </p:cNvPr>
          <p:cNvSpPr txBox="1"/>
          <p:nvPr/>
        </p:nvSpPr>
        <p:spPr>
          <a:xfrm>
            <a:off x="1994871" y="2555597"/>
            <a:ext cx="6679229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indent="0">
              <a:lnSpc>
                <a:spcPct val="150000"/>
              </a:lnSpc>
              <a:buNone/>
              <a:defRPr sz="2400"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Ограничение количества незавершённых задач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C48D12-98FD-1881-F454-A4925F9BE02D}"/>
              </a:ext>
            </a:extLst>
          </p:cNvPr>
          <p:cNvSpPr txBox="1"/>
          <p:nvPr/>
        </p:nvSpPr>
        <p:spPr>
          <a:xfrm>
            <a:off x="1994871" y="3429000"/>
            <a:ext cx="62357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indent="0">
              <a:lnSpc>
                <a:spcPct val="150000"/>
              </a:lnSpc>
              <a:buNone/>
              <a:defRPr sz="2400">
                <a:latin typeface="Pragmatica Light" panose="020B0403040502020204" pitchFamily="34" charset="-52"/>
              </a:defRPr>
            </a:lvl1pPr>
          </a:lstStyle>
          <a:p>
            <a:r>
              <a:rPr lang="ru-RU" dirty="0"/>
              <a:t>Управление потоком с помощью правил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E8E76A4B-C149-6365-E6C5-9FC8719AAD36}"/>
              </a:ext>
            </a:extLst>
          </p:cNvPr>
          <p:cNvCxnSpPr>
            <a:cxnSpLocks/>
          </p:cNvCxnSpPr>
          <p:nvPr/>
        </p:nvCxnSpPr>
        <p:spPr>
          <a:xfrm flipH="1">
            <a:off x="2098042" y="3345054"/>
            <a:ext cx="1980000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AE22182-457F-19A3-ECF4-500D615C9639}"/>
              </a:ext>
            </a:extLst>
          </p:cNvPr>
          <p:cNvCxnSpPr>
            <a:cxnSpLocks/>
          </p:cNvCxnSpPr>
          <p:nvPr/>
        </p:nvCxnSpPr>
        <p:spPr>
          <a:xfrm flipH="1">
            <a:off x="2109771" y="4217464"/>
            <a:ext cx="1980000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40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165EC33-F420-C76E-6CA1-D9B90B9AC460}"/>
              </a:ext>
            </a:extLst>
          </p:cNvPr>
          <p:cNvSpPr/>
          <p:nvPr/>
        </p:nvSpPr>
        <p:spPr>
          <a:xfrm>
            <a:off x="3686175" y="387268"/>
            <a:ext cx="8277225" cy="5959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" name="Рисунок 2" descr="Изображение выглядит как карта&#10;&#10;Автоматически созданное описание">
            <a:extLst>
              <a:ext uri="{FF2B5EF4-FFF2-40B4-BE49-F238E27FC236}">
                <a16:creationId xmlns:a16="http://schemas.microsoft.com/office/drawing/2014/main" id="{F00DBF84-655E-3B19-CB81-9CAF2534E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984" y="481985"/>
            <a:ext cx="3665940" cy="2749455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15B79866-A66C-207D-A3FD-2F9F8BC299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3"/>
          <a:stretch/>
        </p:blipFill>
        <p:spPr>
          <a:xfrm>
            <a:off x="3775982" y="3326157"/>
            <a:ext cx="3665940" cy="292567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2F5D2E8-7E5E-6D33-0DBA-0943C3426D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539" y="481985"/>
            <a:ext cx="4327388" cy="57698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B5202BC-7F72-98EE-D29C-ACD65B3D5484}"/>
              </a:ext>
            </a:extLst>
          </p:cNvPr>
          <p:cNvSpPr txBox="1"/>
          <p:nvPr/>
        </p:nvSpPr>
        <p:spPr>
          <a:xfrm>
            <a:off x="89508" y="2171995"/>
            <a:ext cx="345190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mpact" panose="020B0806030902050204" pitchFamily="34" charset="0"/>
              </a:rPr>
              <a:t>KANBAN</a:t>
            </a:r>
            <a:endParaRPr kumimoji="0" lang="ru-RU" sz="7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mpact" panose="020B0806030902050204" pitchFamily="34" charset="0"/>
            </a:endParaRPr>
          </a:p>
          <a:p>
            <a:pPr algn="ctr"/>
            <a:r>
              <a:rPr lang="ru-RU" sz="7200" dirty="0">
                <a:solidFill>
                  <a:schemeClr val="bg1"/>
                </a:solidFill>
                <a:latin typeface="Impact" panose="020B0806030902050204" pitchFamily="34" charset="0"/>
              </a:rPr>
              <a:t>ДОСКА</a:t>
            </a:r>
            <a:endParaRPr lang="ru-RU" sz="1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169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 descr="Изображение выглядит как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57E35ABC-77FC-95C1-10B3-282D4BFD2C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12" t="56468" b="26954"/>
          <a:stretch/>
        </p:blipFill>
        <p:spPr>
          <a:xfrm>
            <a:off x="8031758" y="4978969"/>
            <a:ext cx="4441005" cy="244591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996518" y="201168"/>
            <a:ext cx="50994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mpact" panose="020B0806030902050204" pitchFamily="34" charset="0"/>
              </a:rPr>
              <a:t>SCRUM</a:t>
            </a:r>
            <a:endParaRPr lang="ru-RU" sz="1200" dirty="0">
              <a:latin typeface="Impact" panose="020B080603090205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F5947E-388E-39DE-69DE-7DD68DC607C9}"/>
              </a:ext>
            </a:extLst>
          </p:cNvPr>
          <p:cNvSpPr txBox="1"/>
          <p:nvPr/>
        </p:nvSpPr>
        <p:spPr>
          <a:xfrm>
            <a:off x="996518" y="1961323"/>
            <a:ext cx="87955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400" dirty="0">
                <a:latin typeface="Pragmatica Light" panose="020B0403040502020204" pitchFamily="34" charset="-52"/>
              </a:rPr>
              <a:t>Это фреймворк, помогающий организовать работу посредством спринтов. Где каждый спринт заканчивается созданием работоспособной версии продукта (инкремента). </a:t>
            </a:r>
            <a:r>
              <a:rPr lang="ru-RU" sz="2400" dirty="0" err="1">
                <a:latin typeface="Pragmatica Light" panose="020B0403040502020204" pitchFamily="34" charset="-52"/>
              </a:rPr>
              <a:t>Scrum</a:t>
            </a:r>
            <a:r>
              <a:rPr lang="ru-RU" sz="2400" dirty="0">
                <a:latin typeface="Pragmatica Light" panose="020B0403040502020204" pitchFamily="34" charset="-52"/>
              </a:rPr>
              <a:t> имеет собственные ценности, а также содержит в себе набор обязательных артефактов и ролей.</a:t>
            </a:r>
          </a:p>
        </p:txBody>
      </p:sp>
    </p:spTree>
    <p:extLst>
      <p:ext uri="{BB962C8B-B14F-4D97-AF65-F5344CB8AC3E}">
        <p14:creationId xmlns:p14="http://schemas.microsoft.com/office/powerpoint/2010/main" val="3081505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E856E-070A-737C-6D37-6EFDF1490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 descr="Изображение выглядит как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D19AC534-8EF0-0735-EADC-CB23445135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12" t="56468" b="26954"/>
          <a:stretch/>
        </p:blipFill>
        <p:spPr>
          <a:xfrm>
            <a:off x="8031758" y="4978969"/>
            <a:ext cx="4441005" cy="244591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E2A908F-643B-10D9-00C2-CF75DE8217B2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F3AA69-7036-9683-2BAD-3EE1EAE94C76}"/>
              </a:ext>
            </a:extLst>
          </p:cNvPr>
          <p:cNvSpPr txBox="1"/>
          <p:nvPr/>
        </p:nvSpPr>
        <p:spPr>
          <a:xfrm>
            <a:off x="996518" y="201168"/>
            <a:ext cx="76775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mpact" panose="020B0806030902050204" pitchFamily="34" charset="0"/>
              </a:rPr>
              <a:t>ПРИНЦИПЫ 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mpact" panose="020B0806030902050204" pitchFamily="34" charset="0"/>
              </a:rPr>
              <a:t>SCRUM</a:t>
            </a:r>
            <a:endParaRPr lang="ru-RU" sz="1200" dirty="0">
              <a:latin typeface="Impact" panose="020B080603090205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AC46E7-F0DD-6B39-C1E1-A95A7C0C63CD}"/>
              </a:ext>
            </a:extLst>
          </p:cNvPr>
          <p:cNvSpPr txBox="1"/>
          <p:nvPr/>
        </p:nvSpPr>
        <p:spPr>
          <a:xfrm>
            <a:off x="876608" y="2138803"/>
            <a:ext cx="2628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agmatica Book" panose="020B0503040502020204" pitchFamily="34" charset="0"/>
              </a:rPr>
              <a:t>ПРОЗРАЧНОСТЬ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FDDC18-557F-1AF1-37AF-FC8BEB4C24B7}"/>
              </a:ext>
            </a:extLst>
          </p:cNvPr>
          <p:cNvSpPr txBox="1"/>
          <p:nvPr/>
        </p:nvSpPr>
        <p:spPr>
          <a:xfrm>
            <a:off x="4520147" y="2122874"/>
            <a:ext cx="21763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agmatica Book" panose="020B0503040502020204" pitchFamily="34" charset="0"/>
              </a:rPr>
              <a:t>ИНСПЕКЦИЯ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E7C84-42CD-8FCD-7F13-E1D38C9EE8ED}"/>
              </a:ext>
            </a:extLst>
          </p:cNvPr>
          <p:cNvSpPr txBox="1"/>
          <p:nvPr/>
        </p:nvSpPr>
        <p:spPr>
          <a:xfrm>
            <a:off x="8572502" y="2122874"/>
            <a:ext cx="2258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agmatica Book" panose="020B0503040502020204" pitchFamily="34" charset="0"/>
              </a:rPr>
              <a:t>АДАПТАЦИЯ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EB0D45-D68C-0CCD-2BD5-988FCC28114D}"/>
              </a:ext>
            </a:extLst>
          </p:cNvPr>
          <p:cNvSpPr txBox="1"/>
          <p:nvPr/>
        </p:nvSpPr>
        <p:spPr>
          <a:xfrm>
            <a:off x="876608" y="3109574"/>
            <a:ext cx="27428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все аспекты процесса должны быть видны тем, кто отвечает за результат</a:t>
            </a:r>
            <a:endParaRPr lang="ru-RU" sz="2400" dirty="0">
              <a:latin typeface="Pragmatica Light" panose="020B0403040502020204" pitchFamily="34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949AFA-0678-E7B4-79E1-CAB0B5D470D7}"/>
              </a:ext>
            </a:extLst>
          </p:cNvPr>
          <p:cNvSpPr txBox="1"/>
          <p:nvPr/>
        </p:nvSpPr>
        <p:spPr>
          <a:xfrm>
            <a:off x="4520147" y="3109574"/>
            <a:ext cx="32994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регулярная проверка прогресса и артефактов для выявления отклонений от плана</a:t>
            </a:r>
            <a:endParaRPr lang="ru-RU" sz="2400" dirty="0">
              <a:latin typeface="Pragmatica Light" panose="020B0403040502020204" pitchFamily="34" charset="-5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D317A-8648-B792-5761-9342D045AD6F}"/>
              </a:ext>
            </a:extLst>
          </p:cNvPr>
          <p:cNvSpPr txBox="1"/>
          <p:nvPr/>
        </p:nvSpPr>
        <p:spPr>
          <a:xfrm>
            <a:off x="8572502" y="3109574"/>
            <a:ext cx="32994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 обнаружении отклонений процесс или продукт должны быть скорректированы </a:t>
            </a:r>
            <a:br>
              <a:rPr lang="ru-RU" dirty="0"/>
            </a:br>
            <a:r>
              <a:rPr lang="ru-RU" dirty="0"/>
              <a:t>как можно скорее</a:t>
            </a:r>
            <a:endParaRPr lang="ru-RU" sz="2400" dirty="0">
              <a:latin typeface="Pragmatica Light" panose="020B0403040502020204" pitchFamily="34" charset="-52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855A48C-C4F2-BC99-50EB-8D818D453076}"/>
              </a:ext>
            </a:extLst>
          </p:cNvPr>
          <p:cNvCxnSpPr>
            <a:cxnSpLocks/>
          </p:cNvCxnSpPr>
          <p:nvPr/>
        </p:nvCxnSpPr>
        <p:spPr>
          <a:xfrm flipH="1">
            <a:off x="996518" y="2907611"/>
            <a:ext cx="2407082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829685B7-D36E-6E46-C30E-6349876F2E3E}"/>
              </a:ext>
            </a:extLst>
          </p:cNvPr>
          <p:cNvCxnSpPr>
            <a:cxnSpLocks/>
          </p:cNvCxnSpPr>
          <p:nvPr/>
        </p:nvCxnSpPr>
        <p:spPr>
          <a:xfrm flipH="1">
            <a:off x="4616018" y="2907611"/>
            <a:ext cx="1980000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C2826F4A-13A1-718F-CB54-E41A12AB5EA1}"/>
              </a:ext>
            </a:extLst>
          </p:cNvPr>
          <p:cNvCxnSpPr>
            <a:cxnSpLocks/>
          </p:cNvCxnSpPr>
          <p:nvPr/>
        </p:nvCxnSpPr>
        <p:spPr>
          <a:xfrm flipH="1">
            <a:off x="8674100" y="2883907"/>
            <a:ext cx="2019300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4DF4C8-4F4B-2030-1173-8297506F6C8E}"/>
              </a:ext>
            </a:extLst>
          </p:cNvPr>
          <p:cNvSpPr txBox="1"/>
          <p:nvPr/>
        </p:nvSpPr>
        <p:spPr>
          <a:xfrm>
            <a:off x="876608" y="5156769"/>
            <a:ext cx="5599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ЦЕННОСТИ</a:t>
            </a:r>
            <a:r>
              <a:rPr lang="ru-RU" sz="2400" dirty="0"/>
              <a:t>: обязательность, смелость, фокус, уважение и открытость</a:t>
            </a:r>
            <a:endParaRPr lang="ru-RU" sz="2400" dirty="0">
              <a:latin typeface="Pragmatica Light" panose="020B0403040502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273140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0BC5E578-019F-81D5-0DDA-64D58989E722}"/>
              </a:ext>
            </a:extLst>
          </p:cNvPr>
          <p:cNvSpPr txBox="1"/>
          <p:nvPr/>
        </p:nvSpPr>
        <p:spPr>
          <a:xfrm>
            <a:off x="320679" y="312978"/>
            <a:ext cx="11528421" cy="31743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kumimoji="0" sz="72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Impact" panose="020B0806030902050204" pitchFamily="34" charset="0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ИЗ ЧЕГО СОСТОИТ </a:t>
            </a:r>
            <a:r>
              <a:rPr lang="en-US" dirty="0">
                <a:solidFill>
                  <a:schemeClr val="bg1"/>
                </a:solidFill>
              </a:rPr>
              <a:t>SCRUM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7E95E8-C887-D1DE-E9FA-B2F689DB559B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E7D64-5C18-ADA3-2D19-7DE26FFDBCFC}"/>
              </a:ext>
            </a:extLst>
          </p:cNvPr>
          <p:cNvSpPr txBox="1"/>
          <p:nvPr/>
        </p:nvSpPr>
        <p:spPr>
          <a:xfrm>
            <a:off x="755804" y="2651086"/>
            <a:ext cx="1220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Book" panose="020B0503040502020204" pitchFamily="34" charset="0"/>
              </a:rPr>
              <a:t>РОЛИ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E9CCBE-7998-D221-07CC-596E59B79393}"/>
              </a:ext>
            </a:extLst>
          </p:cNvPr>
          <p:cNvSpPr txBox="1"/>
          <p:nvPr/>
        </p:nvSpPr>
        <p:spPr>
          <a:xfrm>
            <a:off x="755804" y="3300239"/>
            <a:ext cx="28754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Scrum Team Development Team</a:t>
            </a:r>
            <a:endParaRPr lang="ru-RU" sz="24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Product Owner Scrum master</a:t>
            </a:r>
            <a:endParaRPr lang="ru-RU" sz="24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00651-598A-10D2-5AD3-72924A937137}"/>
              </a:ext>
            </a:extLst>
          </p:cNvPr>
          <p:cNvSpPr txBox="1"/>
          <p:nvPr/>
        </p:nvSpPr>
        <p:spPr>
          <a:xfrm>
            <a:off x="4378234" y="2651086"/>
            <a:ext cx="2207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Book" panose="020B0503040502020204" pitchFamily="34" charset="0"/>
              </a:rPr>
              <a:t>АРТЕФАКТЫ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9517DC-B0E9-C904-87C2-42F342A6FD90}"/>
              </a:ext>
            </a:extLst>
          </p:cNvPr>
          <p:cNvSpPr txBox="1"/>
          <p:nvPr/>
        </p:nvSpPr>
        <p:spPr>
          <a:xfrm>
            <a:off x="4378234" y="3328814"/>
            <a:ext cx="28754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Product Backlog</a:t>
            </a:r>
            <a:endParaRPr lang="ru-RU" sz="24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Sprint Backlog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Increment</a:t>
            </a:r>
            <a:endParaRPr lang="ru-RU" sz="24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18E014-4C0B-BB7D-2E02-B81A21C2F585}"/>
              </a:ext>
            </a:extLst>
          </p:cNvPr>
          <p:cNvSpPr txBox="1"/>
          <p:nvPr/>
        </p:nvSpPr>
        <p:spPr>
          <a:xfrm>
            <a:off x="8000664" y="2651086"/>
            <a:ext cx="2042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Book" panose="020B0503040502020204" pitchFamily="34" charset="0"/>
              </a:rPr>
              <a:t>ВСТРЕЧИ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AB45CA-6071-E921-5799-2B646A85F171}"/>
              </a:ext>
            </a:extLst>
          </p:cNvPr>
          <p:cNvSpPr txBox="1"/>
          <p:nvPr/>
        </p:nvSpPr>
        <p:spPr>
          <a:xfrm>
            <a:off x="8000664" y="3300238"/>
            <a:ext cx="40700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Sprint planning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Daily Scrum Meeting</a:t>
            </a:r>
          </a:p>
          <a:p>
            <a:r>
              <a:rPr lang="en-US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Sprint Review</a:t>
            </a:r>
            <a:r>
              <a:rPr lang="ru-RU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 </a:t>
            </a:r>
            <a:endParaRPr lang="en-US" sz="24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  <a:p>
            <a:r>
              <a:rPr lang="en-US" sz="2400" dirty="0">
                <a:solidFill>
                  <a:prstClr val="white"/>
                </a:solidFill>
                <a:latin typeface="Pragmatica Light" panose="020B0403040502020204" pitchFamily="34" charset="-52"/>
              </a:rPr>
              <a:t>Retrospective</a:t>
            </a:r>
            <a:endParaRPr lang="ru-RU" sz="2400" dirty="0">
              <a:solidFill>
                <a:prstClr val="white"/>
              </a:solidFill>
              <a:latin typeface="Pragmatica Light" panose="020B0403040502020204" pitchFamily="34" charset="-52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CBC85D8D-6943-DC1F-51CC-B8151105E022}"/>
              </a:ext>
            </a:extLst>
          </p:cNvPr>
          <p:cNvCxnSpPr>
            <a:cxnSpLocks/>
          </p:cNvCxnSpPr>
          <p:nvPr/>
        </p:nvCxnSpPr>
        <p:spPr>
          <a:xfrm flipH="1">
            <a:off x="2985005" y="2403475"/>
            <a:ext cx="1440000" cy="291600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084BA7D-E5BA-11BC-A6B8-3324C76AD0C5}"/>
              </a:ext>
            </a:extLst>
          </p:cNvPr>
          <p:cNvCxnSpPr>
            <a:cxnSpLocks/>
          </p:cNvCxnSpPr>
          <p:nvPr/>
        </p:nvCxnSpPr>
        <p:spPr>
          <a:xfrm flipH="1">
            <a:off x="6586085" y="2403475"/>
            <a:ext cx="1440000" cy="291600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910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9009B2D-CDBA-B16D-61DC-EA466953C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87" y="511872"/>
            <a:ext cx="10562778" cy="532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425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 descr="Изображение выглядит как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57E35ABC-77FC-95C1-10B3-282D4BFD2C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12" t="56468" b="26954"/>
          <a:stretch/>
        </p:blipFill>
        <p:spPr>
          <a:xfrm>
            <a:off x="8031758" y="4978969"/>
            <a:ext cx="4441005" cy="24459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E366CCF-C45B-736F-A67E-E3EF5EBD53F0}"/>
              </a:ext>
            </a:extLst>
          </p:cNvPr>
          <p:cNvSpPr txBox="1"/>
          <p:nvPr/>
        </p:nvSpPr>
        <p:spPr>
          <a:xfrm>
            <a:off x="2429376" y="4597524"/>
            <a:ext cx="8314824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latin typeface="Pragmatica Light" panose="020B0403040502020204" pitchFamily="34" charset="-52"/>
              </a:rPr>
              <a:t>Разработчики сами решают как реализовать требования</a:t>
            </a:r>
            <a:r>
              <a:rPr lang="en-US" sz="2400" dirty="0">
                <a:latin typeface="Pragmatica Light" panose="020B0403040502020204" pitchFamily="34" charset="-52"/>
              </a:rPr>
              <a:t> </a:t>
            </a:r>
            <a:endParaRPr lang="ru-RU" sz="2400" dirty="0">
              <a:latin typeface="Pragmatica Light" panose="020B0403040502020204" pitchFamily="34" charset="-5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latin typeface="Pragmatica Light" panose="020B0403040502020204" pitchFamily="34" charset="-52"/>
              </a:rPr>
              <a:t>и определяют свою нагрузку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996518" y="201168"/>
            <a:ext cx="96968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mpact" panose="020B0806030902050204" pitchFamily="34" charset="0"/>
              </a:rPr>
              <a:t>ОСОБЕННОСТИ 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mpact" panose="020B0806030902050204" pitchFamily="34" charset="0"/>
              </a:rPr>
              <a:t>SCRUM</a:t>
            </a:r>
            <a:endParaRPr lang="ru-RU" sz="1200" dirty="0">
              <a:latin typeface="Impact" panose="020B0806030902050204" pitchFamily="34" charset="0"/>
            </a:endParaRPr>
          </a:p>
        </p:txBody>
      </p:sp>
      <p:sp>
        <p:nvSpPr>
          <p:cNvPr id="3" name="Объект 7">
            <a:extLst>
              <a:ext uri="{FF2B5EF4-FFF2-40B4-BE49-F238E27FC236}">
                <a16:creationId xmlns:a16="http://schemas.microsoft.com/office/drawing/2014/main" id="{4082336E-B4D0-DCC8-1211-AFDEF793C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9376" y="1460816"/>
            <a:ext cx="8863165" cy="1154162"/>
          </a:xfr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latin typeface="Pragmatica Light" panose="020B0403040502020204" pitchFamily="34" charset="-52"/>
              </a:rPr>
              <a:t>Требования заказчиков часто уточняются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latin typeface="Pragmatica Light" panose="020B0403040502020204" pitchFamily="34" charset="-52"/>
              </a:rPr>
              <a:t>Могут меняться в процессе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238D7462-E20B-0AB7-9EF2-4C416C1EE6D7}"/>
              </a:ext>
            </a:extLst>
          </p:cNvPr>
          <p:cNvCxnSpPr>
            <a:cxnSpLocks/>
          </p:cNvCxnSpPr>
          <p:nvPr/>
        </p:nvCxnSpPr>
        <p:spPr>
          <a:xfrm flipH="1">
            <a:off x="2580642" y="4446498"/>
            <a:ext cx="1980000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D15B1F4-803F-8D0C-9F91-8573764A46AA}"/>
              </a:ext>
            </a:extLst>
          </p:cNvPr>
          <p:cNvSpPr txBox="1"/>
          <p:nvPr/>
        </p:nvSpPr>
        <p:spPr>
          <a:xfrm>
            <a:off x="2452234" y="2960616"/>
            <a:ext cx="9191124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latin typeface="Pragmatica Light" panose="020B0403040502020204" pitchFamily="34" charset="-52"/>
              </a:rPr>
              <a:t>Все функции продукта работают так, как нужно заказчикам.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dirty="0">
                <a:latin typeface="Pragmatica Light" panose="020B0403040502020204" pitchFamily="34" charset="-52"/>
              </a:rPr>
              <a:t>Нет лишних функций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81D8853E-2956-CD00-8F76-10D316F2D0B2}"/>
              </a:ext>
            </a:extLst>
          </p:cNvPr>
          <p:cNvCxnSpPr>
            <a:cxnSpLocks/>
          </p:cNvCxnSpPr>
          <p:nvPr/>
        </p:nvCxnSpPr>
        <p:spPr>
          <a:xfrm flipH="1">
            <a:off x="2580642" y="2854041"/>
            <a:ext cx="1980000" cy="0"/>
          </a:xfrm>
          <a:prstGeom prst="line">
            <a:avLst/>
          </a:prstGeom>
          <a:ln w="19050">
            <a:solidFill>
              <a:srgbClr val="F269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100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084BA7D-E5BA-11BC-A6B8-3324C76AD0C5}"/>
              </a:ext>
            </a:extLst>
          </p:cNvPr>
          <p:cNvCxnSpPr>
            <a:cxnSpLocks/>
          </p:cNvCxnSpPr>
          <p:nvPr/>
        </p:nvCxnSpPr>
        <p:spPr>
          <a:xfrm>
            <a:off x="5243977" y="201168"/>
            <a:ext cx="1518621" cy="649224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7E95E8-C887-D1DE-E9FA-B2F689DB559B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AB45CA-6071-E921-5799-2B646A85F171}"/>
              </a:ext>
            </a:extLst>
          </p:cNvPr>
          <p:cNvSpPr txBox="1"/>
          <p:nvPr/>
        </p:nvSpPr>
        <p:spPr>
          <a:xfrm>
            <a:off x="326839" y="1843507"/>
            <a:ext cx="5769161" cy="374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Имеет определённые роли, ритуалы и встречи.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Делит организацию на кросс-функциональные команды.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Работа ведётся итеративно и планируется спринтами.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agmatica Light" panose="020B0403040502020204" pitchFamily="34" charset="-52"/>
                <a:ea typeface="+mn-ea"/>
                <a:cs typeface="+mn-cs"/>
              </a:rPr>
              <a:t>Требует оценки усилий </a:t>
            </a: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для достижения результата.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agmatica Light" panose="020B0403040502020204" pitchFamily="34" charset="-52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C5E578-019F-81D5-0DDA-64D58989E722}"/>
              </a:ext>
            </a:extLst>
          </p:cNvPr>
          <p:cNvSpPr txBox="1"/>
          <p:nvPr/>
        </p:nvSpPr>
        <p:spPr>
          <a:xfrm>
            <a:off x="320679" y="312978"/>
            <a:ext cx="34240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kumimoji="0" sz="72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Impact" panose="020B080603090205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SCRUM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1E7E6B-CBC7-19C2-9827-D069E93E9F09}"/>
              </a:ext>
            </a:extLst>
          </p:cNvPr>
          <p:cNvSpPr txBox="1"/>
          <p:nvPr/>
        </p:nvSpPr>
        <p:spPr>
          <a:xfrm>
            <a:off x="6762598" y="334439"/>
            <a:ext cx="34240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kumimoji="0" sz="72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Impact" panose="020B080603090205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KANBAN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89AA49-AB94-F08F-BFA3-98A98BC84F99}"/>
              </a:ext>
            </a:extLst>
          </p:cNvPr>
          <p:cNvSpPr txBox="1"/>
          <p:nvPr/>
        </p:nvSpPr>
        <p:spPr>
          <a:xfrm>
            <a:off x="5708682" y="1883256"/>
            <a:ext cx="6168570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Работа непрерывна, 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изменения вносятся по ходу работы.</a:t>
            </a:r>
          </a:p>
          <a:p>
            <a:pPr algn="r">
              <a:lnSpc>
                <a:spcPct val="150000"/>
              </a:lnSpc>
              <a:defRPr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Вводит ограничение на количество </a:t>
            </a:r>
          </a:p>
          <a:p>
            <a:pPr algn="r">
              <a:lnSpc>
                <a:spcPct val="150000"/>
              </a:lnSpc>
              <a:defRPr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одновременной работы </a:t>
            </a:r>
            <a:r>
              <a:rPr lang="en-US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(WIP</a:t>
            </a: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-лимит).</a:t>
            </a:r>
          </a:p>
          <a:p>
            <a:pPr algn="r">
              <a:lnSpc>
                <a:spcPct val="150000"/>
              </a:lnSpc>
              <a:defRPr/>
            </a:pPr>
            <a:r>
              <a:rPr lang="ru-RU" sz="2000" dirty="0">
                <a:solidFill>
                  <a:prstClr val="white"/>
                </a:solidFill>
                <a:latin typeface="Pragmatica Light" panose="020B0403040502020204" pitchFamily="34" charset="-52"/>
              </a:rPr>
              <a:t>Важнейшая метрика – «время цикла».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985569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9984FF-BC74-4BC3-254B-C351C765BB40}"/>
              </a:ext>
            </a:extLst>
          </p:cNvPr>
          <p:cNvSpPr/>
          <p:nvPr/>
        </p:nvSpPr>
        <p:spPr>
          <a:xfrm>
            <a:off x="219456" y="182880"/>
            <a:ext cx="11750040" cy="6473952"/>
          </a:xfrm>
          <a:prstGeom prst="rect">
            <a:avLst/>
          </a:prstGeom>
          <a:noFill/>
          <a:ln w="127000" cap="flat">
            <a:solidFill>
              <a:srgbClr val="F2692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F9FF-2AC1-EA97-1786-A3B9320FB050}"/>
              </a:ext>
            </a:extLst>
          </p:cNvPr>
          <p:cNvSpPr txBox="1"/>
          <p:nvPr/>
        </p:nvSpPr>
        <p:spPr>
          <a:xfrm>
            <a:off x="996517" y="201168"/>
            <a:ext cx="69647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7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mpact" panose="020B0806030902050204" pitchFamily="34" charset="0"/>
              </a:rPr>
              <a:t>ЧТО ПОЧИТАТЬ?</a:t>
            </a:r>
            <a:endParaRPr lang="ru-RU" sz="1200" dirty="0">
              <a:latin typeface="Impact" panose="020B080603090205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D3892C8-33A4-204F-7448-88CA9D3838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/>
          <a:stretch/>
        </p:blipFill>
        <p:spPr>
          <a:xfrm>
            <a:off x="5208107" y="1739387"/>
            <a:ext cx="2504660" cy="347965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2FB8FD-D8A7-6B61-1861-BC475C3B02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795" y="1659834"/>
            <a:ext cx="2671240" cy="3458777"/>
          </a:xfrm>
          <a:prstGeom prst="rect">
            <a:avLst/>
          </a:prstGeom>
        </p:spPr>
      </p:pic>
      <p:pic>
        <p:nvPicPr>
          <p:cNvPr id="8194" name="Picture 2" descr="The Scrum Guide">
            <a:extLst>
              <a:ext uri="{FF2B5EF4-FFF2-40B4-BE49-F238E27FC236}">
                <a16:creationId xmlns:a16="http://schemas.microsoft.com/office/drawing/2014/main" id="{A5AD153E-3F88-EFC4-3233-9D0C08FC7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75" y="1659834"/>
            <a:ext cx="3065389" cy="365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53972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63696</TotalTime>
  <Words>3211</Words>
  <Application>Microsoft Office PowerPoint</Application>
  <PresentationFormat>Широкоэкранный</PresentationFormat>
  <Paragraphs>280</Paragraphs>
  <Slides>18</Slides>
  <Notes>18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18</vt:i4>
      </vt:variant>
    </vt:vector>
  </HeadingPairs>
  <TitlesOfParts>
    <vt:vector size="30" baseType="lpstr">
      <vt:lpstr>-apple-system</vt:lpstr>
      <vt:lpstr>Arial</vt:lpstr>
      <vt:lpstr>Calibri</vt:lpstr>
      <vt:lpstr>Calibri Light</vt:lpstr>
      <vt:lpstr>docs-Calibri</vt:lpstr>
      <vt:lpstr>Google Sans</vt:lpstr>
      <vt:lpstr>Impact</vt:lpstr>
      <vt:lpstr>Pragmatica Book</vt:lpstr>
      <vt:lpstr>Pragmatica Light</vt:lpstr>
      <vt:lpstr>Roboto</vt:lpstr>
      <vt:lpstr>Тема Office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Червяков</dc:creator>
  <cp:lastModifiedBy>Тимошок Антон Игоревич</cp:lastModifiedBy>
  <cp:revision>204</cp:revision>
  <cp:lastPrinted>2023-06-27T03:08:32Z</cp:lastPrinted>
  <dcterms:created xsi:type="dcterms:W3CDTF">2023-04-20T01:28:07Z</dcterms:created>
  <dcterms:modified xsi:type="dcterms:W3CDTF">2026-06-23T09:15:40Z</dcterms:modified>
</cp:coreProperties>
</file>